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9"/>
    <p:sldId id="268" r:id="rId8"/>
    <p:sldId id="269" r:id="rId7"/>
    <p:sldId id="270" r:id="rId6"/>
    <p:sldId id="271" r:id="rId5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9144000"/>
  <p:embeddedFontLst>
    <p:embeddedFont>
      <p:font typeface="Comic Sans Pro" panose="02010600010101010101" charset="-122"/>
      <p:regular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5DC6"/>
    <a:srgbClr val="003F88"/>
    <a:srgbClr val="F0F4F8"/>
    <a:srgbClr val="00458E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54"/>
        <p:guide pos="385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开场说明：AI协作是主线，PathMNIST是实际任务载体。</a:t>
            </a:r>
          </a:p>
          <a:p/>
          <a:p>
            <a:r>
              <a:t>【指图与模块／箭头】</a:t>
            </a:r>
          </a:p>
          <a:p>
            <a:r>
              <a:t>封面标题和副标题表明技术对象与课程方法；姓名沿用用户上传PPT，不推测个人分工。</a:t>
            </a:r>
          </a:p>
          <a:p/>
          <a:p>
            <a:r>
              <a:t>【上台这样讲】</a:t>
            </a:r>
          </a:p>
          <a:p>
            <a:r>
              <a:t>老师好，我们以PathMNIST组织图像块分类为载体，介绍怎样与ChatGPT、Codex和DeepSeek协作：从提出任务、生成和执行代码，到核验、修复和交付。分类结果用于展示项目实际产物，不用于证明AI一定比人工开发更好。</a:t>
            </a:r>
          </a:p>
          <a:p/>
          <a:p>
            <a:r>
              <a:t>【接下一页】</a:t>
            </a:r>
          </a:p>
          <a:p>
            <a:r>
              <a:t>先说明课程目标与最终交付。</a:t>
            </a:r>
          </a:p>
          <a:p/>
          <a:p>
            <a:r>
              <a:t>【可能追问】</a:t>
            </a:r>
          </a:p>
          <a:p>
            <a:r>
              <a:t>问：创新是什么？答：不是新架构；重点是有真实任务、执行证据和可追溯取舍的AI工程实践。</a:t>
            </a:r>
          </a:p>
          <a:p/>
          <a:p>
            <a:r>
              <a:t>【来源】</a:t>
            </a:r>
          </a:p>
          <a:p>
            <a:r>
              <a:t>S01、S02、S20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先建立老师阅读后面内容的评价标准。</a:t>
            </a:r>
          </a:p>
          <a:p/>
          <a:p>
            <a:r>
              <a:t>【指图与模块／箭头】</a:t>
            </a:r>
          </a:p>
          <a:p>
            <a:r>
              <a:t>四个框串起任务到交付；箭头表示工作阶段推进，不是神经网络中的张量。</a:t>
            </a:r>
          </a:p>
          <a:p/>
          <a:p>
            <a:r>
              <a:t>【上台这样讲】</a:t>
            </a:r>
          </a:p>
          <a:p>
            <a:r>
              <a:t>课程不仅要求分类结果，还要求AI使用过程和评估报告。因此我们将项目拆成四个环节：说清需求、执行代码、核验和修复、形成交付。后面围绕这些动作讲，模型比较是贯穿其中的真实案例。</a:t>
            </a:r>
          </a:p>
          <a:p/>
          <a:p>
            <a:r>
              <a:t>【接下一页】</a:t>
            </a:r>
          </a:p>
          <a:p>
            <a:r>
              <a:t>先看用什么数据承载这个任务。</a:t>
            </a:r>
          </a:p>
          <a:p/>
          <a:p>
            <a:r>
              <a:t>【可能追问】</a:t>
            </a:r>
          </a:p>
          <a:p>
            <a:r>
              <a:t>问：报告数量是老师规定的吗？答：老师列了产出类型，四份文档是我们为阅读和取证安排的组织方式。</a:t>
            </a:r>
          </a:p>
          <a:p/>
          <a:p>
            <a:r>
              <a:t>【来源】</a:t>
            </a:r>
          </a:p>
          <a:p>
            <a:r>
              <a:t>S01、S20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在谈AI如何选题前，先让听众知道数据与标签是什么。</a:t>
            </a:r>
          </a:p>
          <a:p/>
          <a:p>
            <a:r>
              <a:t>【指图与模块／箭头】</a:t>
            </a:r>
          </a:p>
          <a:p>
            <a:r>
              <a:t>右图是现有九类训练样例；左侧三份数据分别用于参数学习、选择、最终评价。来源名称中的VAL不等于本项目验证角色。</a:t>
            </a:r>
          </a:p>
          <a:p/>
          <a:p>
            <a:r>
              <a:t>【上台这样讲】</a:t>
            </a:r>
          </a:p>
          <a:p>
            <a:r>
              <a:t>用户先选择医学图像方向，助手推荐PathMNIST。它是MedMNIST的九类组织图像块任务，课程资料也列有该系列。我们用官方128版本，训练和验证来自同一开发来源，测试来自另一中心。没有多个数据集训练海选记录，也不把图块分类称为患者诊断。</a:t>
            </a:r>
          </a:p>
          <a:p/>
          <a:p>
            <a:r>
              <a:t>【接下一页】</a:t>
            </a:r>
          </a:p>
          <a:p>
            <a:r>
              <a:t>数据任务明确以后，说明人和不同AI工具怎样分工。</a:t>
            </a:r>
          </a:p>
          <a:p/>
          <a:p>
            <a:r>
              <a:t>【可能追问】</a:t>
            </a:r>
          </a:p>
          <a:p>
            <a:r>
              <a:t>问：来源名称CRC-VAL是什么？答：该来源在PathMNIST被用作测试集，10,004张才是本项目开发验证集。</a:t>
            </a:r>
          </a:p>
          <a:p/>
          <a:p>
            <a:r>
              <a:t>【来源】</a:t>
            </a:r>
          </a:p>
          <a:p>
            <a:r>
              <a:t>S01、S03–S04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补齐原AI版中ChatGPT与Codex容易合并的问题。</a:t>
            </a:r>
          </a:p>
          <a:p/>
          <a:p>
            <a:r>
              <a:t>【指图与模块／箭头】</a:t>
            </a:r>
          </a:p>
          <a:p>
            <a:r>
              <a:t>按每行从角色到实际工作再到边界阅读；是职责表，不是多代理自动系统结构图。</a:t>
            </a:r>
          </a:p>
          <a:p/>
          <a:p>
            <a:r>
              <a:t>【上台这样讲】</a:t>
            </a:r>
          </a:p>
          <a:p>
            <a:r>
              <a:t>我们与ChatGPT做讨论、解释和交接，再由Codex结合代码与终端执行。DeepSeek只在量化阶段提供另一份审查与草稿。人的作用是目标、范围和取舍，但不声称人逐行写完全部代码。不同AI的建议一致，也不能代替程序或真实模型检查。</a:t>
            </a:r>
          </a:p>
          <a:p/>
          <a:p>
            <a:r>
              <a:t>【接下一页】</a:t>
            </a:r>
          </a:p>
          <a:p>
            <a:r>
              <a:t>接下来用一条项目路线说明这些分工怎样贯穿始终。</a:t>
            </a:r>
          </a:p>
          <a:p/>
          <a:p>
            <a:r>
              <a:t>【可能追问】</a:t>
            </a:r>
          </a:p>
          <a:p>
            <a:r>
              <a:t>问：DeepSeek是否接在Codex后端？答：现有记录是单独网页审查，不写成模型自动路由或全流程多Agent系统。</a:t>
            </a:r>
          </a:p>
          <a:p/>
          <a:p>
            <a:r>
              <a:t>【来源】</a:t>
            </a:r>
          </a:p>
          <a:p>
            <a:r>
              <a:t>S02、S08、S13–S14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给出地图，后面按任务、执行、核验与案例逐步展开。</a:t>
            </a:r>
          </a:p>
          <a:p/>
          <a:p>
            <a:r>
              <a:t>【指图与模块／箭头】</a:t>
            </a:r>
          </a:p>
          <a:p>
            <a:r>
              <a:t>上排从左到右，再接下排从左到右；连接表示阶段推进，实际日期保留在日志，不声称一条命令完成全部。</a:t>
            </a:r>
          </a:p>
          <a:p/>
          <a:p>
            <a:r>
              <a:t>【上台这样讲】</a:t>
            </a:r>
          </a:p>
          <a:p>
            <a:r>
              <a:t>项目从数据选择开始就有AI参与。我们先固定数据和协议，用小任务跑通，再完成正式实验，最后核验和部署。阶段总结要告诉下一步读取什么、已完成什么、还有什么限制。Vibe的生成与Harness的检查贯穿这些阶段。</a:t>
            </a:r>
          </a:p>
          <a:p/>
          <a:p>
            <a:r>
              <a:t>【接下一页】</a:t>
            </a:r>
          </a:p>
          <a:p>
            <a:r>
              <a:t>先看一句方向性需求如何变成具体任务。</a:t>
            </a:r>
          </a:p>
          <a:p/>
          <a:p>
            <a:r>
              <a:t>【可能追问】</a:t>
            </a:r>
          </a:p>
          <a:p>
            <a:r>
              <a:t>问：是不是全自动无人决策？答：不是。用户持续给出范围、批准或否决，阶段日志保留了这些约束。</a:t>
            </a:r>
          </a:p>
          <a:p/>
          <a:p>
            <a:r>
              <a:t>【来源】</a:t>
            </a:r>
          </a:p>
          <a:p>
            <a:r>
              <a:t>S02、S05–S10、S14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展示交互的具体化，不把一条短提示夸大为整个设计来源。</a:t>
            </a:r>
          </a:p>
          <a:p/>
          <a:p>
            <a:r>
              <a:t>【指图与模块／箭头】</a:t>
            </a:r>
          </a:p>
          <a:p>
            <a:r>
              <a:t>左边是真实日志节选；右边是多轮形成的产物。箭头是任务转化，不是逐字原始回复。下表是整理出的任务字段。</a:t>
            </a:r>
          </a:p>
          <a:p/>
          <a:p>
            <a:r>
              <a:t>【上台这样讲】</a:t>
            </a:r>
          </a:p>
          <a:p>
            <a:r>
              <a:t>我们不是只说“帮我做个模型”，还规定在哪里运行、哪些文件不能改、每阶段留下什么。AI把这些要求拆成数据清单、实验矩阵和验收文件。这个方案经历多轮沟通，不能说一句提示一次性生成最终全部设计。</a:t>
            </a:r>
          </a:p>
          <a:p/>
          <a:p>
            <a:r>
              <a:t>【接下一页】</a:t>
            </a:r>
          </a:p>
          <a:p>
            <a:r>
              <a:t>下一步看这些约束如何落到数据和环境操作。</a:t>
            </a:r>
          </a:p>
          <a:p/>
          <a:p>
            <a:r>
              <a:t>【可能追问】</a:t>
            </a:r>
          </a:p>
          <a:p>
            <a:r>
              <a:t>问：提示词是否完整原文？答：引号中为已保存节选，其余为明确标注的日志归纳，不伪造聊天截图。</a:t>
            </a:r>
          </a:p>
          <a:p/>
          <a:p>
            <a:r>
              <a:t>【来源】</a:t>
            </a:r>
          </a:p>
          <a:p>
            <a:r>
              <a:t>S02、S03、S14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把抽象约束变成可检查的数据和环境状态。</a:t>
            </a:r>
          </a:p>
          <a:p/>
          <a:p>
            <a:r>
              <a:t>【指图与模块／箭头】</a:t>
            </a:r>
          </a:p>
          <a:p>
            <a:r>
              <a:t>三栏分别是人的边界、程序动作、持久产物；不是同一类证据。</a:t>
            </a:r>
          </a:p>
          <a:p/>
          <a:p>
            <a:r>
              <a:t>【上台这样讲】</a:t>
            </a:r>
          </a:p>
          <a:p>
            <a:r>
              <a:t>用户限定项目目录和下载位置，Codex在这个范围搭环境、处理数据，再用MD5、尺寸、标签和计数检查。得到的manifest让后续确认读取同一数据。虽然精确跨集重复为零，但缺少患者ID，不能因此说患者完全独立。</a:t>
            </a:r>
          </a:p>
          <a:p/>
          <a:p>
            <a:r>
              <a:t>【接下一页】</a:t>
            </a:r>
          </a:p>
          <a:p>
            <a:r>
              <a:t>输入固定后，再看AI生成的实验协议是什么。</a:t>
            </a:r>
          </a:p>
          <a:p/>
          <a:p>
            <a:r>
              <a:t>【可能追问】</a:t>
            </a:r>
          </a:p>
          <a:p>
            <a:r>
              <a:t>问：为何不用患者分组？答：缺可靠分组ID；不能把图像索引编码成患者ID。</a:t>
            </a:r>
          </a:p>
          <a:p/>
          <a:p>
            <a:r>
              <a:t>【来源】</a:t>
            </a:r>
          </a:p>
          <a:p>
            <a:r>
              <a:t>S02、S04、S07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必要技术背景服务于后面执行和结果，而非整段旧科研汇报。</a:t>
            </a:r>
          </a:p>
          <a:p/>
          <a:p>
            <a:r>
              <a:t>【指图与模块／箭头】</a:t>
            </a:r>
          </a:p>
          <a:p>
            <a:r>
              <a:t>表中A/B与C/D比较尺寸，B/D固定128比较网络，D/E只改增强开关。右侧为共享协议。</a:t>
            </a:r>
          </a:p>
          <a:p/>
          <a:p>
            <a:r>
              <a:t>【上台这样讲】</a:t>
            </a:r>
          </a:p>
          <a:p>
            <a:r>
              <a:t>AI方案最终落实成这张固定矩阵。两个现成模型、两个输入尺寸，再加一组关闭增强。每组三个种子形成十五条正式轨迹。共同设置让比较范围明确，但不代表每种网络都单独调到了最优。</a:t>
            </a:r>
          </a:p>
          <a:p/>
          <a:p>
            <a:r>
              <a:t>【接下一页】</a:t>
            </a:r>
          </a:p>
          <a:p>
            <a:r>
              <a:t>协议写好后，我们仍先用小任务检查代码。</a:t>
            </a:r>
          </a:p>
          <a:p/>
          <a:p>
            <a:r>
              <a:t>【可能追问】</a:t>
            </a:r>
          </a:p>
          <a:p>
            <a:r>
              <a:t>问：为什么ResNet-18而不试50？答：本轮选代表方案做受控比较，没有证明18最好；小测试是查流程，不是海选。</a:t>
            </a:r>
          </a:p>
          <a:p/>
          <a:p>
            <a:r>
              <a:t>【来源】</a:t>
            </a:r>
          </a:p>
          <a:p>
            <a:r>
              <a:t>S03、S05、S11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强调生成代码后的实际运行和阶段放行。</a:t>
            </a:r>
          </a:p>
          <a:p/>
          <a:p>
            <a:r>
              <a:t>【指图与模块／箭头】</a:t>
            </a:r>
          </a:p>
          <a:p>
            <a:r>
              <a:t>箭头依次扩大执行范围；最后“分阶段矩阵”不是声称单命令完成所有历史。batch与尺寸不同，完整批量N128不等于图像128×128。</a:t>
            </a:r>
          </a:p>
          <a:p/>
          <a:p>
            <a:r>
              <a:t>【上台这样讲】</a:t>
            </a:r>
          </a:p>
          <a:p>
            <a:r>
              <a:t>先在真实小样本上跑通一轮，确认能够保存再加载；然后测试两种网络在最大输入下的批量可行性；再跑A_seed42完整基线，最后按阶段完成其余轨迹。每层都留下文件，让下一个阶段能检查，而不是只看到AI说完成。</a:t>
            </a:r>
          </a:p>
          <a:p/>
          <a:p>
            <a:r>
              <a:t>【接下一页】</a:t>
            </a:r>
          </a:p>
          <a:p>
            <a:r>
              <a:t>程序有输出了，下面先说明结果由谁、用什么方法核验。</a:t>
            </a:r>
          </a:p>
          <a:p/>
          <a:p>
            <a:r>
              <a:t>【可能追问】</a:t>
            </a:r>
          </a:p>
          <a:p>
            <a:r>
              <a:t>问：batch128是最优吗？答：只证明两模型共同可运行，没有完整比较所有batch的精度。</a:t>
            </a:r>
          </a:p>
          <a:p/>
          <a:p>
            <a:r>
              <a:t>【来源】</a:t>
            </a:r>
          </a:p>
          <a:p>
            <a:r>
              <a:t>S05–S06、S02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回答老师最关注的结果是自动还是人工核验。</a:t>
            </a:r>
          </a:p>
          <a:p/>
          <a:p>
            <a:r>
              <a:t>【指图与模块／箭头】</a:t>
            </a:r>
          </a:p>
          <a:p>
            <a:r>
              <a:t>按列区分方法和责任。由AI编写而实际执行的复算脚本属于自动检查，不是语言判断。</a:t>
            </a:r>
          </a:p>
          <a:p/>
          <a:p>
            <a:r>
              <a:t>【上台这样讲】</a:t>
            </a:r>
          </a:p>
          <a:p>
            <a:r>
              <a:t>主要数值由程序从已存预测独立复算，AI再读源码与日志查问题。人决定实验范围和结论表述，但没有人工逐张重新标注全部病理图像。检查通过必须注明对象、输入、环境和限制；几类检查不能合成一句“全部验证”。</a:t>
            </a:r>
          </a:p>
          <a:p/>
          <a:p>
            <a:r>
              <a:t>【接下一页】</a:t>
            </a:r>
          </a:p>
          <a:p>
            <a:r>
              <a:t>评价之前还有一个必须固定的决定：最终演示使用哪份模型。</a:t>
            </a:r>
          </a:p>
          <a:p/>
          <a:p>
            <a:r>
              <a:t>【可能追问】</a:t>
            </a:r>
          </a:p>
          <a:p>
            <a:r>
              <a:t>问：独立代理一致是否保证正确？答：不能；可能共享错误假设，仍需清楚指标定义与输入契约。</a:t>
            </a:r>
          </a:p>
          <a:p/>
          <a:p>
            <a:r>
              <a:t>【来源】</a:t>
            </a:r>
          </a:p>
          <a:p>
            <a:r>
              <a:t>S02、S10、S13–S14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固定评价与选择的时间顺序，便于理解结果E最高但演示D。</a:t>
            </a:r>
          </a:p>
          <a:p/>
          <a:p>
            <a:r>
              <a:t>【指图与模块／箭头】</a:t>
            </a:r>
          </a:p>
          <a:p>
            <a:r>
              <a:t>左侧定义指标；右侧是决策流程，不是数据流。CPU基准使用固定张量，与测试集标签无关。</a:t>
            </a:r>
          </a:p>
          <a:p/>
          <a:p>
            <a:r>
              <a:t>【上台这样讲】</a:t>
            </a:r>
          </a:p>
          <a:p>
            <a:r>
              <a:t>验证最高组是B，允许差0.005的A/B/D进入候选，再比CPU选择D，组内验证F1选2026种子。这个选择在正式测试前完成。所有十五条轨迹仍然参加统一外部评价，演示只需要固定一份权重。</a:t>
            </a:r>
          </a:p>
          <a:p/>
          <a:p>
            <a:r>
              <a:t>【接下一页】</a:t>
            </a:r>
          </a:p>
          <a:p>
            <a:r>
              <a:t>现在集中看这套流程产出的正式结果。</a:t>
            </a:r>
          </a:p>
          <a:p/>
          <a:p>
            <a:r>
              <a:t>【可能追问】</a:t>
            </a:r>
          </a:p>
          <a:p>
            <a:r>
              <a:t>问：测试后能否换E？答：可作为后续候选，但那就承认测试参与新选择，不能把同一成绩称新独立盲测。</a:t>
            </a:r>
          </a:p>
          <a:p/>
          <a:p>
            <a:r>
              <a:t>【来源】</a:t>
            </a:r>
          </a:p>
          <a:p>
            <a:r>
              <a:t>S11–S12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集中交代完整数据而非只挑最好分数。</a:t>
            </a:r>
          </a:p>
          <a:p/>
          <a:p>
            <a:r>
              <a:t>【指图与模块／箭头】</a:t>
            </a:r>
          </a:p>
          <a:p>
            <a:r>
              <a:t>每行三种子组汇总，不是某一权重。SD是训练种子间波动；CPU为PyTorch单线程batch1模型前向，不含预处理。</a:t>
            </a:r>
          </a:p>
          <a:p/>
          <a:p>
            <a:r>
              <a:t>【上台这样讲】</a:t>
            </a:r>
          </a:p>
          <a:p>
            <a:r>
              <a:t>这张表是十五条正式实验的汇总。验证分数都接近满分，另一中心测试则下降；E的测试组均最高，但演示模型是在此前按规则选定的D。我们不先猜原因，接下来依次按尺寸、网络和增强回答预定问题。</a:t>
            </a:r>
          </a:p>
          <a:p/>
          <a:p>
            <a:r>
              <a:t>【接下一页】</a:t>
            </a:r>
          </a:p>
          <a:p>
            <a:r>
              <a:t>先不换模型，只看输入尺寸。</a:t>
            </a:r>
          </a:p>
          <a:p/>
          <a:p>
            <a:r>
              <a:t>【可能追问】</a:t>
            </a:r>
          </a:p>
          <a:p>
            <a:r>
              <a:t>问：这些分数能证明AI有效吗？答：证明项目有可评价产物，但无人工开发对照，不能用分数证明AI优于人工。</a:t>
            </a:r>
          </a:p>
          <a:p/>
          <a:p>
            <a:r>
              <a:t>【来源】</a:t>
            </a:r>
          </a:p>
          <a:p>
            <a:r>
              <a:t>S12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严格沿着实验问题推进。</a:t>
            </a:r>
          </a:p>
          <a:p/>
          <a:p>
            <a:r>
              <a:t>【指图与模块／箭头】</a:t>
            </a:r>
          </a:p>
          <a:p>
            <a:r>
              <a:t>两行分别固定模型；箭头仅表示比较64与128，不是把A权重接着训练成B。</a:t>
            </a:r>
          </a:p>
          <a:p/>
          <a:p>
            <a:r>
              <a:t>【上台这样讲】</a:t>
            </a:r>
          </a:p>
          <a:p>
            <a:r>
              <a:t>ResNet从A到B的平均测试F1提升约0.0035，MobileNet从C到D提升约0.0572。收益依赖模型。没有试所有尺寸，也没有证据说128一定全局最优。</a:t>
            </a:r>
          </a:p>
          <a:p/>
          <a:p>
            <a:r>
              <a:t>【接下一页】</a:t>
            </a:r>
          </a:p>
          <a:p>
            <a:r>
              <a:t>尺寸比较后固定128输入，再比较网络。</a:t>
            </a:r>
          </a:p>
          <a:p/>
          <a:p>
            <a:r>
              <a:t>【可能追问】</a:t>
            </a:r>
          </a:p>
          <a:p>
            <a:r>
              <a:t>问：为何MobileNet提升大？答：结果确认了差异，但没有独立机制试验来分离原因。</a:t>
            </a:r>
          </a:p>
          <a:p/>
          <a:p>
            <a:r>
              <a:t>【来源】</a:t>
            </a:r>
          </a:p>
          <a:p>
            <a:r>
              <a:t>S12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承接128条件，只改变网络方案。</a:t>
            </a:r>
          </a:p>
          <a:p/>
          <a:p>
            <a:r>
              <a:t>【指图与模块／箭头】</a:t>
            </a:r>
          </a:p>
          <a:p>
            <a:r>
              <a:t>左列定义比较项；延迟越小越快。这里不是ONNX量化基准，也不是服务器GPU训练速度。</a:t>
            </a:r>
          </a:p>
          <a:p/>
          <a:p>
            <a:r>
              <a:t>【上台这样讲】</a:t>
            </a:r>
          </a:p>
          <a:p>
            <a:r>
              <a:t>B与D都是128输入。D的测试均值高约0.0149，参数更少，当前服务器CPU前向更快。这个结论限于当前模型方案和训练协议，不推广成MobileNet在所有设备和输入下更好。</a:t>
            </a:r>
          </a:p>
          <a:p/>
          <a:p>
            <a:r>
              <a:t>【接下一页】</a:t>
            </a:r>
          </a:p>
          <a:p>
            <a:r>
              <a:t>继续沿用D的网络与尺寸，只改变增强开关。</a:t>
            </a:r>
          </a:p>
          <a:p/>
          <a:p>
            <a:r>
              <a:t>【可能追问】</a:t>
            </a:r>
          </a:p>
          <a:p>
            <a:r>
              <a:t>问：为何测CPU？答：考虑普通CPU离线推理开销；同机协议比对，不外推到树莓派或所有终端。</a:t>
            </a:r>
          </a:p>
          <a:p/>
          <a:p>
            <a:r>
              <a:t>【来源】</a:t>
            </a:r>
          </a:p>
          <a:p>
            <a:r>
              <a:t>S03、S12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结束预定三个问题，引出讨论。</a:t>
            </a:r>
          </a:p>
          <a:p/>
          <a:p>
            <a:r>
              <a:t>【指图与模块／箭头】</a:t>
            </a:r>
          </a:p>
          <a:p>
            <a:r>
              <a:t>图纵轴为D减E，正表示增强开更高；线连接同种子。误差条是样本SD。</a:t>
            </a:r>
          </a:p>
          <a:p/>
          <a:p>
            <a:r>
              <a:t>【上台这样讲】</a:t>
            </a:r>
          </a:p>
          <a:p>
            <a:r>
              <a:t>D开启翻转与直角旋转，E关闭同一组合。验证D略高，但另一中心E更高。这里所有条件受控的是整套增强开关，没有拆分单项贡献。接下来我们讨论这些现象怎样被核查，以及AI建议如何被检验。</a:t>
            </a:r>
          </a:p>
          <a:p/>
          <a:p>
            <a:r>
              <a:t>【接下一页】</a:t>
            </a:r>
          </a:p>
          <a:p>
            <a:r>
              <a:t>先看高分出现时，项目怎样质询而不是直接相信。</a:t>
            </a:r>
          </a:p>
          <a:p/>
          <a:p>
            <a:r>
              <a:t>【可能追问】</a:t>
            </a:r>
          </a:p>
          <a:p>
            <a:r>
              <a:t>问：E为什么没有替换D？答：E最高如实报告，本轮保留测试前选择；后续改用要承认新的选择依据。</a:t>
            </a:r>
          </a:p>
          <a:p/>
          <a:p>
            <a:r>
              <a:t>【来源】</a:t>
            </a:r>
          </a:p>
          <a:p>
            <a:r>
              <a:t>S12、S10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从结果回到证据质量，不推测未经验证原因。</a:t>
            </a:r>
          </a:p>
          <a:p/>
          <a:p>
            <a:r>
              <a:t>【指图与模块／箭头】</a:t>
            </a:r>
          </a:p>
          <a:p>
            <a:r>
              <a:t>两栏区分程序检查和数据候选。849是图像对数，91是不同验证索引。</a:t>
            </a:r>
          </a:p>
          <a:p/>
          <a:p>
            <a:r>
              <a:t>【上台这样讲】</a:t>
            </a:r>
          </a:p>
          <a:p>
            <a:r>
              <a:t>验证高分会使人怀疑数据或计算是否有误，因此安排AI读代码、用脚本复算，再做近重复筛查。没有发现上述错误，剔除候选的敏感性变化很小；但没有患者ID仍是限制。此审计实际在正式测试前完成，这里只是按汇报逻辑回顾。</a:t>
            </a:r>
          </a:p>
          <a:p/>
          <a:p>
            <a:r>
              <a:t>【接下一页】</a:t>
            </a:r>
          </a:p>
          <a:p>
            <a:r>
              <a:t>除了质询结果，我们也对AI提出的方案进行质询。</a:t>
            </a:r>
          </a:p>
          <a:p/>
          <a:p>
            <a:r>
              <a:t>【可能追问】</a:t>
            </a:r>
          </a:p>
          <a:p>
            <a:r>
              <a:t>问：已排除泄漏了吗？答：只排查覆盖的错误和精确重复，不证明所有患者关联不存在。</a:t>
            </a:r>
          </a:p>
          <a:p/>
          <a:p>
            <a:r>
              <a:t>【来源】</a:t>
            </a:r>
          </a:p>
          <a:p>
            <a:r>
              <a:t>S07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重点展示ChatGPT—用户—Codex的材料交接与纠错。</a:t>
            </a:r>
          </a:p>
          <a:p/>
          <a:p>
            <a:r>
              <a:t>【指图与模块／箭头】</a:t>
            </a:r>
          </a:p>
          <a:p>
            <a:r>
              <a:t>三列是建议、核对、决定；不是说原话逐字如此。所有条目整理自已存审阅表。</a:t>
            </a:r>
          </a:p>
          <a:p/>
          <a:p>
            <a:r>
              <a:t>【上台这样讲】</a:t>
            </a:r>
          </a:p>
          <a:p>
            <a:r>
              <a:t>用户把ChatGPT的升级建议交给Codex核对。早停原来就有，真正缺的是完整训练状态恢复；直接延长轮数也会改变协议。最后采纳工程恢复与审计，没有把所有训练建议照单全收。</a:t>
            </a:r>
          </a:p>
          <a:p/>
          <a:p>
            <a:r>
              <a:t>【接下一页】</a:t>
            </a:r>
          </a:p>
          <a:p>
            <a:r>
              <a:t>另一个工具DeepSeek的草稿也经过同样的检查。</a:t>
            </a:r>
          </a:p>
          <a:p/>
          <a:p>
            <a:r>
              <a:t>【可能追问】</a:t>
            </a:r>
          </a:p>
          <a:p>
            <a:r>
              <a:t>问：这说明ChatGPT不可靠吗？答：说明建议可能缺少当前上下文，所以必须对照源码和结果，而不是凭工具名称信任。</a:t>
            </a:r>
          </a:p>
          <a:p/>
          <a:p>
            <a:r>
              <a:t>【来源】</a:t>
            </a:r>
          </a:p>
          <a:p>
            <a:r>
              <a:t>S08–S09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展示另一AI参与和不采用输出的真实例子。</a:t>
            </a:r>
          </a:p>
          <a:p/>
          <a:p>
            <a:r>
              <a:t>【指图与模块／箭头】</a:t>
            </a:r>
          </a:p>
          <a:p>
            <a:r>
              <a:t>上方是给定信息与发现的问题；下表区分两个不同草稿，不说DeepSeek全部没用。</a:t>
            </a:r>
          </a:p>
          <a:p/>
          <a:p>
            <a:r>
              <a:t>【上台这样讲】</a:t>
            </a:r>
          </a:p>
          <a:p>
            <a:r>
              <a:t>我们用DeepSeek网页对冻结后量化做风险审查。它提出的意见可以参考，但指标草稿少了关键输入检查，因此没有进入正式管线。绘图草稿修订后先用合成数据检查，再用于真实结果。我们没有上传原始图像和服务器凭据，也没有让它生成实验分数。</a:t>
            </a:r>
          </a:p>
          <a:p/>
          <a:p>
            <a:r>
              <a:t>【接下一页】</a:t>
            </a:r>
          </a:p>
          <a:p>
            <a:r>
              <a:t>再看一种已经运行后才暴露的问题，修复应该限定在哪一层。</a:t>
            </a:r>
          </a:p>
          <a:p/>
          <a:p>
            <a:r>
              <a:t>【可能追问】</a:t>
            </a:r>
          </a:p>
          <a:p>
            <a:r>
              <a:t>问：谁人工修改？答：历史记录说Codex辅助，未署名的人工作业不归到具体组员。</a:t>
            </a:r>
          </a:p>
          <a:p/>
          <a:p>
            <a:r>
              <a:t>【来源】</a:t>
            </a:r>
          </a:p>
          <a:p>
            <a:r>
              <a:t>S13、S14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证明Harness不是没有错误，而是知道错误在哪一层。</a:t>
            </a:r>
          </a:p>
          <a:p/>
          <a:p>
            <a:r>
              <a:t>【指图与模块／箭头】</a:t>
            </a:r>
          </a:p>
          <a:p>
            <a:r>
              <a:t>箭头为问题处理顺序。第一框是被保护的原产物；第三框是改动范围。不是从零重跑模型的流程。</a:t>
            </a:r>
          </a:p>
          <a:p/>
          <a:p>
            <a:r>
              <a:t>【上台这样讲】</a:t>
            </a:r>
          </a:p>
          <a:p>
            <a:r>
              <a:t>已有测试预测产生后，核验脚本因JSON类型处理报错。我们修复的是核验程序，不需要重新训练或重新预测测试数据。这样失败可见、修复可追溯，也不会因辅助程序错误覆盖正式结果。</a:t>
            </a:r>
          </a:p>
          <a:p/>
          <a:p>
            <a:r>
              <a:t>【接下一页】</a:t>
            </a:r>
          </a:p>
          <a:p>
            <a:r>
              <a:t>最后一个例子是程序能够运行，但量化结果没有达到使用目标。</a:t>
            </a:r>
          </a:p>
          <a:p/>
          <a:p>
            <a:r>
              <a:t>【可能追问】</a:t>
            </a:r>
          </a:p>
          <a:p>
            <a:r>
              <a:t>问：脚本修完运行通过是否就全部正确？答：只对应覆盖检查，仍需查看输入定义和来源，不升级成临床有效。</a:t>
            </a:r>
          </a:p>
          <a:p/>
          <a:p>
            <a:r>
              <a:t>【来源】</a:t>
            </a:r>
          </a:p>
          <a:p>
            <a:r>
              <a:t>S10、S17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把PTQ作为一次真实AI调试与工程取舍，而非第二段独立科研项目。</a:t>
            </a:r>
          </a:p>
          <a:p/>
          <a:p>
            <a:r>
              <a:t>【指图与模块／箭头】</a:t>
            </a:r>
          </a:p>
          <a:p>
            <a:r>
              <a:t>上方为干预流程；表只比第七阶段同次基准。PTQ是方法，FP32是精度，ONNX是格式。</a:t>
            </a:r>
          </a:p>
          <a:p/>
          <a:p>
            <a:r>
              <a:t>【上台这样讲】</a:t>
            </a:r>
          </a:p>
          <a:p>
            <a:r>
              <a:t>初始两版八位量化严重掉分后，Codex根据训练样例误差线索登记有限干预：五个早期卷积保留浮点。验证精度恢复，文件明显缩小，但CPU更慢。我们保留候选而不替换默认版本。调试助手uint8问题不能称实际推理根因；没有用新候选重开外部测试。</a:t>
            </a:r>
          </a:p>
          <a:p/>
          <a:p>
            <a:r>
              <a:t>【接下一页】</a:t>
            </a:r>
          </a:p>
          <a:p>
            <a:r>
              <a:t>这些取舍之后，最终让老师使用的离线程序是什么？</a:t>
            </a:r>
          </a:p>
          <a:p/>
          <a:p>
            <a:r>
              <a:t>【可能追问】</a:t>
            </a:r>
          </a:p>
          <a:p>
            <a:r>
              <a:t>问：99%以上为什么不用？答：不是不能运行；这是验证结果，综合优势主要是文件小，未加速且无新外测。</a:t>
            </a:r>
          </a:p>
          <a:p/>
          <a:p>
            <a:r>
              <a:t>【来源】</a:t>
            </a:r>
          </a:p>
          <a:p>
            <a:r>
              <a:t>S15–S16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从候选取舍落到实际默认演示版本，并区别新包和历史应用验收。</a:t>
            </a:r>
          </a:p>
          <a:p/>
          <a:p>
            <a:r>
              <a:t>【指图与模块／箭头】</a:t>
            </a:r>
          </a:p>
          <a:p>
            <a:r>
              <a:t>上方箭头是文件导出，不是学习；下方箭头是图像处理。右侧为历史截图，不是本轮新运行。</a:t>
            </a:r>
          </a:p>
          <a:p/>
          <a:p>
            <a:r>
              <a:t>【上台这样讲】</a:t>
            </a:r>
          </a:p>
          <a:p>
            <a:r>
              <a:t>FP32 ONNX本身就可以本地推理，不需要先量化。历史程序已在Mac依赖安装后断网检查，包含真实样例和异常输入。当前教师目录已整理代码，模型和固定PNG要从原归档复制后才能运行；不能把这份整理包当成已经新验收的演示。</a:t>
            </a:r>
          </a:p>
          <a:p/>
          <a:p>
            <a:r>
              <a:t>【接下一页】</a:t>
            </a:r>
          </a:p>
          <a:p>
            <a:r>
              <a:t>为了老师能找到这些材料，我们把原科学来源和教师提交入口分开。</a:t>
            </a:r>
          </a:p>
          <a:p/>
          <a:p>
            <a:r>
              <a:t>【可能追问】</a:t>
            </a:r>
          </a:p>
          <a:p>
            <a:r>
              <a:t>问：联网浏览器就不是离线吗？答：界面是本地回环地址，推理不需要外部云API；依赖安装与离线运行是不同阶段。</a:t>
            </a:r>
          </a:p>
          <a:p/>
          <a:p>
            <a:r>
              <a:t>【来源】</a:t>
            </a:r>
          </a:p>
          <a:p>
            <a:r>
              <a:t>S17–S18、S21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实现用户批准的独立仓库规划，不冒称云端操作已发生。</a:t>
            </a:r>
          </a:p>
          <a:p/>
          <a:p>
            <a:r>
              <a:t>【指图与模块／箭头】</a:t>
            </a:r>
          </a:p>
          <a:p>
            <a:r>
              <a:t>左为既有科学库，右为新提交内容；箭头是受控复制和来源绑定，不是修改旧库或fork。</a:t>
            </a:r>
          </a:p>
          <a:p/>
          <a:p>
            <a:r>
              <a:t>【上台这样讲】</a:t>
            </a:r>
          </a:p>
          <a:p>
            <a:r>
              <a:t>原仓库继续保留历史，我们另建教师导向的提交目录，把最新文件和必要证据集中。新库自己的版本记录文稿变化，原d5记录科学依据。当前连接没有写入接口，所以云端创建和CI还待Codex完成，不用成功徽章冒充已发布。</a:t>
            </a:r>
          </a:p>
          <a:p/>
          <a:p>
            <a:r>
              <a:t>【接下一页】</a:t>
            </a:r>
          </a:p>
          <a:p>
            <a:r>
              <a:t>代码保存下来以后，还要说明哪些能力可以复用，哪些不能随便叫Skill。</a:t>
            </a:r>
          </a:p>
          <a:p/>
          <a:p>
            <a:r>
              <a:t>【可能追问】</a:t>
            </a:r>
          </a:p>
          <a:p>
            <a:r>
              <a:t>问：老师需要原库权限吗？答：基本阅读与演示应在新库提供必要材料；源引用不作为唯一下载路径，发布时需复制演示资产。</a:t>
            </a:r>
          </a:p>
          <a:p/>
          <a:p>
            <a:r>
              <a:t>【来源】</a:t>
            </a:r>
          </a:p>
          <a:p>
            <a:r>
              <a:t>S20–S21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回应用户要求仅列真实Skill与共享工具。</a:t>
            </a:r>
          </a:p>
          <a:p/>
          <a:p>
            <a:r>
              <a:t>【指图与模块／箭头】</a:t>
            </a:r>
          </a:p>
          <a:p>
            <a:r>
              <a:t>三个框是已有、未取得证据、新发生的状态，不能混成已安装技能统计。</a:t>
            </a:r>
          </a:p>
          <a:p/>
          <a:p>
            <a:r>
              <a:t>【上台这样讲】</a:t>
            </a:r>
          </a:p>
          <a:p>
            <a:r>
              <a:t>已有的CLI和审计脚本使任务可以重复执行，恢复与演示是独立模块。我们没有项目专用Skill的历史调用记录，因此不列成成果。当前增加的是教师提交检查，云端CI要真正运行后才能记成功，不能倒填到原实验阶段。</a:t>
            </a:r>
          </a:p>
          <a:p/>
          <a:p>
            <a:r>
              <a:t>【接下一页】</a:t>
            </a:r>
          </a:p>
          <a:p>
            <a:r>
              <a:t>最后回到人的学习与责任，而不是继续列更多工具。</a:t>
            </a:r>
          </a:p>
          <a:p/>
          <a:p>
            <a:r>
              <a:t>【可能追问】</a:t>
            </a:r>
          </a:p>
          <a:p>
            <a:r>
              <a:t>问：安装了Skill就算使用吗？答：还需要任务触发和产物证据；现在不为丰富历史临时安装后倒写经历。</a:t>
            </a:r>
          </a:p>
          <a:p/>
          <a:p>
            <a:r>
              <a:t>【来源】</a:t>
            </a:r>
          </a:p>
          <a:p>
            <a:r>
              <a:t>S02、S09、S17、S21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清楚说明人的价值而不虚构手写代码比例。</a:t>
            </a:r>
          </a:p>
          <a:p/>
          <a:p>
            <a:r>
              <a:t>【指图与模块／箭头】</a:t>
            </a:r>
          </a:p>
          <a:p>
            <a:r>
              <a:t>四行是方法归纳；不是量化教学效果，不把成员名字绑定未经确认的任务。</a:t>
            </a:r>
          </a:p>
          <a:p/>
          <a:p>
            <a:r>
              <a:t>【上台这样讲】</a:t>
            </a:r>
          </a:p>
          <a:p>
            <a:r>
              <a:t>我们学到的不是让AI永不出错，而是说清任务、核对证据、限定修复范围并作出取舍。大量实现确实由Codex完成，人的贡献应按真实记录说明。我们没有工时对照，不说效率提升几倍。</a:t>
            </a:r>
          </a:p>
          <a:p/>
          <a:p>
            <a:r>
              <a:t>【接下一页】</a:t>
            </a:r>
          </a:p>
          <a:p>
            <a:r>
              <a:t>用最后一页总结完成了什么、还不能声称什么。</a:t>
            </a:r>
          </a:p>
          <a:p/>
          <a:p>
            <a:r>
              <a:t>【可能追问】</a:t>
            </a:r>
          </a:p>
          <a:p>
            <a:r>
              <a:t>问：你个人具体做了什么？答：按已记录的任务、决策和本人补充回答，不把AI自动执行写成个人独立完成。</a:t>
            </a:r>
          </a:p>
          <a:p/>
          <a:p>
            <a:r>
              <a:t>【来源】</a:t>
            </a:r>
          </a:p>
          <a:p>
            <a:r>
              <a:t>S08、S13、S20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以课程实践为主收束，不再重复所有模型分数。</a:t>
            </a:r>
          </a:p>
          <a:p/>
          <a:p>
            <a:r>
              <a:t>【指图与模块／箭头】</a:t>
            </a:r>
          </a:p>
          <a:p>
            <a:r>
              <a:t>左边是已发生项目产物，右边是限制与待办；状态来自不同阶段，要区别原成果与新提交。</a:t>
            </a:r>
          </a:p>
          <a:p/>
          <a:p>
            <a:r>
              <a:t>【上台这样讲】</a:t>
            </a:r>
          </a:p>
          <a:p>
            <a:r>
              <a:t>我们把自然语言需求推进成代码、真实实验、核查和交付，并保留AI建议被纠正或否决的过程。分类只是载体，核心是能解释每项检查和取舍。患者级、全平台以及新云端发布等尚无证据的内容仍如实保留。</a:t>
            </a:r>
          </a:p>
          <a:p/>
          <a:p>
            <a:r>
              <a:t>【接下一页】</a:t>
            </a:r>
          </a:p>
          <a:p>
            <a:r>
              <a:t>谢谢老师，下面根据问题查看附录。</a:t>
            </a:r>
          </a:p>
          <a:p/>
          <a:p>
            <a:r>
              <a:t>【可能追问】</a:t>
            </a:r>
          </a:p>
          <a:p>
            <a:r>
              <a:t>问：是否完成所有课程要求？答：主产物已具备，但不同实施方式和未完成项在报告保留，由教师决定评分，不虚构豁免。</a:t>
            </a:r>
          </a:p>
          <a:p/>
          <a:p>
            <a:r>
              <a:t>【来源】</a:t>
            </a:r>
          </a:p>
          <a:p>
            <a:r>
              <a:t>S01、S20–S21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结束并按问题跳转隐藏附录。</a:t>
            </a:r>
          </a:p>
          <a:p/>
          <a:p>
            <a:r>
              <a:t>【指图与模块／箭头】</a:t>
            </a:r>
          </a:p>
          <a:p>
            <a:r>
              <a:t>按钮链接到对应附录，最后有返回入口；本轮检查的是结构目标，原生WPS点击待本人确认。</a:t>
            </a:r>
          </a:p>
          <a:p/>
          <a:p>
            <a:r>
              <a:t>【上台这样讲】</a:t>
            </a:r>
          </a:p>
          <a:p>
            <a:r>
              <a:t>我的汇报结束，谢谢老师。</a:t>
            </a:r>
          </a:p>
          <a:p/>
          <a:p>
            <a:r>
              <a:t>【接下一页】</a:t>
            </a:r>
          </a:p>
          <a:p>
            <a:r>
              <a:t>按问题跳转附录。</a:t>
            </a:r>
          </a:p>
          <a:p/>
          <a:p>
            <a:r>
              <a:t>【可能追问】</a:t>
            </a:r>
          </a:p>
          <a:p>
            <a:r>
              <a:t>请结合主报告来源索引核对。</a:t>
            </a:r>
          </a:p>
          <a:p/>
          <a:p>
            <a:r>
              <a:t>【来源】</a:t>
            </a:r>
          </a:p>
          <a:p>
            <a:r>
              <a:t>本提交同版PPT与讲稿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补充模型框与箭头，不占主线大量时间。</a:t>
            </a:r>
          </a:p>
          <a:p/>
          <a:p>
            <a:r>
              <a:t>【指图与模块／箭头】</a:t>
            </a:r>
          </a:p>
          <a:p>
            <a:r>
              <a:t>箭头是前向特征流；残差相加在模块内部，图不是全部逐层拓扑。池化汇聚空间，分类器输出九类logits。</a:t>
            </a:r>
          </a:p>
          <a:p/>
          <a:p>
            <a:r>
              <a:t>【上台这样讲】</a:t>
            </a:r>
          </a:p>
          <a:p>
            <a:r>
              <a:t>两种模型使用各自预训练权重，替换最后九类输出层，训练时更新整个网络。ResNet用残差模块，MobileNet用轻量倒残差与深度卷积，部分模块含通道重标定。简图不应当作已核验的精确第三方层宽表。</a:t>
            </a:r>
          </a:p>
          <a:p/>
          <a:p>
            <a:r>
              <a:t>【接下一页】</a:t>
            </a:r>
          </a:p>
          <a:p>
            <a:r>
              <a:t>返回答疑索引。</a:t>
            </a:r>
          </a:p>
          <a:p/>
          <a:p>
            <a:r>
              <a:t>【可能追问】</a:t>
            </a:r>
          </a:p>
          <a:p>
            <a:r>
              <a:t>问：18层最优吗？答：没有搜索全家族；它是预选经典基线。</a:t>
            </a:r>
          </a:p>
          <a:p/>
          <a:p>
            <a:r>
              <a:t>【来源】</a:t>
            </a:r>
          </a:p>
          <a:p>
            <a:r>
              <a:t>S03；technical/source_snapshot/pathmnist_project/model.py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澄清Precision、Recall、F1和Accuracy的区别。</a:t>
            </a:r>
          </a:p>
          <a:p/>
          <a:p>
            <a:r>
              <a:t>【指图与模块／箭头】</a:t>
            </a:r>
          </a:p>
          <a:p>
            <a:r>
              <a:t>单类先把其他八类视为非本类；左计数到右公式，最后再算九类平均，不是先平均P和R。</a:t>
            </a:r>
          </a:p>
          <a:p/>
          <a:p>
            <a:r>
              <a:t>【上台这样讲】</a:t>
            </a:r>
          </a:p>
          <a:p>
            <a:r>
              <a:t>间质421张只找对263张，另有15张其他类误报，所以Precision高、Recall低。单类F1约0.7525，九类等权平均后为0.9290。整体Accuracy是6812除以7180约94.87%。</a:t>
            </a:r>
          </a:p>
          <a:p/>
          <a:p>
            <a:r>
              <a:t>【接下一页】</a:t>
            </a:r>
          </a:p>
          <a:p>
            <a:r>
              <a:t>返回答疑索引。</a:t>
            </a:r>
          </a:p>
          <a:p/>
          <a:p>
            <a:r>
              <a:t>【可能追问】</a:t>
            </a:r>
          </a:p>
          <a:p>
            <a:r>
              <a:t>问：F1是参数吗？答：评价指标；网络参数由交叉熵反向传播学习，验证F1用于选择。</a:t>
            </a:r>
          </a:p>
          <a:p/>
          <a:p>
            <a:r>
              <a:t>【来源】</a:t>
            </a:r>
          </a:p>
          <a:p>
            <a:r>
              <a:t>S12；evidence/formal/D_seed2026/test_metrics.json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为K折、独立核验和测试选模提供准确短答。</a:t>
            </a:r>
          </a:p>
          <a:p/>
          <a:p>
            <a:r>
              <a:t>【指图与模块／箭头】</a:t>
            </a:r>
          </a:p>
          <a:p>
            <a:r>
              <a:t>表按真实方法而非术语解读；不将检查过程或三种子重新命名。</a:t>
            </a:r>
          </a:p>
          <a:p/>
          <a:p>
            <a:r>
              <a:t>【上台这样讲】</a:t>
            </a:r>
          </a:p>
          <a:p>
            <a:r>
              <a:t>三种子是重复训练，不是三折。样本索引不是患者ID。独立脚本也可能共享假设。E测试更高可以报告，但依据该分数选择E就是新的选择过程。我们的决定是保留原协议和局限，不再新增K折。</a:t>
            </a:r>
          </a:p>
          <a:p/>
          <a:p>
            <a:r>
              <a:t>【接下一页】</a:t>
            </a:r>
          </a:p>
          <a:p>
            <a:r>
              <a:t>返回索引。</a:t>
            </a:r>
          </a:p>
          <a:p/>
          <a:p>
            <a:r>
              <a:t>【可能追问】</a:t>
            </a:r>
          </a:p>
          <a:p>
            <a:r>
              <a:t>问：老师是否允许不做？答：没有可核验的豁免记录，不代替老师判断。</a:t>
            </a:r>
          </a:p>
          <a:p/>
          <a:p>
            <a:r>
              <a:t>【来源】</a:t>
            </a:r>
          </a:p>
          <a:p>
            <a:r>
              <a:t>S03、S07、S11–S12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【本页作用】</a:t>
            </a:r>
          </a:p>
          <a:p>
            <a:r>
              <a:t>避免把已经做的资料整理夸大为云端发布。</a:t>
            </a:r>
          </a:p>
          <a:p/>
          <a:p>
            <a:r>
              <a:t>【指图与模块／箭头】</a:t>
            </a:r>
          </a:p>
          <a:p>
            <a:r>
              <a:t>四行对应角色、过程、Skill和新提交状态；发布后若状态改变需用真实记录更新，不预填成功。</a:t>
            </a:r>
          </a:p>
          <a:p/>
          <a:p>
            <a:r>
              <a:t>【上台这样讲】</a:t>
            </a:r>
          </a:p>
          <a:p>
            <a:r>
              <a:t>我们能展示实际日志、代码和核验记录；没有证据的Skill和云端运行不列为已完成。新教师目录可以在Codex中接手，复制必要模型样例、创建新私有库并运行检查，原库不变。</a:t>
            </a:r>
          </a:p>
          <a:p/>
          <a:p>
            <a:r>
              <a:t>【接下一页】</a:t>
            </a:r>
          </a:p>
          <a:p>
            <a:r>
              <a:t>返回索引。</a:t>
            </a:r>
          </a:p>
          <a:p/>
          <a:p>
            <a:r>
              <a:t>【可能追问】</a:t>
            </a:r>
          </a:p>
          <a:p>
            <a:r>
              <a:t>问：能否让GPT直接开Codex？答：当前对话没有此动作接口，任务包已备好，需要用户在工作区启动交接。</a:t>
            </a:r>
          </a:p>
          <a:p/>
          <a:p>
            <a:r>
              <a:t>【来源】</a:t>
            </a:r>
          </a:p>
          <a:p>
            <a:r>
              <a:t>S02、S13–S14、S20–S21</a:t>
            </a:r>
          </a:p>
          <a:p/>
          <a:p>
            <a:r>
              <a:t>【边界】</a:t>
            </a:r>
          </a:p>
          <a:p>
            <a:r>
              <a:t>历史实验来自固定提交d5e4a71；本轮只重组文稿与执行交付文件检查，不训练或推理官方测试。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6.xml"/><Relationship Id="rId13" Type="http://schemas.openxmlformats.org/officeDocument/2006/relationships/tags" Target="../tags/tag57.xml"/><Relationship Id="rId14" Type="http://schemas.openxmlformats.org/officeDocument/2006/relationships/tags" Target="../tags/tag58.xml"/><Relationship Id="rId15" Type="http://schemas.openxmlformats.org/officeDocument/2006/relationships/tags" Target="../tags/tag59.xml"/><Relationship Id="rId16" Type="http://schemas.openxmlformats.org/officeDocument/2006/relationships/tags" Target="../tags/tag60.xml"/><Relationship Id="rId17" Type="http://schemas.openxmlformats.org/officeDocument/2006/relationships/tags" Target="../tags/tag61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Relationship Id="rId4" Type="http://schemas.openxmlformats.org/officeDocument/2006/relationships/slide" Target="slide27.xml"/><Relationship Id="rId5" Type="http://schemas.openxmlformats.org/officeDocument/2006/relationships/slide" Target="slide28.xml"/><Relationship Id="rId6" Type="http://schemas.openxmlformats.org/officeDocument/2006/relationships/slide" Target="slide29.xml"/><Relationship Id="rId7" Type="http://schemas.openxmlformats.org/officeDocument/2006/relationships/slide" Target="slide3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7.xml"/><Relationship Id="rId5" Type="http://schemas.openxmlformats.org/officeDocument/2006/relationships/slide" Target="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Relationship Id="rId4" Type="http://schemas.openxmlformats.org/officeDocument/2006/relationships/slide" Target="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Relationship Id="rId4" Type="http://schemas.openxmlformats.org/officeDocument/2006/relationships/slide" Target="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Relationship Id="rId4" Type="http://schemas.openxmlformats.org/officeDocument/2006/relationships/slide" Target="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02" name="组合 701"/>
          <p:cNvGrpSpPr/>
          <p:nvPr/>
        </p:nvGrpSpPr>
        <p:grpSpPr>
          <a:xfrm rot="0">
            <a:off x="2646680" y="49530"/>
            <a:ext cx="6897370" cy="6887210"/>
            <a:chOff x="8645299" y="-830263"/>
            <a:chExt cx="7618413" cy="7602538"/>
          </a:xfrm>
          <a:solidFill>
            <a:srgbClr val="00458E">
              <a:alpha val="6000"/>
            </a:srgbClr>
          </a:solidFill>
        </p:grpSpPr>
        <p:sp>
          <p:nvSpPr>
            <p:cNvPr id="764" name="Freeform 75"/>
            <p:cNvSpPr>
              <a:spLocks noEditPoints="1"/>
            </p:cNvSpPr>
            <p:nvPr/>
          </p:nvSpPr>
          <p:spPr bwMode="auto">
            <a:xfrm>
              <a:off x="8645299" y="-830263"/>
              <a:ext cx="7618413" cy="7602538"/>
            </a:xfrm>
            <a:custGeom>
              <a:avLst/>
              <a:gdLst>
                <a:gd name="T0" fmla="*/ 1106 w 2412"/>
                <a:gd name="T1" fmla="*/ 2355 h 2406"/>
                <a:gd name="T2" fmla="*/ 435 w 2412"/>
                <a:gd name="T3" fmla="*/ 2057 h 2406"/>
                <a:gd name="T4" fmla="*/ 57 w 2412"/>
                <a:gd name="T5" fmla="*/ 1368 h 2406"/>
                <a:gd name="T6" fmla="*/ 118 w 2412"/>
                <a:gd name="T7" fmla="*/ 767 h 2406"/>
                <a:gd name="T8" fmla="*/ 811 w 2412"/>
                <a:gd name="T9" fmla="*/ 78 h 2406"/>
                <a:gd name="T10" fmla="*/ 1443 w 2412"/>
                <a:gd name="T11" fmla="*/ 26 h 2406"/>
                <a:gd name="T12" fmla="*/ 2296 w 2412"/>
                <a:gd name="T13" fmla="*/ 701 h 2406"/>
                <a:gd name="T14" fmla="*/ 2304 w 2412"/>
                <a:gd name="T15" fmla="*/ 1645 h 2406"/>
                <a:gd name="T16" fmla="*/ 1649 w 2412"/>
                <a:gd name="T17" fmla="*/ 2280 h 2406"/>
                <a:gd name="T18" fmla="*/ 1257 w 2412"/>
                <a:gd name="T19" fmla="*/ 2363 h 2406"/>
                <a:gd name="T20" fmla="*/ 2266 w 2412"/>
                <a:gd name="T21" fmla="*/ 754 h 2406"/>
                <a:gd name="T22" fmla="*/ 121 w 2412"/>
                <a:gd name="T23" fmla="*/ 919 h 2406"/>
                <a:gd name="T24" fmla="*/ 2125 w 2412"/>
                <a:gd name="T25" fmla="*/ 1861 h 2406"/>
                <a:gd name="T26" fmla="*/ 2275 w 2412"/>
                <a:gd name="T27" fmla="*/ 773 h 2406"/>
                <a:gd name="T28" fmla="*/ 2259 w 2412"/>
                <a:gd name="T29" fmla="*/ 853 h 2406"/>
                <a:gd name="T30" fmla="*/ 2163 w 2412"/>
                <a:gd name="T31" fmla="*/ 912 h 2406"/>
                <a:gd name="T32" fmla="*/ 2031 w 2412"/>
                <a:gd name="T33" fmla="*/ 918 h 2406"/>
                <a:gd name="T34" fmla="*/ 2013 w 2412"/>
                <a:gd name="T35" fmla="*/ 929 h 2406"/>
                <a:gd name="T36" fmla="*/ 2035 w 2412"/>
                <a:gd name="T37" fmla="*/ 966 h 2406"/>
                <a:gd name="T38" fmla="*/ 1970 w 2412"/>
                <a:gd name="T39" fmla="*/ 979 h 2406"/>
                <a:gd name="T40" fmla="*/ 1872 w 2412"/>
                <a:gd name="T41" fmla="*/ 996 h 2406"/>
                <a:gd name="T42" fmla="*/ 1842 w 2412"/>
                <a:gd name="T43" fmla="*/ 942 h 2406"/>
                <a:gd name="T44" fmla="*/ 1925 w 2412"/>
                <a:gd name="T45" fmla="*/ 935 h 2406"/>
                <a:gd name="T46" fmla="*/ 1826 w 2412"/>
                <a:gd name="T47" fmla="*/ 852 h 2406"/>
                <a:gd name="T48" fmla="*/ 1886 w 2412"/>
                <a:gd name="T49" fmla="*/ 861 h 2406"/>
                <a:gd name="T50" fmla="*/ 1987 w 2412"/>
                <a:gd name="T51" fmla="*/ 894 h 2406"/>
                <a:gd name="T52" fmla="*/ 2074 w 2412"/>
                <a:gd name="T53" fmla="*/ 910 h 2406"/>
                <a:gd name="T54" fmla="*/ 2018 w 2412"/>
                <a:gd name="T55" fmla="*/ 883 h 2406"/>
                <a:gd name="T56" fmla="*/ 1910 w 2412"/>
                <a:gd name="T57" fmla="*/ 815 h 2406"/>
                <a:gd name="T58" fmla="*/ 2081 w 2412"/>
                <a:gd name="T59" fmla="*/ 840 h 2406"/>
                <a:gd name="T60" fmla="*/ 1994 w 2412"/>
                <a:gd name="T61" fmla="*/ 808 h 2406"/>
                <a:gd name="T62" fmla="*/ 2031 w 2412"/>
                <a:gd name="T63" fmla="*/ 716 h 2406"/>
                <a:gd name="T64" fmla="*/ 2059 w 2412"/>
                <a:gd name="T65" fmla="*/ 689 h 2406"/>
                <a:gd name="T66" fmla="*/ 2049 w 2412"/>
                <a:gd name="T67" fmla="*/ 805 h 2406"/>
                <a:gd name="T68" fmla="*/ 2101 w 2412"/>
                <a:gd name="T69" fmla="*/ 781 h 2406"/>
                <a:gd name="T70" fmla="*/ 2122 w 2412"/>
                <a:gd name="T71" fmla="*/ 746 h 2406"/>
                <a:gd name="T72" fmla="*/ 2167 w 2412"/>
                <a:gd name="T73" fmla="*/ 753 h 2406"/>
                <a:gd name="T74" fmla="*/ 2266 w 2412"/>
                <a:gd name="T75" fmla="*/ 754 h 2406"/>
                <a:gd name="T76" fmla="*/ 2158 w 2412"/>
                <a:gd name="T77" fmla="*/ 848 h 2406"/>
                <a:gd name="T78" fmla="*/ 2151 w 2412"/>
                <a:gd name="T79" fmla="*/ 869 h 2406"/>
                <a:gd name="T80" fmla="*/ 2169 w 2412"/>
                <a:gd name="T81" fmla="*/ 822 h 2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12" h="2406">
                  <a:moveTo>
                    <a:pt x="1189" y="2363"/>
                  </a:moveTo>
                  <a:cubicBezTo>
                    <a:pt x="1161" y="2360"/>
                    <a:pt x="1134" y="2358"/>
                    <a:pt x="1106" y="2355"/>
                  </a:cubicBezTo>
                  <a:cubicBezTo>
                    <a:pt x="947" y="2340"/>
                    <a:pt x="797" y="2293"/>
                    <a:pt x="657" y="2217"/>
                  </a:cubicBezTo>
                  <a:cubicBezTo>
                    <a:pt x="577" y="2172"/>
                    <a:pt x="503" y="2119"/>
                    <a:pt x="435" y="2057"/>
                  </a:cubicBezTo>
                  <a:cubicBezTo>
                    <a:pt x="330" y="1963"/>
                    <a:pt x="245" y="1855"/>
                    <a:pt x="179" y="1731"/>
                  </a:cubicBezTo>
                  <a:cubicBezTo>
                    <a:pt x="118" y="1617"/>
                    <a:pt x="78" y="1496"/>
                    <a:pt x="57" y="1368"/>
                  </a:cubicBezTo>
                  <a:cubicBezTo>
                    <a:pt x="42" y="1274"/>
                    <a:pt x="40" y="1178"/>
                    <a:pt x="47" y="1083"/>
                  </a:cubicBezTo>
                  <a:cubicBezTo>
                    <a:pt x="55" y="975"/>
                    <a:pt x="79" y="869"/>
                    <a:pt x="118" y="767"/>
                  </a:cubicBezTo>
                  <a:cubicBezTo>
                    <a:pt x="171" y="631"/>
                    <a:pt x="245" y="507"/>
                    <a:pt x="343" y="398"/>
                  </a:cubicBezTo>
                  <a:cubicBezTo>
                    <a:pt x="473" y="254"/>
                    <a:pt x="629" y="146"/>
                    <a:pt x="811" y="78"/>
                  </a:cubicBezTo>
                  <a:cubicBezTo>
                    <a:pt x="904" y="43"/>
                    <a:pt x="1001" y="21"/>
                    <a:pt x="1099" y="11"/>
                  </a:cubicBezTo>
                  <a:cubicBezTo>
                    <a:pt x="1215" y="0"/>
                    <a:pt x="1329" y="4"/>
                    <a:pt x="1443" y="26"/>
                  </a:cubicBezTo>
                  <a:cubicBezTo>
                    <a:pt x="1633" y="62"/>
                    <a:pt x="1803" y="141"/>
                    <a:pt x="1955" y="262"/>
                  </a:cubicBezTo>
                  <a:cubicBezTo>
                    <a:pt x="2104" y="381"/>
                    <a:pt x="2217" y="528"/>
                    <a:pt x="2296" y="701"/>
                  </a:cubicBezTo>
                  <a:cubicBezTo>
                    <a:pt x="2348" y="816"/>
                    <a:pt x="2381" y="936"/>
                    <a:pt x="2393" y="1061"/>
                  </a:cubicBezTo>
                  <a:cubicBezTo>
                    <a:pt x="2412" y="1263"/>
                    <a:pt x="2385" y="1458"/>
                    <a:pt x="2304" y="1645"/>
                  </a:cubicBezTo>
                  <a:cubicBezTo>
                    <a:pt x="2259" y="1751"/>
                    <a:pt x="2199" y="1849"/>
                    <a:pt x="2124" y="1937"/>
                  </a:cubicBezTo>
                  <a:cubicBezTo>
                    <a:pt x="1994" y="2091"/>
                    <a:pt x="1836" y="2206"/>
                    <a:pt x="1649" y="2280"/>
                  </a:cubicBezTo>
                  <a:cubicBezTo>
                    <a:pt x="1532" y="2326"/>
                    <a:pt x="1410" y="2353"/>
                    <a:pt x="1284" y="2358"/>
                  </a:cubicBezTo>
                  <a:cubicBezTo>
                    <a:pt x="1275" y="2359"/>
                    <a:pt x="1266" y="2361"/>
                    <a:pt x="1257" y="2363"/>
                  </a:cubicBezTo>
                  <a:cubicBezTo>
                    <a:pt x="1234" y="2363"/>
                    <a:pt x="1212" y="2363"/>
                    <a:pt x="1189" y="2363"/>
                  </a:cubicBezTo>
                  <a:close/>
                  <a:moveTo>
                    <a:pt x="2266" y="754"/>
                  </a:moveTo>
                  <a:cubicBezTo>
                    <a:pt x="2129" y="397"/>
                    <a:pt x="1740" y="51"/>
                    <a:pt x="1218" y="52"/>
                  </a:cubicBezTo>
                  <a:cubicBezTo>
                    <a:pt x="699" y="52"/>
                    <a:pt x="246" y="408"/>
                    <a:pt x="121" y="919"/>
                  </a:cubicBezTo>
                  <a:cubicBezTo>
                    <a:pt x="0" y="1416"/>
                    <a:pt x="233" y="1979"/>
                    <a:pt x="768" y="2219"/>
                  </a:cubicBezTo>
                  <a:cubicBezTo>
                    <a:pt x="1188" y="2406"/>
                    <a:pt x="1766" y="2330"/>
                    <a:pt x="2125" y="1861"/>
                  </a:cubicBezTo>
                  <a:cubicBezTo>
                    <a:pt x="2244" y="1706"/>
                    <a:pt x="2315" y="1529"/>
                    <a:pt x="2341" y="1334"/>
                  </a:cubicBezTo>
                  <a:cubicBezTo>
                    <a:pt x="2367" y="1140"/>
                    <a:pt x="2345" y="952"/>
                    <a:pt x="2275" y="773"/>
                  </a:cubicBezTo>
                  <a:cubicBezTo>
                    <a:pt x="2261" y="788"/>
                    <a:pt x="2247" y="802"/>
                    <a:pt x="2233" y="816"/>
                  </a:cubicBezTo>
                  <a:cubicBezTo>
                    <a:pt x="2250" y="820"/>
                    <a:pt x="2260" y="827"/>
                    <a:pt x="2259" y="853"/>
                  </a:cubicBezTo>
                  <a:cubicBezTo>
                    <a:pt x="2258" y="874"/>
                    <a:pt x="2252" y="881"/>
                    <a:pt x="2236" y="887"/>
                  </a:cubicBezTo>
                  <a:cubicBezTo>
                    <a:pt x="2212" y="896"/>
                    <a:pt x="2187" y="904"/>
                    <a:pt x="2163" y="912"/>
                  </a:cubicBezTo>
                  <a:cubicBezTo>
                    <a:pt x="2155" y="945"/>
                    <a:pt x="2133" y="967"/>
                    <a:pt x="2098" y="942"/>
                  </a:cubicBezTo>
                  <a:cubicBezTo>
                    <a:pt x="2079" y="929"/>
                    <a:pt x="2054" y="925"/>
                    <a:pt x="2031" y="918"/>
                  </a:cubicBezTo>
                  <a:cubicBezTo>
                    <a:pt x="2027" y="917"/>
                    <a:pt x="2022" y="921"/>
                    <a:pt x="2017" y="922"/>
                  </a:cubicBezTo>
                  <a:cubicBezTo>
                    <a:pt x="2016" y="924"/>
                    <a:pt x="2014" y="927"/>
                    <a:pt x="2013" y="929"/>
                  </a:cubicBezTo>
                  <a:cubicBezTo>
                    <a:pt x="2019" y="932"/>
                    <a:pt x="2025" y="935"/>
                    <a:pt x="2030" y="939"/>
                  </a:cubicBezTo>
                  <a:cubicBezTo>
                    <a:pt x="2041" y="946"/>
                    <a:pt x="2044" y="955"/>
                    <a:pt x="2035" y="966"/>
                  </a:cubicBezTo>
                  <a:cubicBezTo>
                    <a:pt x="2026" y="975"/>
                    <a:pt x="2017" y="985"/>
                    <a:pt x="2003" y="974"/>
                  </a:cubicBezTo>
                  <a:cubicBezTo>
                    <a:pt x="1990" y="964"/>
                    <a:pt x="1980" y="968"/>
                    <a:pt x="1970" y="979"/>
                  </a:cubicBezTo>
                  <a:cubicBezTo>
                    <a:pt x="1966" y="984"/>
                    <a:pt x="1961" y="989"/>
                    <a:pt x="1957" y="994"/>
                  </a:cubicBezTo>
                  <a:cubicBezTo>
                    <a:pt x="1922" y="1036"/>
                    <a:pt x="1908" y="1040"/>
                    <a:pt x="1872" y="996"/>
                  </a:cubicBezTo>
                  <a:cubicBezTo>
                    <a:pt x="1859" y="980"/>
                    <a:pt x="1849" y="963"/>
                    <a:pt x="1837" y="947"/>
                  </a:cubicBezTo>
                  <a:cubicBezTo>
                    <a:pt x="1839" y="946"/>
                    <a:pt x="1841" y="944"/>
                    <a:pt x="1842" y="942"/>
                  </a:cubicBezTo>
                  <a:cubicBezTo>
                    <a:pt x="1857" y="948"/>
                    <a:pt x="1870" y="955"/>
                    <a:pt x="1885" y="960"/>
                  </a:cubicBezTo>
                  <a:cubicBezTo>
                    <a:pt x="1906" y="968"/>
                    <a:pt x="1912" y="946"/>
                    <a:pt x="1925" y="935"/>
                  </a:cubicBezTo>
                  <a:cubicBezTo>
                    <a:pt x="1911" y="928"/>
                    <a:pt x="1896" y="921"/>
                    <a:pt x="1881" y="918"/>
                  </a:cubicBezTo>
                  <a:cubicBezTo>
                    <a:pt x="1840" y="911"/>
                    <a:pt x="1832" y="893"/>
                    <a:pt x="1826" y="852"/>
                  </a:cubicBezTo>
                  <a:cubicBezTo>
                    <a:pt x="1825" y="844"/>
                    <a:pt x="1833" y="834"/>
                    <a:pt x="1837" y="826"/>
                  </a:cubicBezTo>
                  <a:cubicBezTo>
                    <a:pt x="1856" y="840"/>
                    <a:pt x="1870" y="853"/>
                    <a:pt x="1886" y="861"/>
                  </a:cubicBezTo>
                  <a:cubicBezTo>
                    <a:pt x="1914" y="874"/>
                    <a:pt x="1943" y="883"/>
                    <a:pt x="1971" y="894"/>
                  </a:cubicBezTo>
                  <a:cubicBezTo>
                    <a:pt x="1976" y="895"/>
                    <a:pt x="1983" y="896"/>
                    <a:pt x="1987" y="894"/>
                  </a:cubicBezTo>
                  <a:cubicBezTo>
                    <a:pt x="2003" y="885"/>
                    <a:pt x="2016" y="891"/>
                    <a:pt x="2030" y="897"/>
                  </a:cubicBezTo>
                  <a:cubicBezTo>
                    <a:pt x="2044" y="903"/>
                    <a:pt x="2059" y="906"/>
                    <a:pt x="2074" y="910"/>
                  </a:cubicBezTo>
                  <a:cubicBezTo>
                    <a:pt x="2075" y="907"/>
                    <a:pt x="2075" y="904"/>
                    <a:pt x="2076" y="901"/>
                  </a:cubicBezTo>
                  <a:cubicBezTo>
                    <a:pt x="2057" y="895"/>
                    <a:pt x="2037" y="883"/>
                    <a:pt x="2018" y="883"/>
                  </a:cubicBezTo>
                  <a:cubicBezTo>
                    <a:pt x="1970" y="884"/>
                    <a:pt x="1939" y="858"/>
                    <a:pt x="1911" y="825"/>
                  </a:cubicBezTo>
                  <a:cubicBezTo>
                    <a:pt x="1910" y="823"/>
                    <a:pt x="1910" y="820"/>
                    <a:pt x="1910" y="815"/>
                  </a:cubicBezTo>
                  <a:cubicBezTo>
                    <a:pt x="1964" y="828"/>
                    <a:pt x="2016" y="841"/>
                    <a:pt x="2070" y="855"/>
                  </a:cubicBezTo>
                  <a:cubicBezTo>
                    <a:pt x="2073" y="849"/>
                    <a:pt x="2078" y="844"/>
                    <a:pt x="2081" y="840"/>
                  </a:cubicBezTo>
                  <a:cubicBezTo>
                    <a:pt x="2064" y="833"/>
                    <a:pt x="2049" y="826"/>
                    <a:pt x="2032" y="818"/>
                  </a:cubicBezTo>
                  <a:cubicBezTo>
                    <a:pt x="2020" y="815"/>
                    <a:pt x="2007" y="811"/>
                    <a:pt x="1994" y="808"/>
                  </a:cubicBezTo>
                  <a:cubicBezTo>
                    <a:pt x="1998" y="794"/>
                    <a:pt x="2000" y="780"/>
                    <a:pt x="2006" y="767"/>
                  </a:cubicBezTo>
                  <a:cubicBezTo>
                    <a:pt x="2013" y="750"/>
                    <a:pt x="2022" y="733"/>
                    <a:pt x="2031" y="716"/>
                  </a:cubicBezTo>
                  <a:cubicBezTo>
                    <a:pt x="2034" y="709"/>
                    <a:pt x="2034" y="701"/>
                    <a:pt x="2039" y="696"/>
                  </a:cubicBezTo>
                  <a:cubicBezTo>
                    <a:pt x="2044" y="691"/>
                    <a:pt x="2053" y="688"/>
                    <a:pt x="2059" y="689"/>
                  </a:cubicBezTo>
                  <a:cubicBezTo>
                    <a:pt x="2063" y="689"/>
                    <a:pt x="2068" y="699"/>
                    <a:pt x="2069" y="705"/>
                  </a:cubicBezTo>
                  <a:cubicBezTo>
                    <a:pt x="2073" y="740"/>
                    <a:pt x="2072" y="774"/>
                    <a:pt x="2049" y="805"/>
                  </a:cubicBezTo>
                  <a:cubicBezTo>
                    <a:pt x="2064" y="807"/>
                    <a:pt x="2075" y="809"/>
                    <a:pt x="2077" y="791"/>
                  </a:cubicBezTo>
                  <a:cubicBezTo>
                    <a:pt x="2079" y="776"/>
                    <a:pt x="2089" y="775"/>
                    <a:pt x="2101" y="781"/>
                  </a:cubicBezTo>
                  <a:cubicBezTo>
                    <a:pt x="2104" y="783"/>
                    <a:pt x="2108" y="786"/>
                    <a:pt x="2112" y="789"/>
                  </a:cubicBezTo>
                  <a:cubicBezTo>
                    <a:pt x="2116" y="774"/>
                    <a:pt x="2118" y="760"/>
                    <a:pt x="2122" y="746"/>
                  </a:cubicBezTo>
                  <a:cubicBezTo>
                    <a:pt x="2125" y="737"/>
                    <a:pt x="2131" y="730"/>
                    <a:pt x="2143" y="738"/>
                  </a:cubicBezTo>
                  <a:cubicBezTo>
                    <a:pt x="2151" y="744"/>
                    <a:pt x="2159" y="748"/>
                    <a:pt x="2167" y="753"/>
                  </a:cubicBezTo>
                  <a:cubicBezTo>
                    <a:pt x="2185" y="764"/>
                    <a:pt x="2202" y="765"/>
                    <a:pt x="2222" y="759"/>
                  </a:cubicBezTo>
                  <a:cubicBezTo>
                    <a:pt x="2236" y="755"/>
                    <a:pt x="2250" y="756"/>
                    <a:pt x="2266" y="754"/>
                  </a:cubicBezTo>
                  <a:close/>
                  <a:moveTo>
                    <a:pt x="2140" y="834"/>
                  </a:moveTo>
                  <a:cubicBezTo>
                    <a:pt x="2148" y="840"/>
                    <a:pt x="2153" y="843"/>
                    <a:pt x="2158" y="848"/>
                  </a:cubicBezTo>
                  <a:cubicBezTo>
                    <a:pt x="2154" y="854"/>
                    <a:pt x="2151" y="859"/>
                    <a:pt x="2148" y="863"/>
                  </a:cubicBezTo>
                  <a:cubicBezTo>
                    <a:pt x="2149" y="865"/>
                    <a:pt x="2150" y="867"/>
                    <a:pt x="2151" y="869"/>
                  </a:cubicBezTo>
                  <a:cubicBezTo>
                    <a:pt x="2161" y="864"/>
                    <a:pt x="2176" y="861"/>
                    <a:pt x="2179" y="854"/>
                  </a:cubicBezTo>
                  <a:cubicBezTo>
                    <a:pt x="2182" y="846"/>
                    <a:pt x="2173" y="834"/>
                    <a:pt x="2169" y="822"/>
                  </a:cubicBezTo>
                  <a:cubicBezTo>
                    <a:pt x="2158" y="827"/>
                    <a:pt x="2150" y="830"/>
                    <a:pt x="2140" y="8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5" name="Freeform 78"/>
            <p:cNvSpPr/>
            <p:nvPr/>
          </p:nvSpPr>
          <p:spPr bwMode="auto">
            <a:xfrm>
              <a:off x="10745561" y="1906587"/>
              <a:ext cx="3482975" cy="2900363"/>
            </a:xfrm>
            <a:custGeom>
              <a:avLst/>
              <a:gdLst>
                <a:gd name="T0" fmla="*/ 1103 w 1103"/>
                <a:gd name="T1" fmla="*/ 30 h 918"/>
                <a:gd name="T2" fmla="*/ 980 w 1103"/>
                <a:gd name="T3" fmla="*/ 112 h 918"/>
                <a:gd name="T4" fmla="*/ 922 w 1103"/>
                <a:gd name="T5" fmla="*/ 108 h 918"/>
                <a:gd name="T6" fmla="*/ 905 w 1103"/>
                <a:gd name="T7" fmla="*/ 117 h 918"/>
                <a:gd name="T8" fmla="*/ 888 w 1103"/>
                <a:gd name="T9" fmla="*/ 160 h 918"/>
                <a:gd name="T10" fmla="*/ 1030 w 1103"/>
                <a:gd name="T11" fmla="*/ 160 h 918"/>
                <a:gd name="T12" fmla="*/ 930 w 1103"/>
                <a:gd name="T13" fmla="*/ 244 h 918"/>
                <a:gd name="T14" fmla="*/ 849 w 1103"/>
                <a:gd name="T15" fmla="*/ 244 h 918"/>
                <a:gd name="T16" fmla="*/ 827 w 1103"/>
                <a:gd name="T17" fmla="*/ 297 h 918"/>
                <a:gd name="T18" fmla="*/ 943 w 1103"/>
                <a:gd name="T19" fmla="*/ 297 h 918"/>
                <a:gd name="T20" fmla="*/ 852 w 1103"/>
                <a:gd name="T21" fmla="*/ 372 h 918"/>
                <a:gd name="T22" fmla="*/ 830 w 1103"/>
                <a:gd name="T23" fmla="*/ 373 h 918"/>
                <a:gd name="T24" fmla="*/ 775 w 1103"/>
                <a:gd name="T25" fmla="*/ 424 h 918"/>
                <a:gd name="T26" fmla="*/ 862 w 1103"/>
                <a:gd name="T27" fmla="*/ 424 h 918"/>
                <a:gd name="T28" fmla="*/ 775 w 1103"/>
                <a:gd name="T29" fmla="*/ 501 h 918"/>
                <a:gd name="T30" fmla="*/ 720 w 1103"/>
                <a:gd name="T31" fmla="*/ 553 h 918"/>
                <a:gd name="T32" fmla="*/ 750 w 1103"/>
                <a:gd name="T33" fmla="*/ 553 h 918"/>
                <a:gd name="T34" fmla="*/ 780 w 1103"/>
                <a:gd name="T35" fmla="*/ 553 h 918"/>
                <a:gd name="T36" fmla="*/ 715 w 1103"/>
                <a:gd name="T37" fmla="*/ 620 h 918"/>
                <a:gd name="T38" fmla="*/ 695 w 1103"/>
                <a:gd name="T39" fmla="*/ 623 h 918"/>
                <a:gd name="T40" fmla="*/ 666 w 1103"/>
                <a:gd name="T41" fmla="*/ 701 h 918"/>
                <a:gd name="T42" fmla="*/ 682 w 1103"/>
                <a:gd name="T43" fmla="*/ 719 h 918"/>
                <a:gd name="T44" fmla="*/ 560 w 1103"/>
                <a:gd name="T45" fmla="*/ 918 h 918"/>
                <a:gd name="T46" fmla="*/ 430 w 1103"/>
                <a:gd name="T47" fmla="*/ 719 h 918"/>
                <a:gd name="T48" fmla="*/ 453 w 1103"/>
                <a:gd name="T49" fmla="*/ 676 h 918"/>
                <a:gd name="T50" fmla="*/ 416 w 1103"/>
                <a:gd name="T51" fmla="*/ 621 h 918"/>
                <a:gd name="T52" fmla="*/ 331 w 1103"/>
                <a:gd name="T53" fmla="*/ 553 h 918"/>
                <a:gd name="T54" fmla="*/ 393 w 1103"/>
                <a:gd name="T55" fmla="*/ 553 h 918"/>
                <a:gd name="T56" fmla="*/ 376 w 1103"/>
                <a:gd name="T57" fmla="*/ 508 h 918"/>
                <a:gd name="T58" fmla="*/ 360 w 1103"/>
                <a:gd name="T59" fmla="*/ 501 h 918"/>
                <a:gd name="T60" fmla="*/ 254 w 1103"/>
                <a:gd name="T61" fmla="*/ 430 h 918"/>
                <a:gd name="T62" fmla="*/ 342 w 1103"/>
                <a:gd name="T63" fmla="*/ 425 h 918"/>
                <a:gd name="T64" fmla="*/ 326 w 1103"/>
                <a:gd name="T65" fmla="*/ 386 h 918"/>
                <a:gd name="T66" fmla="*/ 309 w 1103"/>
                <a:gd name="T67" fmla="*/ 380 h 918"/>
                <a:gd name="T68" fmla="*/ 255 w 1103"/>
                <a:gd name="T69" fmla="*/ 376 h 918"/>
                <a:gd name="T70" fmla="*/ 174 w 1103"/>
                <a:gd name="T71" fmla="*/ 303 h 918"/>
                <a:gd name="T72" fmla="*/ 291 w 1103"/>
                <a:gd name="T73" fmla="*/ 303 h 918"/>
                <a:gd name="T74" fmla="*/ 266 w 1103"/>
                <a:gd name="T75" fmla="*/ 249 h 918"/>
                <a:gd name="T76" fmla="*/ 250 w 1103"/>
                <a:gd name="T77" fmla="*/ 245 h 918"/>
                <a:gd name="T78" fmla="*/ 190 w 1103"/>
                <a:gd name="T79" fmla="*/ 244 h 918"/>
                <a:gd name="T80" fmla="*/ 82 w 1103"/>
                <a:gd name="T81" fmla="*/ 165 h 918"/>
                <a:gd name="T82" fmla="*/ 225 w 1103"/>
                <a:gd name="T83" fmla="*/ 165 h 918"/>
                <a:gd name="T84" fmla="*/ 207 w 1103"/>
                <a:gd name="T85" fmla="*/ 120 h 918"/>
                <a:gd name="T86" fmla="*/ 185 w 1103"/>
                <a:gd name="T87" fmla="*/ 112 h 918"/>
                <a:gd name="T88" fmla="*/ 88 w 1103"/>
                <a:gd name="T89" fmla="*/ 106 h 918"/>
                <a:gd name="T90" fmla="*/ 0 w 1103"/>
                <a:gd name="T91" fmla="*/ 38 h 918"/>
                <a:gd name="T92" fmla="*/ 109 w 1103"/>
                <a:gd name="T93" fmla="*/ 34 h 918"/>
                <a:gd name="T94" fmla="*/ 291 w 1103"/>
                <a:gd name="T95" fmla="*/ 29 h 918"/>
                <a:gd name="T96" fmla="*/ 419 w 1103"/>
                <a:gd name="T97" fmla="*/ 112 h 918"/>
                <a:gd name="T98" fmla="*/ 450 w 1103"/>
                <a:gd name="T99" fmla="*/ 168 h 918"/>
                <a:gd name="T100" fmla="*/ 480 w 1103"/>
                <a:gd name="T101" fmla="*/ 64 h 918"/>
                <a:gd name="T102" fmla="*/ 553 w 1103"/>
                <a:gd name="T103" fmla="*/ 4 h 918"/>
                <a:gd name="T104" fmla="*/ 701 w 1103"/>
                <a:gd name="T105" fmla="*/ 46 h 918"/>
                <a:gd name="T106" fmla="*/ 612 w 1103"/>
                <a:gd name="T107" fmla="*/ 79 h 918"/>
                <a:gd name="T108" fmla="*/ 655 w 1103"/>
                <a:gd name="T109" fmla="*/ 182 h 918"/>
                <a:gd name="T110" fmla="*/ 691 w 1103"/>
                <a:gd name="T111" fmla="*/ 113 h 918"/>
                <a:gd name="T112" fmla="*/ 784 w 1103"/>
                <a:gd name="T113" fmla="*/ 32 h 918"/>
                <a:gd name="T114" fmla="*/ 802 w 1103"/>
                <a:gd name="T115" fmla="*/ 29 h 918"/>
                <a:gd name="T116" fmla="*/ 1092 w 1103"/>
                <a:gd name="T117" fmla="*/ 29 h 918"/>
                <a:gd name="T118" fmla="*/ 1103 w 1103"/>
                <a:gd name="T119" fmla="*/ 30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03" h="918">
                  <a:moveTo>
                    <a:pt x="1103" y="30"/>
                  </a:moveTo>
                  <a:cubicBezTo>
                    <a:pt x="1085" y="84"/>
                    <a:pt x="1044" y="111"/>
                    <a:pt x="980" y="112"/>
                  </a:cubicBezTo>
                  <a:cubicBezTo>
                    <a:pt x="961" y="112"/>
                    <a:pt x="941" y="108"/>
                    <a:pt x="922" y="108"/>
                  </a:cubicBezTo>
                  <a:cubicBezTo>
                    <a:pt x="916" y="108"/>
                    <a:pt x="907" y="112"/>
                    <a:pt x="905" y="117"/>
                  </a:cubicBezTo>
                  <a:cubicBezTo>
                    <a:pt x="898" y="130"/>
                    <a:pt x="894" y="144"/>
                    <a:pt x="888" y="160"/>
                  </a:cubicBezTo>
                  <a:cubicBezTo>
                    <a:pt x="936" y="160"/>
                    <a:pt x="983" y="160"/>
                    <a:pt x="1030" y="160"/>
                  </a:cubicBezTo>
                  <a:cubicBezTo>
                    <a:pt x="1024" y="205"/>
                    <a:pt x="980" y="242"/>
                    <a:pt x="930" y="244"/>
                  </a:cubicBezTo>
                  <a:cubicBezTo>
                    <a:pt x="904" y="245"/>
                    <a:pt x="878" y="244"/>
                    <a:pt x="849" y="244"/>
                  </a:cubicBezTo>
                  <a:cubicBezTo>
                    <a:pt x="843" y="258"/>
                    <a:pt x="836" y="275"/>
                    <a:pt x="827" y="297"/>
                  </a:cubicBezTo>
                  <a:cubicBezTo>
                    <a:pt x="868" y="297"/>
                    <a:pt x="905" y="297"/>
                    <a:pt x="943" y="297"/>
                  </a:cubicBezTo>
                  <a:cubicBezTo>
                    <a:pt x="929" y="339"/>
                    <a:pt x="891" y="369"/>
                    <a:pt x="852" y="372"/>
                  </a:cubicBezTo>
                  <a:cubicBezTo>
                    <a:pt x="844" y="373"/>
                    <a:pt x="837" y="373"/>
                    <a:pt x="830" y="373"/>
                  </a:cubicBezTo>
                  <a:cubicBezTo>
                    <a:pt x="787" y="375"/>
                    <a:pt x="783" y="378"/>
                    <a:pt x="775" y="424"/>
                  </a:cubicBezTo>
                  <a:cubicBezTo>
                    <a:pt x="804" y="424"/>
                    <a:pt x="833" y="424"/>
                    <a:pt x="862" y="424"/>
                  </a:cubicBezTo>
                  <a:cubicBezTo>
                    <a:pt x="852" y="474"/>
                    <a:pt x="823" y="499"/>
                    <a:pt x="775" y="501"/>
                  </a:cubicBezTo>
                  <a:cubicBezTo>
                    <a:pt x="731" y="502"/>
                    <a:pt x="729" y="504"/>
                    <a:pt x="720" y="553"/>
                  </a:cubicBezTo>
                  <a:cubicBezTo>
                    <a:pt x="731" y="553"/>
                    <a:pt x="740" y="553"/>
                    <a:pt x="750" y="553"/>
                  </a:cubicBezTo>
                  <a:cubicBezTo>
                    <a:pt x="760" y="553"/>
                    <a:pt x="770" y="553"/>
                    <a:pt x="780" y="553"/>
                  </a:cubicBezTo>
                  <a:cubicBezTo>
                    <a:pt x="775" y="588"/>
                    <a:pt x="747" y="616"/>
                    <a:pt x="715" y="620"/>
                  </a:cubicBezTo>
                  <a:cubicBezTo>
                    <a:pt x="708" y="621"/>
                    <a:pt x="702" y="623"/>
                    <a:pt x="695" y="623"/>
                  </a:cubicBezTo>
                  <a:cubicBezTo>
                    <a:pt x="653" y="620"/>
                    <a:pt x="642" y="674"/>
                    <a:pt x="666" y="701"/>
                  </a:cubicBezTo>
                  <a:cubicBezTo>
                    <a:pt x="671" y="707"/>
                    <a:pt x="677" y="713"/>
                    <a:pt x="682" y="719"/>
                  </a:cubicBezTo>
                  <a:cubicBezTo>
                    <a:pt x="642" y="784"/>
                    <a:pt x="602" y="850"/>
                    <a:pt x="560" y="918"/>
                  </a:cubicBezTo>
                  <a:cubicBezTo>
                    <a:pt x="515" y="849"/>
                    <a:pt x="471" y="783"/>
                    <a:pt x="430" y="719"/>
                  </a:cubicBezTo>
                  <a:cubicBezTo>
                    <a:pt x="438" y="704"/>
                    <a:pt x="449" y="690"/>
                    <a:pt x="453" y="676"/>
                  </a:cubicBezTo>
                  <a:cubicBezTo>
                    <a:pt x="462" y="644"/>
                    <a:pt x="449" y="624"/>
                    <a:pt x="416" y="621"/>
                  </a:cubicBezTo>
                  <a:cubicBezTo>
                    <a:pt x="374" y="616"/>
                    <a:pt x="347" y="594"/>
                    <a:pt x="331" y="553"/>
                  </a:cubicBezTo>
                  <a:cubicBezTo>
                    <a:pt x="352" y="553"/>
                    <a:pt x="371" y="553"/>
                    <a:pt x="393" y="553"/>
                  </a:cubicBezTo>
                  <a:cubicBezTo>
                    <a:pt x="387" y="536"/>
                    <a:pt x="382" y="521"/>
                    <a:pt x="376" y="508"/>
                  </a:cubicBezTo>
                  <a:cubicBezTo>
                    <a:pt x="374" y="504"/>
                    <a:pt x="365" y="500"/>
                    <a:pt x="360" y="501"/>
                  </a:cubicBezTo>
                  <a:cubicBezTo>
                    <a:pt x="306" y="506"/>
                    <a:pt x="276" y="476"/>
                    <a:pt x="254" y="430"/>
                  </a:cubicBezTo>
                  <a:cubicBezTo>
                    <a:pt x="283" y="428"/>
                    <a:pt x="311" y="426"/>
                    <a:pt x="342" y="425"/>
                  </a:cubicBezTo>
                  <a:cubicBezTo>
                    <a:pt x="336" y="410"/>
                    <a:pt x="332" y="397"/>
                    <a:pt x="326" y="386"/>
                  </a:cubicBezTo>
                  <a:cubicBezTo>
                    <a:pt x="324" y="382"/>
                    <a:pt x="315" y="381"/>
                    <a:pt x="309" y="380"/>
                  </a:cubicBezTo>
                  <a:cubicBezTo>
                    <a:pt x="291" y="378"/>
                    <a:pt x="273" y="378"/>
                    <a:pt x="255" y="376"/>
                  </a:cubicBezTo>
                  <a:cubicBezTo>
                    <a:pt x="214" y="371"/>
                    <a:pt x="193" y="342"/>
                    <a:pt x="174" y="303"/>
                  </a:cubicBezTo>
                  <a:cubicBezTo>
                    <a:pt x="213" y="303"/>
                    <a:pt x="249" y="303"/>
                    <a:pt x="291" y="303"/>
                  </a:cubicBezTo>
                  <a:cubicBezTo>
                    <a:pt x="281" y="281"/>
                    <a:pt x="274" y="265"/>
                    <a:pt x="266" y="249"/>
                  </a:cubicBezTo>
                  <a:cubicBezTo>
                    <a:pt x="264" y="246"/>
                    <a:pt x="255" y="245"/>
                    <a:pt x="250" y="245"/>
                  </a:cubicBezTo>
                  <a:cubicBezTo>
                    <a:pt x="230" y="244"/>
                    <a:pt x="210" y="245"/>
                    <a:pt x="190" y="244"/>
                  </a:cubicBezTo>
                  <a:cubicBezTo>
                    <a:pt x="137" y="243"/>
                    <a:pt x="103" y="218"/>
                    <a:pt x="82" y="165"/>
                  </a:cubicBezTo>
                  <a:cubicBezTo>
                    <a:pt x="129" y="165"/>
                    <a:pt x="175" y="165"/>
                    <a:pt x="225" y="165"/>
                  </a:cubicBezTo>
                  <a:cubicBezTo>
                    <a:pt x="218" y="148"/>
                    <a:pt x="215" y="133"/>
                    <a:pt x="207" y="120"/>
                  </a:cubicBezTo>
                  <a:cubicBezTo>
                    <a:pt x="204" y="115"/>
                    <a:pt x="193" y="113"/>
                    <a:pt x="185" y="112"/>
                  </a:cubicBezTo>
                  <a:cubicBezTo>
                    <a:pt x="153" y="110"/>
                    <a:pt x="120" y="109"/>
                    <a:pt x="88" y="106"/>
                  </a:cubicBezTo>
                  <a:cubicBezTo>
                    <a:pt x="46" y="102"/>
                    <a:pt x="21" y="74"/>
                    <a:pt x="0" y="38"/>
                  </a:cubicBezTo>
                  <a:cubicBezTo>
                    <a:pt x="38" y="37"/>
                    <a:pt x="74" y="35"/>
                    <a:pt x="109" y="34"/>
                  </a:cubicBezTo>
                  <a:cubicBezTo>
                    <a:pt x="170" y="32"/>
                    <a:pt x="230" y="30"/>
                    <a:pt x="291" y="29"/>
                  </a:cubicBezTo>
                  <a:cubicBezTo>
                    <a:pt x="352" y="28"/>
                    <a:pt x="395" y="56"/>
                    <a:pt x="419" y="112"/>
                  </a:cubicBezTo>
                  <a:cubicBezTo>
                    <a:pt x="428" y="131"/>
                    <a:pt x="437" y="150"/>
                    <a:pt x="450" y="168"/>
                  </a:cubicBezTo>
                  <a:cubicBezTo>
                    <a:pt x="460" y="133"/>
                    <a:pt x="471" y="99"/>
                    <a:pt x="480" y="64"/>
                  </a:cubicBezTo>
                  <a:cubicBezTo>
                    <a:pt x="493" y="20"/>
                    <a:pt x="508" y="7"/>
                    <a:pt x="553" y="4"/>
                  </a:cubicBezTo>
                  <a:cubicBezTo>
                    <a:pt x="606" y="0"/>
                    <a:pt x="655" y="12"/>
                    <a:pt x="701" y="46"/>
                  </a:cubicBezTo>
                  <a:cubicBezTo>
                    <a:pt x="671" y="58"/>
                    <a:pt x="642" y="68"/>
                    <a:pt x="612" y="79"/>
                  </a:cubicBezTo>
                  <a:cubicBezTo>
                    <a:pt x="626" y="113"/>
                    <a:pt x="640" y="146"/>
                    <a:pt x="655" y="182"/>
                  </a:cubicBezTo>
                  <a:cubicBezTo>
                    <a:pt x="668" y="157"/>
                    <a:pt x="679" y="135"/>
                    <a:pt x="691" y="113"/>
                  </a:cubicBezTo>
                  <a:cubicBezTo>
                    <a:pt x="713" y="75"/>
                    <a:pt x="740" y="43"/>
                    <a:pt x="784" y="32"/>
                  </a:cubicBezTo>
                  <a:cubicBezTo>
                    <a:pt x="790" y="31"/>
                    <a:pt x="796" y="29"/>
                    <a:pt x="802" y="29"/>
                  </a:cubicBezTo>
                  <a:cubicBezTo>
                    <a:pt x="899" y="29"/>
                    <a:pt x="995" y="29"/>
                    <a:pt x="1092" y="29"/>
                  </a:cubicBezTo>
                  <a:cubicBezTo>
                    <a:pt x="1095" y="29"/>
                    <a:pt x="1098" y="30"/>
                    <a:pt x="1103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6" name="Freeform 79"/>
            <p:cNvSpPr/>
            <p:nvPr/>
          </p:nvSpPr>
          <p:spPr bwMode="auto">
            <a:xfrm>
              <a:off x="10196286" y="627062"/>
              <a:ext cx="4621213" cy="3867150"/>
            </a:xfrm>
            <a:custGeom>
              <a:avLst/>
              <a:gdLst>
                <a:gd name="T0" fmla="*/ 1144 w 1463"/>
                <a:gd name="T1" fmla="*/ 1224 h 1224"/>
                <a:gd name="T2" fmla="*/ 1130 w 1463"/>
                <a:gd name="T3" fmla="*/ 1207 h 1224"/>
                <a:gd name="T4" fmla="*/ 1352 w 1463"/>
                <a:gd name="T5" fmla="*/ 646 h 1224"/>
                <a:gd name="T6" fmla="*/ 1129 w 1463"/>
                <a:gd name="T7" fmla="*/ 238 h 1224"/>
                <a:gd name="T8" fmla="*/ 275 w 1463"/>
                <a:gd name="T9" fmla="*/ 290 h 1224"/>
                <a:gd name="T10" fmla="*/ 104 w 1463"/>
                <a:gd name="T11" fmla="*/ 760 h 1224"/>
                <a:gd name="T12" fmla="*/ 331 w 1463"/>
                <a:gd name="T13" fmla="*/ 1206 h 1224"/>
                <a:gd name="T14" fmla="*/ 316 w 1463"/>
                <a:gd name="T15" fmla="*/ 1223 h 1224"/>
                <a:gd name="T16" fmla="*/ 233 w 1463"/>
                <a:gd name="T17" fmla="*/ 301 h 1224"/>
                <a:gd name="T18" fmla="*/ 1177 w 1463"/>
                <a:gd name="T19" fmla="*/ 248 h 1224"/>
                <a:gd name="T20" fmla="*/ 1144 w 1463"/>
                <a:gd name="T21" fmla="*/ 1224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63" h="1224">
                  <a:moveTo>
                    <a:pt x="1144" y="1224"/>
                  </a:moveTo>
                  <a:cubicBezTo>
                    <a:pt x="1139" y="1218"/>
                    <a:pt x="1135" y="1213"/>
                    <a:pt x="1130" y="1207"/>
                  </a:cubicBezTo>
                  <a:cubicBezTo>
                    <a:pt x="1297" y="1057"/>
                    <a:pt x="1378" y="871"/>
                    <a:pt x="1352" y="646"/>
                  </a:cubicBezTo>
                  <a:cubicBezTo>
                    <a:pt x="1334" y="481"/>
                    <a:pt x="1258" y="343"/>
                    <a:pt x="1129" y="238"/>
                  </a:cubicBezTo>
                  <a:cubicBezTo>
                    <a:pt x="864" y="20"/>
                    <a:pt x="494" y="58"/>
                    <a:pt x="275" y="290"/>
                  </a:cubicBezTo>
                  <a:cubicBezTo>
                    <a:pt x="152" y="422"/>
                    <a:pt x="93" y="579"/>
                    <a:pt x="104" y="760"/>
                  </a:cubicBezTo>
                  <a:cubicBezTo>
                    <a:pt x="115" y="940"/>
                    <a:pt x="194" y="1088"/>
                    <a:pt x="331" y="1206"/>
                  </a:cubicBezTo>
                  <a:cubicBezTo>
                    <a:pt x="326" y="1212"/>
                    <a:pt x="321" y="1218"/>
                    <a:pt x="316" y="1223"/>
                  </a:cubicBezTo>
                  <a:cubicBezTo>
                    <a:pt x="32" y="988"/>
                    <a:pt x="0" y="575"/>
                    <a:pt x="233" y="301"/>
                  </a:cubicBezTo>
                  <a:cubicBezTo>
                    <a:pt x="491" y="0"/>
                    <a:pt x="922" y="5"/>
                    <a:pt x="1177" y="248"/>
                  </a:cubicBezTo>
                  <a:cubicBezTo>
                    <a:pt x="1463" y="521"/>
                    <a:pt x="1447" y="970"/>
                    <a:pt x="1144" y="12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7" name="Freeform 80"/>
            <p:cNvSpPr/>
            <p:nvPr/>
          </p:nvSpPr>
          <p:spPr bwMode="auto">
            <a:xfrm>
              <a:off x="9645424" y="914400"/>
              <a:ext cx="998538" cy="1724025"/>
            </a:xfrm>
            <a:custGeom>
              <a:avLst/>
              <a:gdLst>
                <a:gd name="T0" fmla="*/ 99 w 316"/>
                <a:gd name="T1" fmla="*/ 206 h 546"/>
                <a:gd name="T2" fmla="*/ 99 w 316"/>
                <a:gd name="T3" fmla="*/ 151 h 546"/>
                <a:gd name="T4" fmla="*/ 90 w 316"/>
                <a:gd name="T5" fmla="*/ 134 h 546"/>
                <a:gd name="T6" fmla="*/ 64 w 316"/>
                <a:gd name="T7" fmla="*/ 104 h 546"/>
                <a:gd name="T8" fmla="*/ 69 w 316"/>
                <a:gd name="T9" fmla="*/ 62 h 546"/>
                <a:gd name="T10" fmla="*/ 81 w 316"/>
                <a:gd name="T11" fmla="*/ 54 h 546"/>
                <a:gd name="T12" fmla="*/ 102 w 316"/>
                <a:gd name="T13" fmla="*/ 20 h 546"/>
                <a:gd name="T14" fmla="*/ 112 w 316"/>
                <a:gd name="T15" fmla="*/ 0 h 546"/>
                <a:gd name="T16" fmla="*/ 132 w 316"/>
                <a:gd name="T17" fmla="*/ 17 h 546"/>
                <a:gd name="T18" fmla="*/ 133 w 316"/>
                <a:gd name="T19" fmla="*/ 48 h 546"/>
                <a:gd name="T20" fmla="*/ 149 w 316"/>
                <a:gd name="T21" fmla="*/ 100 h 546"/>
                <a:gd name="T22" fmla="*/ 144 w 316"/>
                <a:gd name="T23" fmla="*/ 76 h 546"/>
                <a:gd name="T24" fmla="*/ 149 w 316"/>
                <a:gd name="T25" fmla="*/ 44 h 546"/>
                <a:gd name="T26" fmla="*/ 193 w 316"/>
                <a:gd name="T27" fmla="*/ 23 h 546"/>
                <a:gd name="T28" fmla="*/ 207 w 316"/>
                <a:gd name="T29" fmla="*/ 46 h 546"/>
                <a:gd name="T30" fmla="*/ 221 w 316"/>
                <a:gd name="T31" fmla="*/ 70 h 546"/>
                <a:gd name="T32" fmla="*/ 281 w 316"/>
                <a:gd name="T33" fmla="*/ 109 h 546"/>
                <a:gd name="T34" fmla="*/ 315 w 316"/>
                <a:gd name="T35" fmla="*/ 176 h 546"/>
                <a:gd name="T36" fmla="*/ 308 w 316"/>
                <a:gd name="T37" fmla="*/ 190 h 546"/>
                <a:gd name="T38" fmla="*/ 293 w 316"/>
                <a:gd name="T39" fmla="*/ 186 h 546"/>
                <a:gd name="T40" fmla="*/ 193 w 316"/>
                <a:gd name="T41" fmla="*/ 122 h 546"/>
                <a:gd name="T42" fmla="*/ 224 w 316"/>
                <a:gd name="T43" fmla="*/ 182 h 546"/>
                <a:gd name="T44" fmla="*/ 201 w 316"/>
                <a:gd name="T45" fmla="*/ 221 h 546"/>
                <a:gd name="T46" fmla="*/ 188 w 316"/>
                <a:gd name="T47" fmla="*/ 215 h 546"/>
                <a:gd name="T48" fmla="*/ 122 w 316"/>
                <a:gd name="T49" fmla="*/ 165 h 546"/>
                <a:gd name="T50" fmla="*/ 132 w 316"/>
                <a:gd name="T51" fmla="*/ 211 h 546"/>
                <a:gd name="T52" fmla="*/ 178 w 316"/>
                <a:gd name="T53" fmla="*/ 295 h 546"/>
                <a:gd name="T54" fmla="*/ 199 w 316"/>
                <a:gd name="T55" fmla="*/ 345 h 546"/>
                <a:gd name="T56" fmla="*/ 192 w 316"/>
                <a:gd name="T57" fmla="*/ 363 h 546"/>
                <a:gd name="T58" fmla="*/ 179 w 316"/>
                <a:gd name="T59" fmla="*/ 352 h 546"/>
                <a:gd name="T60" fmla="*/ 150 w 316"/>
                <a:gd name="T61" fmla="*/ 317 h 546"/>
                <a:gd name="T62" fmla="*/ 145 w 316"/>
                <a:gd name="T63" fmla="*/ 319 h 546"/>
                <a:gd name="T64" fmla="*/ 140 w 316"/>
                <a:gd name="T65" fmla="*/ 362 h 546"/>
                <a:gd name="T66" fmla="*/ 108 w 316"/>
                <a:gd name="T67" fmla="*/ 393 h 546"/>
                <a:gd name="T68" fmla="*/ 192 w 316"/>
                <a:gd name="T69" fmla="*/ 502 h 546"/>
                <a:gd name="T70" fmla="*/ 201 w 316"/>
                <a:gd name="T71" fmla="*/ 525 h 546"/>
                <a:gd name="T72" fmla="*/ 178 w 316"/>
                <a:gd name="T73" fmla="*/ 539 h 546"/>
                <a:gd name="T74" fmla="*/ 117 w 316"/>
                <a:gd name="T75" fmla="*/ 491 h 546"/>
                <a:gd name="T76" fmla="*/ 72 w 316"/>
                <a:gd name="T77" fmla="*/ 376 h 546"/>
                <a:gd name="T78" fmla="*/ 64 w 316"/>
                <a:gd name="T79" fmla="*/ 350 h 546"/>
                <a:gd name="T80" fmla="*/ 91 w 316"/>
                <a:gd name="T81" fmla="*/ 365 h 546"/>
                <a:gd name="T82" fmla="*/ 74 w 316"/>
                <a:gd name="T83" fmla="*/ 261 h 546"/>
                <a:gd name="T84" fmla="*/ 59 w 316"/>
                <a:gd name="T85" fmla="*/ 289 h 546"/>
                <a:gd name="T86" fmla="*/ 46 w 316"/>
                <a:gd name="T87" fmla="*/ 295 h 546"/>
                <a:gd name="T88" fmla="*/ 41 w 316"/>
                <a:gd name="T89" fmla="*/ 282 h 546"/>
                <a:gd name="T90" fmla="*/ 9 w 316"/>
                <a:gd name="T91" fmla="*/ 207 h 546"/>
                <a:gd name="T92" fmla="*/ 1 w 316"/>
                <a:gd name="T93" fmla="*/ 189 h 546"/>
                <a:gd name="T94" fmla="*/ 15 w 316"/>
                <a:gd name="T95" fmla="*/ 176 h 546"/>
                <a:gd name="T96" fmla="*/ 41 w 316"/>
                <a:gd name="T97" fmla="*/ 172 h 546"/>
                <a:gd name="T98" fmla="*/ 70 w 316"/>
                <a:gd name="T99" fmla="*/ 170 h 546"/>
                <a:gd name="T100" fmla="*/ 99 w 316"/>
                <a:gd name="T101" fmla="*/ 20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6" h="546">
                  <a:moveTo>
                    <a:pt x="99" y="206"/>
                  </a:moveTo>
                  <a:cubicBezTo>
                    <a:pt x="99" y="187"/>
                    <a:pt x="100" y="169"/>
                    <a:pt x="99" y="151"/>
                  </a:cubicBezTo>
                  <a:cubicBezTo>
                    <a:pt x="98" y="145"/>
                    <a:pt x="94" y="139"/>
                    <a:pt x="90" y="134"/>
                  </a:cubicBezTo>
                  <a:cubicBezTo>
                    <a:pt x="82" y="124"/>
                    <a:pt x="72" y="115"/>
                    <a:pt x="64" y="104"/>
                  </a:cubicBezTo>
                  <a:cubicBezTo>
                    <a:pt x="48" y="86"/>
                    <a:pt x="50" y="76"/>
                    <a:pt x="69" y="62"/>
                  </a:cubicBezTo>
                  <a:cubicBezTo>
                    <a:pt x="73" y="59"/>
                    <a:pt x="77" y="56"/>
                    <a:pt x="81" y="54"/>
                  </a:cubicBezTo>
                  <a:cubicBezTo>
                    <a:pt x="98" y="49"/>
                    <a:pt x="102" y="37"/>
                    <a:pt x="102" y="20"/>
                  </a:cubicBezTo>
                  <a:cubicBezTo>
                    <a:pt x="102" y="14"/>
                    <a:pt x="108" y="7"/>
                    <a:pt x="112" y="0"/>
                  </a:cubicBezTo>
                  <a:cubicBezTo>
                    <a:pt x="119" y="5"/>
                    <a:pt x="129" y="10"/>
                    <a:pt x="132" y="17"/>
                  </a:cubicBezTo>
                  <a:cubicBezTo>
                    <a:pt x="136" y="26"/>
                    <a:pt x="133" y="38"/>
                    <a:pt x="133" y="48"/>
                  </a:cubicBezTo>
                  <a:cubicBezTo>
                    <a:pt x="132" y="65"/>
                    <a:pt x="125" y="84"/>
                    <a:pt x="149" y="100"/>
                  </a:cubicBezTo>
                  <a:cubicBezTo>
                    <a:pt x="147" y="89"/>
                    <a:pt x="147" y="82"/>
                    <a:pt x="144" y="76"/>
                  </a:cubicBezTo>
                  <a:cubicBezTo>
                    <a:pt x="136" y="64"/>
                    <a:pt x="140" y="53"/>
                    <a:pt x="149" y="44"/>
                  </a:cubicBezTo>
                  <a:cubicBezTo>
                    <a:pt x="162" y="33"/>
                    <a:pt x="174" y="17"/>
                    <a:pt x="193" y="23"/>
                  </a:cubicBezTo>
                  <a:cubicBezTo>
                    <a:pt x="200" y="25"/>
                    <a:pt x="203" y="38"/>
                    <a:pt x="207" y="46"/>
                  </a:cubicBezTo>
                  <a:cubicBezTo>
                    <a:pt x="212" y="54"/>
                    <a:pt x="214" y="65"/>
                    <a:pt x="221" y="70"/>
                  </a:cubicBezTo>
                  <a:cubicBezTo>
                    <a:pt x="240" y="84"/>
                    <a:pt x="261" y="96"/>
                    <a:pt x="281" y="109"/>
                  </a:cubicBezTo>
                  <a:cubicBezTo>
                    <a:pt x="306" y="124"/>
                    <a:pt x="311" y="150"/>
                    <a:pt x="315" y="176"/>
                  </a:cubicBezTo>
                  <a:cubicBezTo>
                    <a:pt x="316" y="180"/>
                    <a:pt x="312" y="188"/>
                    <a:pt x="308" y="190"/>
                  </a:cubicBezTo>
                  <a:cubicBezTo>
                    <a:pt x="304" y="192"/>
                    <a:pt x="297" y="189"/>
                    <a:pt x="293" y="186"/>
                  </a:cubicBezTo>
                  <a:cubicBezTo>
                    <a:pt x="260" y="166"/>
                    <a:pt x="227" y="144"/>
                    <a:pt x="193" y="122"/>
                  </a:cubicBezTo>
                  <a:cubicBezTo>
                    <a:pt x="204" y="143"/>
                    <a:pt x="215" y="162"/>
                    <a:pt x="224" y="182"/>
                  </a:cubicBezTo>
                  <a:cubicBezTo>
                    <a:pt x="233" y="202"/>
                    <a:pt x="222" y="219"/>
                    <a:pt x="201" y="221"/>
                  </a:cubicBezTo>
                  <a:cubicBezTo>
                    <a:pt x="196" y="221"/>
                    <a:pt x="189" y="218"/>
                    <a:pt x="188" y="215"/>
                  </a:cubicBezTo>
                  <a:cubicBezTo>
                    <a:pt x="177" y="185"/>
                    <a:pt x="149" y="178"/>
                    <a:pt x="122" y="165"/>
                  </a:cubicBezTo>
                  <a:cubicBezTo>
                    <a:pt x="125" y="180"/>
                    <a:pt x="130" y="195"/>
                    <a:pt x="132" y="211"/>
                  </a:cubicBezTo>
                  <a:cubicBezTo>
                    <a:pt x="137" y="245"/>
                    <a:pt x="153" y="271"/>
                    <a:pt x="178" y="295"/>
                  </a:cubicBezTo>
                  <a:cubicBezTo>
                    <a:pt x="190" y="308"/>
                    <a:pt x="194" y="328"/>
                    <a:pt x="199" y="345"/>
                  </a:cubicBezTo>
                  <a:cubicBezTo>
                    <a:pt x="201" y="350"/>
                    <a:pt x="195" y="357"/>
                    <a:pt x="192" y="363"/>
                  </a:cubicBezTo>
                  <a:cubicBezTo>
                    <a:pt x="187" y="360"/>
                    <a:pt x="182" y="357"/>
                    <a:pt x="179" y="352"/>
                  </a:cubicBezTo>
                  <a:cubicBezTo>
                    <a:pt x="169" y="341"/>
                    <a:pt x="160" y="329"/>
                    <a:pt x="150" y="317"/>
                  </a:cubicBezTo>
                  <a:cubicBezTo>
                    <a:pt x="149" y="318"/>
                    <a:pt x="147" y="318"/>
                    <a:pt x="145" y="319"/>
                  </a:cubicBezTo>
                  <a:cubicBezTo>
                    <a:pt x="144" y="333"/>
                    <a:pt x="146" y="350"/>
                    <a:pt x="140" y="362"/>
                  </a:cubicBezTo>
                  <a:cubicBezTo>
                    <a:pt x="134" y="374"/>
                    <a:pt x="120" y="382"/>
                    <a:pt x="108" y="393"/>
                  </a:cubicBezTo>
                  <a:cubicBezTo>
                    <a:pt x="134" y="426"/>
                    <a:pt x="163" y="464"/>
                    <a:pt x="192" y="502"/>
                  </a:cubicBezTo>
                  <a:cubicBezTo>
                    <a:pt x="197" y="508"/>
                    <a:pt x="204" y="520"/>
                    <a:pt x="201" y="525"/>
                  </a:cubicBezTo>
                  <a:cubicBezTo>
                    <a:pt x="198" y="532"/>
                    <a:pt x="187" y="537"/>
                    <a:pt x="178" y="539"/>
                  </a:cubicBezTo>
                  <a:cubicBezTo>
                    <a:pt x="147" y="546"/>
                    <a:pt x="130" y="530"/>
                    <a:pt x="117" y="491"/>
                  </a:cubicBezTo>
                  <a:cubicBezTo>
                    <a:pt x="103" y="452"/>
                    <a:pt x="87" y="415"/>
                    <a:pt x="72" y="376"/>
                  </a:cubicBezTo>
                  <a:cubicBezTo>
                    <a:pt x="69" y="370"/>
                    <a:pt x="68" y="363"/>
                    <a:pt x="64" y="350"/>
                  </a:cubicBezTo>
                  <a:cubicBezTo>
                    <a:pt x="77" y="357"/>
                    <a:pt x="84" y="361"/>
                    <a:pt x="91" y="365"/>
                  </a:cubicBezTo>
                  <a:cubicBezTo>
                    <a:pt x="109" y="344"/>
                    <a:pt x="98" y="275"/>
                    <a:pt x="74" y="261"/>
                  </a:cubicBezTo>
                  <a:cubicBezTo>
                    <a:pt x="69" y="271"/>
                    <a:pt x="65" y="280"/>
                    <a:pt x="59" y="289"/>
                  </a:cubicBezTo>
                  <a:cubicBezTo>
                    <a:pt x="57" y="292"/>
                    <a:pt x="50" y="293"/>
                    <a:pt x="46" y="295"/>
                  </a:cubicBezTo>
                  <a:cubicBezTo>
                    <a:pt x="44" y="291"/>
                    <a:pt x="41" y="286"/>
                    <a:pt x="41" y="282"/>
                  </a:cubicBezTo>
                  <a:cubicBezTo>
                    <a:pt x="46" y="250"/>
                    <a:pt x="39" y="224"/>
                    <a:pt x="9" y="207"/>
                  </a:cubicBezTo>
                  <a:cubicBezTo>
                    <a:pt x="4" y="204"/>
                    <a:pt x="0" y="194"/>
                    <a:pt x="1" y="189"/>
                  </a:cubicBezTo>
                  <a:cubicBezTo>
                    <a:pt x="2" y="184"/>
                    <a:pt x="9" y="178"/>
                    <a:pt x="15" y="176"/>
                  </a:cubicBezTo>
                  <a:cubicBezTo>
                    <a:pt x="23" y="173"/>
                    <a:pt x="32" y="173"/>
                    <a:pt x="41" y="172"/>
                  </a:cubicBezTo>
                  <a:cubicBezTo>
                    <a:pt x="49" y="171"/>
                    <a:pt x="56" y="171"/>
                    <a:pt x="70" y="170"/>
                  </a:cubicBezTo>
                  <a:cubicBezTo>
                    <a:pt x="80" y="176"/>
                    <a:pt x="76" y="204"/>
                    <a:pt x="99" y="2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8" name="Freeform 81"/>
            <p:cNvSpPr/>
            <p:nvPr/>
          </p:nvSpPr>
          <p:spPr bwMode="auto">
            <a:xfrm>
              <a:off x="13196661" y="-7938"/>
              <a:ext cx="1047750" cy="858838"/>
            </a:xfrm>
            <a:custGeom>
              <a:avLst/>
              <a:gdLst>
                <a:gd name="T0" fmla="*/ 36 w 332"/>
                <a:gd name="T1" fmla="*/ 247 h 272"/>
                <a:gd name="T2" fmla="*/ 149 w 332"/>
                <a:gd name="T3" fmla="*/ 203 h 272"/>
                <a:gd name="T4" fmla="*/ 78 w 332"/>
                <a:gd name="T5" fmla="*/ 204 h 272"/>
                <a:gd name="T6" fmla="*/ 3 w 332"/>
                <a:gd name="T7" fmla="*/ 159 h 272"/>
                <a:gd name="T8" fmla="*/ 3 w 332"/>
                <a:gd name="T9" fmla="*/ 137 h 272"/>
                <a:gd name="T10" fmla="*/ 22 w 332"/>
                <a:gd name="T11" fmla="*/ 132 h 272"/>
                <a:gd name="T12" fmla="*/ 153 w 332"/>
                <a:gd name="T13" fmla="*/ 148 h 272"/>
                <a:gd name="T14" fmla="*/ 214 w 332"/>
                <a:gd name="T15" fmla="*/ 109 h 272"/>
                <a:gd name="T16" fmla="*/ 249 w 332"/>
                <a:gd name="T17" fmla="*/ 22 h 272"/>
                <a:gd name="T18" fmla="*/ 269 w 332"/>
                <a:gd name="T19" fmla="*/ 1 h 272"/>
                <a:gd name="T20" fmla="*/ 293 w 332"/>
                <a:gd name="T21" fmla="*/ 18 h 272"/>
                <a:gd name="T22" fmla="*/ 308 w 332"/>
                <a:gd name="T23" fmla="*/ 48 h 272"/>
                <a:gd name="T24" fmla="*/ 298 w 332"/>
                <a:gd name="T25" fmla="*/ 83 h 272"/>
                <a:gd name="T26" fmla="*/ 255 w 332"/>
                <a:gd name="T27" fmla="*/ 151 h 272"/>
                <a:gd name="T28" fmla="*/ 307 w 332"/>
                <a:gd name="T29" fmla="*/ 147 h 272"/>
                <a:gd name="T30" fmla="*/ 331 w 332"/>
                <a:gd name="T31" fmla="*/ 159 h 272"/>
                <a:gd name="T32" fmla="*/ 309 w 332"/>
                <a:gd name="T33" fmla="*/ 182 h 272"/>
                <a:gd name="T34" fmla="*/ 253 w 332"/>
                <a:gd name="T35" fmla="*/ 184 h 272"/>
                <a:gd name="T36" fmla="*/ 229 w 332"/>
                <a:gd name="T37" fmla="*/ 194 h 272"/>
                <a:gd name="T38" fmla="*/ 36 w 332"/>
                <a:gd name="T39" fmla="*/ 247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2" h="272">
                  <a:moveTo>
                    <a:pt x="36" y="247"/>
                  </a:moveTo>
                  <a:cubicBezTo>
                    <a:pt x="76" y="230"/>
                    <a:pt x="119" y="237"/>
                    <a:pt x="149" y="203"/>
                  </a:cubicBezTo>
                  <a:cubicBezTo>
                    <a:pt x="124" y="203"/>
                    <a:pt x="101" y="202"/>
                    <a:pt x="78" y="204"/>
                  </a:cubicBezTo>
                  <a:cubicBezTo>
                    <a:pt x="41" y="207"/>
                    <a:pt x="19" y="188"/>
                    <a:pt x="3" y="159"/>
                  </a:cubicBezTo>
                  <a:cubicBezTo>
                    <a:pt x="0" y="153"/>
                    <a:pt x="0" y="142"/>
                    <a:pt x="3" y="137"/>
                  </a:cubicBezTo>
                  <a:cubicBezTo>
                    <a:pt x="5" y="133"/>
                    <a:pt x="17" y="129"/>
                    <a:pt x="22" y="132"/>
                  </a:cubicBezTo>
                  <a:cubicBezTo>
                    <a:pt x="64" y="152"/>
                    <a:pt x="109" y="144"/>
                    <a:pt x="153" y="148"/>
                  </a:cubicBezTo>
                  <a:cubicBezTo>
                    <a:pt x="186" y="151"/>
                    <a:pt x="203" y="139"/>
                    <a:pt x="214" y="109"/>
                  </a:cubicBezTo>
                  <a:cubicBezTo>
                    <a:pt x="223" y="79"/>
                    <a:pt x="236" y="50"/>
                    <a:pt x="249" y="22"/>
                  </a:cubicBezTo>
                  <a:cubicBezTo>
                    <a:pt x="253" y="13"/>
                    <a:pt x="262" y="2"/>
                    <a:pt x="269" y="1"/>
                  </a:cubicBezTo>
                  <a:cubicBezTo>
                    <a:pt x="277" y="0"/>
                    <a:pt x="287" y="10"/>
                    <a:pt x="293" y="18"/>
                  </a:cubicBezTo>
                  <a:cubicBezTo>
                    <a:pt x="300" y="27"/>
                    <a:pt x="303" y="38"/>
                    <a:pt x="308" y="48"/>
                  </a:cubicBezTo>
                  <a:cubicBezTo>
                    <a:pt x="315" y="63"/>
                    <a:pt x="313" y="73"/>
                    <a:pt x="298" y="83"/>
                  </a:cubicBezTo>
                  <a:cubicBezTo>
                    <a:pt x="275" y="98"/>
                    <a:pt x="266" y="123"/>
                    <a:pt x="255" y="151"/>
                  </a:cubicBezTo>
                  <a:cubicBezTo>
                    <a:pt x="275" y="150"/>
                    <a:pt x="291" y="148"/>
                    <a:pt x="307" y="147"/>
                  </a:cubicBezTo>
                  <a:cubicBezTo>
                    <a:pt x="316" y="147"/>
                    <a:pt x="330" y="144"/>
                    <a:pt x="331" y="159"/>
                  </a:cubicBezTo>
                  <a:cubicBezTo>
                    <a:pt x="332" y="173"/>
                    <a:pt x="322" y="181"/>
                    <a:pt x="309" y="182"/>
                  </a:cubicBezTo>
                  <a:cubicBezTo>
                    <a:pt x="290" y="184"/>
                    <a:pt x="271" y="183"/>
                    <a:pt x="253" y="184"/>
                  </a:cubicBezTo>
                  <a:cubicBezTo>
                    <a:pt x="245" y="185"/>
                    <a:pt x="234" y="188"/>
                    <a:pt x="229" y="194"/>
                  </a:cubicBezTo>
                  <a:cubicBezTo>
                    <a:pt x="170" y="259"/>
                    <a:pt x="127" y="272"/>
                    <a:pt x="36" y="2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9" name="Freeform 82"/>
            <p:cNvSpPr/>
            <p:nvPr/>
          </p:nvSpPr>
          <p:spPr bwMode="auto">
            <a:xfrm>
              <a:off x="10912249" y="5257800"/>
              <a:ext cx="663575" cy="809625"/>
            </a:xfrm>
            <a:custGeom>
              <a:avLst/>
              <a:gdLst>
                <a:gd name="T0" fmla="*/ 30 w 210"/>
                <a:gd name="T1" fmla="*/ 218 h 256"/>
                <a:gd name="T2" fmla="*/ 0 w 210"/>
                <a:gd name="T3" fmla="*/ 204 h 256"/>
                <a:gd name="T4" fmla="*/ 103 w 210"/>
                <a:gd name="T5" fmla="*/ 0 h 256"/>
                <a:gd name="T6" fmla="*/ 129 w 210"/>
                <a:gd name="T7" fmla="*/ 38 h 256"/>
                <a:gd name="T8" fmla="*/ 123 w 210"/>
                <a:gd name="T9" fmla="*/ 153 h 256"/>
                <a:gd name="T10" fmla="*/ 185 w 210"/>
                <a:gd name="T11" fmla="*/ 38 h 256"/>
                <a:gd name="T12" fmla="*/ 210 w 210"/>
                <a:gd name="T13" fmla="*/ 48 h 256"/>
                <a:gd name="T14" fmla="*/ 109 w 210"/>
                <a:gd name="T15" fmla="*/ 256 h 256"/>
                <a:gd name="T16" fmla="*/ 80 w 210"/>
                <a:gd name="T17" fmla="*/ 216 h 256"/>
                <a:gd name="T18" fmla="*/ 90 w 210"/>
                <a:gd name="T19" fmla="*/ 94 h 256"/>
                <a:gd name="T20" fmla="*/ 30 w 210"/>
                <a:gd name="T21" fmla="*/ 21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0" h="256">
                  <a:moveTo>
                    <a:pt x="30" y="218"/>
                  </a:moveTo>
                  <a:cubicBezTo>
                    <a:pt x="20" y="214"/>
                    <a:pt x="11" y="210"/>
                    <a:pt x="0" y="204"/>
                  </a:cubicBezTo>
                  <a:cubicBezTo>
                    <a:pt x="35" y="135"/>
                    <a:pt x="69" y="67"/>
                    <a:pt x="103" y="0"/>
                  </a:cubicBezTo>
                  <a:cubicBezTo>
                    <a:pt x="127" y="4"/>
                    <a:pt x="132" y="16"/>
                    <a:pt x="129" y="38"/>
                  </a:cubicBezTo>
                  <a:cubicBezTo>
                    <a:pt x="124" y="76"/>
                    <a:pt x="122" y="113"/>
                    <a:pt x="123" y="153"/>
                  </a:cubicBezTo>
                  <a:cubicBezTo>
                    <a:pt x="143" y="115"/>
                    <a:pt x="164" y="78"/>
                    <a:pt x="185" y="38"/>
                  </a:cubicBezTo>
                  <a:cubicBezTo>
                    <a:pt x="193" y="41"/>
                    <a:pt x="201" y="44"/>
                    <a:pt x="210" y="48"/>
                  </a:cubicBezTo>
                  <a:cubicBezTo>
                    <a:pt x="176" y="118"/>
                    <a:pt x="142" y="187"/>
                    <a:pt x="109" y="256"/>
                  </a:cubicBezTo>
                  <a:cubicBezTo>
                    <a:pt x="77" y="246"/>
                    <a:pt x="77" y="246"/>
                    <a:pt x="80" y="216"/>
                  </a:cubicBezTo>
                  <a:cubicBezTo>
                    <a:pt x="84" y="176"/>
                    <a:pt x="89" y="136"/>
                    <a:pt x="90" y="94"/>
                  </a:cubicBezTo>
                  <a:cubicBezTo>
                    <a:pt x="70" y="135"/>
                    <a:pt x="50" y="176"/>
                    <a:pt x="30" y="2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0" name="Freeform 83"/>
            <p:cNvSpPr/>
            <p:nvPr/>
          </p:nvSpPr>
          <p:spPr bwMode="auto">
            <a:xfrm>
              <a:off x="12772799" y="5489575"/>
              <a:ext cx="433388" cy="757238"/>
            </a:xfrm>
            <a:custGeom>
              <a:avLst/>
              <a:gdLst>
                <a:gd name="T0" fmla="*/ 137 w 137"/>
                <a:gd name="T1" fmla="*/ 221 h 240"/>
                <a:gd name="T2" fmla="*/ 112 w 137"/>
                <a:gd name="T3" fmla="*/ 226 h 240"/>
                <a:gd name="T4" fmla="*/ 38 w 137"/>
                <a:gd name="T5" fmla="*/ 85 h 240"/>
                <a:gd name="T6" fmla="*/ 35 w 137"/>
                <a:gd name="T7" fmla="*/ 86 h 240"/>
                <a:gd name="T8" fmla="*/ 46 w 137"/>
                <a:gd name="T9" fmla="*/ 237 h 240"/>
                <a:gd name="T10" fmla="*/ 17 w 137"/>
                <a:gd name="T11" fmla="*/ 240 h 240"/>
                <a:gd name="T12" fmla="*/ 0 w 137"/>
                <a:gd name="T13" fmla="*/ 17 h 240"/>
                <a:gd name="T14" fmla="*/ 49 w 137"/>
                <a:gd name="T15" fmla="*/ 37 h 240"/>
                <a:gd name="T16" fmla="*/ 95 w 137"/>
                <a:gd name="T17" fmla="*/ 105 h 240"/>
                <a:gd name="T18" fmla="*/ 86 w 137"/>
                <a:gd name="T19" fmla="*/ 5 h 240"/>
                <a:gd name="T20" fmla="*/ 110 w 137"/>
                <a:gd name="T21" fmla="*/ 0 h 240"/>
                <a:gd name="T22" fmla="*/ 137 w 137"/>
                <a:gd name="T23" fmla="*/ 221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7" h="240">
                  <a:moveTo>
                    <a:pt x="137" y="221"/>
                  </a:moveTo>
                  <a:cubicBezTo>
                    <a:pt x="127" y="223"/>
                    <a:pt x="120" y="224"/>
                    <a:pt x="112" y="226"/>
                  </a:cubicBezTo>
                  <a:cubicBezTo>
                    <a:pt x="87" y="179"/>
                    <a:pt x="63" y="132"/>
                    <a:pt x="38" y="85"/>
                  </a:cubicBezTo>
                  <a:cubicBezTo>
                    <a:pt x="37" y="85"/>
                    <a:pt x="36" y="86"/>
                    <a:pt x="35" y="86"/>
                  </a:cubicBezTo>
                  <a:cubicBezTo>
                    <a:pt x="39" y="136"/>
                    <a:pt x="42" y="185"/>
                    <a:pt x="46" y="237"/>
                  </a:cubicBezTo>
                  <a:cubicBezTo>
                    <a:pt x="36" y="238"/>
                    <a:pt x="28" y="238"/>
                    <a:pt x="17" y="240"/>
                  </a:cubicBezTo>
                  <a:cubicBezTo>
                    <a:pt x="11" y="164"/>
                    <a:pt x="5" y="91"/>
                    <a:pt x="0" y="17"/>
                  </a:cubicBezTo>
                  <a:cubicBezTo>
                    <a:pt x="33" y="10"/>
                    <a:pt x="33" y="10"/>
                    <a:pt x="49" y="37"/>
                  </a:cubicBezTo>
                  <a:cubicBezTo>
                    <a:pt x="63" y="60"/>
                    <a:pt x="77" y="83"/>
                    <a:pt x="95" y="105"/>
                  </a:cubicBezTo>
                  <a:cubicBezTo>
                    <a:pt x="92" y="72"/>
                    <a:pt x="89" y="39"/>
                    <a:pt x="86" y="5"/>
                  </a:cubicBezTo>
                  <a:cubicBezTo>
                    <a:pt x="94" y="3"/>
                    <a:pt x="101" y="2"/>
                    <a:pt x="110" y="0"/>
                  </a:cubicBezTo>
                  <a:cubicBezTo>
                    <a:pt x="119" y="73"/>
                    <a:pt x="128" y="146"/>
                    <a:pt x="137" y="2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1" name="Freeform 84"/>
            <p:cNvSpPr>
              <a:spLocks noEditPoints="1"/>
            </p:cNvSpPr>
            <p:nvPr/>
          </p:nvSpPr>
          <p:spPr bwMode="auto">
            <a:xfrm>
              <a:off x="14103124" y="4878387"/>
              <a:ext cx="720725" cy="762000"/>
            </a:xfrm>
            <a:custGeom>
              <a:avLst/>
              <a:gdLst>
                <a:gd name="T0" fmla="*/ 124 w 228"/>
                <a:gd name="T1" fmla="*/ 122 h 241"/>
                <a:gd name="T2" fmla="*/ 104 w 228"/>
                <a:gd name="T3" fmla="*/ 142 h 241"/>
                <a:gd name="T4" fmla="*/ 158 w 228"/>
                <a:gd name="T5" fmla="*/ 216 h 241"/>
                <a:gd name="T6" fmla="*/ 135 w 228"/>
                <a:gd name="T7" fmla="*/ 241 h 241"/>
                <a:gd name="T8" fmla="*/ 0 w 228"/>
                <a:gd name="T9" fmla="*/ 51 h 241"/>
                <a:gd name="T10" fmla="*/ 49 w 228"/>
                <a:gd name="T11" fmla="*/ 16 h 241"/>
                <a:gd name="T12" fmla="*/ 122 w 228"/>
                <a:gd name="T13" fmla="*/ 15 h 241"/>
                <a:gd name="T14" fmla="*/ 148 w 228"/>
                <a:gd name="T15" fmla="*/ 87 h 241"/>
                <a:gd name="T16" fmla="*/ 159 w 228"/>
                <a:gd name="T17" fmla="*/ 115 h 241"/>
                <a:gd name="T18" fmla="*/ 228 w 228"/>
                <a:gd name="T19" fmla="*/ 169 h 241"/>
                <a:gd name="T20" fmla="*/ 186 w 228"/>
                <a:gd name="T21" fmla="*/ 174 h 241"/>
                <a:gd name="T22" fmla="*/ 124 w 228"/>
                <a:gd name="T23" fmla="*/ 122 h 241"/>
                <a:gd name="T24" fmla="*/ 85 w 228"/>
                <a:gd name="T25" fmla="*/ 113 h 241"/>
                <a:gd name="T26" fmla="*/ 117 w 228"/>
                <a:gd name="T27" fmla="*/ 72 h 241"/>
                <a:gd name="T28" fmla="*/ 90 w 228"/>
                <a:gd name="T29" fmla="*/ 39 h 241"/>
                <a:gd name="T30" fmla="*/ 41 w 228"/>
                <a:gd name="T31" fmla="*/ 55 h 241"/>
                <a:gd name="T32" fmla="*/ 85 w 228"/>
                <a:gd name="T33" fmla="*/ 113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241">
                  <a:moveTo>
                    <a:pt x="124" y="122"/>
                  </a:moveTo>
                  <a:cubicBezTo>
                    <a:pt x="116" y="129"/>
                    <a:pt x="111" y="135"/>
                    <a:pt x="104" y="142"/>
                  </a:cubicBezTo>
                  <a:cubicBezTo>
                    <a:pt x="122" y="167"/>
                    <a:pt x="140" y="191"/>
                    <a:pt x="158" y="216"/>
                  </a:cubicBezTo>
                  <a:cubicBezTo>
                    <a:pt x="150" y="225"/>
                    <a:pt x="143" y="232"/>
                    <a:pt x="135" y="241"/>
                  </a:cubicBezTo>
                  <a:cubicBezTo>
                    <a:pt x="90" y="177"/>
                    <a:pt x="46" y="115"/>
                    <a:pt x="0" y="51"/>
                  </a:cubicBezTo>
                  <a:cubicBezTo>
                    <a:pt x="17" y="39"/>
                    <a:pt x="33" y="27"/>
                    <a:pt x="49" y="16"/>
                  </a:cubicBezTo>
                  <a:cubicBezTo>
                    <a:pt x="73" y="1"/>
                    <a:pt x="97" y="0"/>
                    <a:pt x="122" y="15"/>
                  </a:cubicBezTo>
                  <a:cubicBezTo>
                    <a:pt x="150" y="33"/>
                    <a:pt x="153" y="60"/>
                    <a:pt x="148" y="87"/>
                  </a:cubicBezTo>
                  <a:cubicBezTo>
                    <a:pt x="145" y="101"/>
                    <a:pt x="150" y="107"/>
                    <a:pt x="159" y="115"/>
                  </a:cubicBezTo>
                  <a:cubicBezTo>
                    <a:pt x="183" y="132"/>
                    <a:pt x="205" y="151"/>
                    <a:pt x="228" y="169"/>
                  </a:cubicBezTo>
                  <a:cubicBezTo>
                    <a:pt x="208" y="191"/>
                    <a:pt x="208" y="191"/>
                    <a:pt x="186" y="174"/>
                  </a:cubicBezTo>
                  <a:cubicBezTo>
                    <a:pt x="166" y="157"/>
                    <a:pt x="145" y="140"/>
                    <a:pt x="124" y="122"/>
                  </a:cubicBezTo>
                  <a:close/>
                  <a:moveTo>
                    <a:pt x="85" y="113"/>
                  </a:moveTo>
                  <a:cubicBezTo>
                    <a:pt x="102" y="103"/>
                    <a:pt x="118" y="94"/>
                    <a:pt x="117" y="72"/>
                  </a:cubicBezTo>
                  <a:cubicBezTo>
                    <a:pt x="116" y="55"/>
                    <a:pt x="104" y="45"/>
                    <a:pt x="90" y="39"/>
                  </a:cubicBezTo>
                  <a:cubicBezTo>
                    <a:pt x="70" y="30"/>
                    <a:pt x="56" y="40"/>
                    <a:pt x="41" y="55"/>
                  </a:cubicBezTo>
                  <a:cubicBezTo>
                    <a:pt x="55" y="74"/>
                    <a:pt x="69" y="93"/>
                    <a:pt x="85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2" name="Freeform 85"/>
            <p:cNvSpPr/>
            <p:nvPr/>
          </p:nvSpPr>
          <p:spPr bwMode="auto">
            <a:xfrm>
              <a:off x="9386661" y="3990975"/>
              <a:ext cx="820738" cy="669925"/>
            </a:xfrm>
            <a:custGeom>
              <a:avLst/>
              <a:gdLst>
                <a:gd name="T0" fmla="*/ 108 w 260"/>
                <a:gd name="T1" fmla="*/ 81 h 212"/>
                <a:gd name="T2" fmla="*/ 12 w 260"/>
                <a:gd name="T3" fmla="*/ 129 h 212"/>
                <a:gd name="T4" fmla="*/ 0 w 260"/>
                <a:gd name="T5" fmla="*/ 106 h 212"/>
                <a:gd name="T6" fmla="*/ 204 w 260"/>
                <a:gd name="T7" fmla="*/ 0 h 212"/>
                <a:gd name="T8" fmla="*/ 217 w 260"/>
                <a:gd name="T9" fmla="*/ 24 h 212"/>
                <a:gd name="T10" fmla="*/ 131 w 260"/>
                <a:gd name="T11" fmla="*/ 69 h 212"/>
                <a:gd name="T12" fmla="*/ 161 w 260"/>
                <a:gd name="T13" fmla="*/ 126 h 212"/>
                <a:gd name="T14" fmla="*/ 247 w 260"/>
                <a:gd name="T15" fmla="*/ 84 h 212"/>
                <a:gd name="T16" fmla="*/ 260 w 260"/>
                <a:gd name="T17" fmla="*/ 107 h 212"/>
                <a:gd name="T18" fmla="*/ 55 w 260"/>
                <a:gd name="T19" fmla="*/ 212 h 212"/>
                <a:gd name="T20" fmla="*/ 42 w 260"/>
                <a:gd name="T21" fmla="*/ 189 h 212"/>
                <a:gd name="T22" fmla="*/ 138 w 260"/>
                <a:gd name="T23" fmla="*/ 139 h 212"/>
                <a:gd name="T24" fmla="*/ 108 w 260"/>
                <a:gd name="T25" fmla="*/ 81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0" h="212">
                  <a:moveTo>
                    <a:pt x="108" y="81"/>
                  </a:moveTo>
                  <a:cubicBezTo>
                    <a:pt x="75" y="97"/>
                    <a:pt x="44" y="113"/>
                    <a:pt x="12" y="129"/>
                  </a:cubicBezTo>
                  <a:cubicBezTo>
                    <a:pt x="8" y="121"/>
                    <a:pt x="4" y="114"/>
                    <a:pt x="0" y="106"/>
                  </a:cubicBezTo>
                  <a:cubicBezTo>
                    <a:pt x="68" y="70"/>
                    <a:pt x="135" y="36"/>
                    <a:pt x="204" y="0"/>
                  </a:cubicBezTo>
                  <a:cubicBezTo>
                    <a:pt x="208" y="9"/>
                    <a:pt x="212" y="16"/>
                    <a:pt x="217" y="24"/>
                  </a:cubicBezTo>
                  <a:cubicBezTo>
                    <a:pt x="188" y="39"/>
                    <a:pt x="160" y="54"/>
                    <a:pt x="131" y="69"/>
                  </a:cubicBezTo>
                  <a:cubicBezTo>
                    <a:pt x="141" y="88"/>
                    <a:pt x="151" y="106"/>
                    <a:pt x="161" y="126"/>
                  </a:cubicBezTo>
                  <a:cubicBezTo>
                    <a:pt x="190" y="112"/>
                    <a:pt x="217" y="99"/>
                    <a:pt x="247" y="84"/>
                  </a:cubicBezTo>
                  <a:cubicBezTo>
                    <a:pt x="251" y="91"/>
                    <a:pt x="255" y="99"/>
                    <a:pt x="260" y="107"/>
                  </a:cubicBezTo>
                  <a:cubicBezTo>
                    <a:pt x="191" y="142"/>
                    <a:pt x="124" y="177"/>
                    <a:pt x="55" y="212"/>
                  </a:cubicBezTo>
                  <a:cubicBezTo>
                    <a:pt x="51" y="205"/>
                    <a:pt x="47" y="198"/>
                    <a:pt x="42" y="189"/>
                  </a:cubicBezTo>
                  <a:cubicBezTo>
                    <a:pt x="74" y="172"/>
                    <a:pt x="105" y="156"/>
                    <a:pt x="138" y="139"/>
                  </a:cubicBezTo>
                  <a:cubicBezTo>
                    <a:pt x="127" y="119"/>
                    <a:pt x="118" y="101"/>
                    <a:pt x="108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3" name="Freeform 86"/>
            <p:cNvSpPr>
              <a:spLocks noEditPoints="1"/>
            </p:cNvSpPr>
            <p:nvPr/>
          </p:nvSpPr>
          <p:spPr bwMode="auto">
            <a:xfrm>
              <a:off x="10480449" y="5126037"/>
              <a:ext cx="615950" cy="741363"/>
            </a:xfrm>
            <a:custGeom>
              <a:avLst/>
              <a:gdLst>
                <a:gd name="T0" fmla="*/ 0 w 195"/>
                <a:gd name="T1" fmla="*/ 167 h 235"/>
                <a:gd name="T2" fmla="*/ 160 w 195"/>
                <a:gd name="T3" fmla="*/ 0 h 235"/>
                <a:gd name="T4" fmla="*/ 195 w 195"/>
                <a:gd name="T5" fmla="*/ 22 h 235"/>
                <a:gd name="T6" fmla="*/ 107 w 195"/>
                <a:gd name="T7" fmla="*/ 235 h 235"/>
                <a:gd name="T8" fmla="*/ 79 w 195"/>
                <a:gd name="T9" fmla="*/ 219 h 235"/>
                <a:gd name="T10" fmla="*/ 98 w 195"/>
                <a:gd name="T11" fmla="*/ 178 h 235"/>
                <a:gd name="T12" fmla="*/ 90 w 195"/>
                <a:gd name="T13" fmla="*/ 145 h 235"/>
                <a:gd name="T14" fmla="*/ 70 w 195"/>
                <a:gd name="T15" fmla="*/ 131 h 235"/>
                <a:gd name="T16" fmla="*/ 25 w 195"/>
                <a:gd name="T17" fmla="*/ 187 h 235"/>
                <a:gd name="T18" fmla="*/ 0 w 195"/>
                <a:gd name="T19" fmla="*/ 167 h 235"/>
                <a:gd name="T20" fmla="*/ 121 w 195"/>
                <a:gd name="T21" fmla="*/ 127 h 235"/>
                <a:gd name="T22" fmla="*/ 154 w 195"/>
                <a:gd name="T23" fmla="*/ 50 h 235"/>
                <a:gd name="T24" fmla="*/ 95 w 195"/>
                <a:gd name="T25" fmla="*/ 108 h 235"/>
                <a:gd name="T26" fmla="*/ 121 w 195"/>
                <a:gd name="T27" fmla="*/ 12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5" h="235">
                  <a:moveTo>
                    <a:pt x="0" y="167"/>
                  </a:moveTo>
                  <a:cubicBezTo>
                    <a:pt x="54" y="111"/>
                    <a:pt x="107" y="56"/>
                    <a:pt x="160" y="0"/>
                  </a:cubicBezTo>
                  <a:cubicBezTo>
                    <a:pt x="173" y="8"/>
                    <a:pt x="183" y="14"/>
                    <a:pt x="195" y="22"/>
                  </a:cubicBezTo>
                  <a:cubicBezTo>
                    <a:pt x="166" y="92"/>
                    <a:pt x="137" y="163"/>
                    <a:pt x="107" y="235"/>
                  </a:cubicBezTo>
                  <a:cubicBezTo>
                    <a:pt x="97" y="230"/>
                    <a:pt x="89" y="225"/>
                    <a:pt x="79" y="219"/>
                  </a:cubicBezTo>
                  <a:cubicBezTo>
                    <a:pt x="85" y="205"/>
                    <a:pt x="90" y="191"/>
                    <a:pt x="98" y="178"/>
                  </a:cubicBezTo>
                  <a:cubicBezTo>
                    <a:pt x="107" y="163"/>
                    <a:pt x="106" y="153"/>
                    <a:pt x="90" y="145"/>
                  </a:cubicBezTo>
                  <a:cubicBezTo>
                    <a:pt x="84" y="142"/>
                    <a:pt x="79" y="137"/>
                    <a:pt x="70" y="131"/>
                  </a:cubicBezTo>
                  <a:cubicBezTo>
                    <a:pt x="55" y="149"/>
                    <a:pt x="40" y="168"/>
                    <a:pt x="25" y="187"/>
                  </a:cubicBezTo>
                  <a:cubicBezTo>
                    <a:pt x="12" y="177"/>
                    <a:pt x="5" y="171"/>
                    <a:pt x="0" y="167"/>
                  </a:cubicBezTo>
                  <a:close/>
                  <a:moveTo>
                    <a:pt x="121" y="127"/>
                  </a:moveTo>
                  <a:cubicBezTo>
                    <a:pt x="132" y="100"/>
                    <a:pt x="143" y="76"/>
                    <a:pt x="154" y="50"/>
                  </a:cubicBezTo>
                  <a:cubicBezTo>
                    <a:pt x="133" y="71"/>
                    <a:pt x="115" y="89"/>
                    <a:pt x="95" y="108"/>
                  </a:cubicBezTo>
                  <a:cubicBezTo>
                    <a:pt x="103" y="114"/>
                    <a:pt x="111" y="119"/>
                    <a:pt x="121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4" name="Freeform 87"/>
            <p:cNvSpPr/>
            <p:nvPr/>
          </p:nvSpPr>
          <p:spPr bwMode="auto">
            <a:xfrm>
              <a:off x="11399611" y="5441950"/>
              <a:ext cx="520700" cy="785813"/>
            </a:xfrm>
            <a:custGeom>
              <a:avLst/>
              <a:gdLst>
                <a:gd name="T0" fmla="*/ 110 w 165"/>
                <a:gd name="T1" fmla="*/ 156 h 249"/>
                <a:gd name="T2" fmla="*/ 76 w 165"/>
                <a:gd name="T3" fmla="*/ 143 h 249"/>
                <a:gd name="T4" fmla="*/ 83 w 165"/>
                <a:gd name="T5" fmla="*/ 120 h 249"/>
                <a:gd name="T6" fmla="*/ 141 w 165"/>
                <a:gd name="T7" fmla="*/ 139 h 249"/>
                <a:gd name="T8" fmla="*/ 107 w 165"/>
                <a:gd name="T9" fmla="*/ 249 h 249"/>
                <a:gd name="T10" fmla="*/ 83 w 165"/>
                <a:gd name="T11" fmla="*/ 227 h 249"/>
                <a:gd name="T12" fmla="*/ 11 w 165"/>
                <a:gd name="T13" fmla="*/ 147 h 249"/>
                <a:gd name="T14" fmla="*/ 47 w 165"/>
                <a:gd name="T15" fmla="*/ 47 h 249"/>
                <a:gd name="T16" fmla="*/ 93 w 165"/>
                <a:gd name="T17" fmla="*/ 12 h 249"/>
                <a:gd name="T18" fmla="*/ 162 w 165"/>
                <a:gd name="T19" fmla="*/ 55 h 249"/>
                <a:gd name="T20" fmla="*/ 165 w 165"/>
                <a:gd name="T21" fmla="*/ 93 h 249"/>
                <a:gd name="T22" fmla="*/ 134 w 165"/>
                <a:gd name="T23" fmla="*/ 90 h 249"/>
                <a:gd name="T24" fmla="*/ 134 w 165"/>
                <a:gd name="T25" fmla="*/ 69 h 249"/>
                <a:gd name="T26" fmla="*/ 115 w 165"/>
                <a:gd name="T27" fmla="*/ 38 h 249"/>
                <a:gd name="T28" fmla="*/ 74 w 165"/>
                <a:gd name="T29" fmla="*/ 54 h 249"/>
                <a:gd name="T30" fmla="*/ 38 w 165"/>
                <a:gd name="T31" fmla="*/ 159 h 249"/>
                <a:gd name="T32" fmla="*/ 64 w 165"/>
                <a:gd name="T33" fmla="*/ 205 h 249"/>
                <a:gd name="T34" fmla="*/ 104 w 165"/>
                <a:gd name="T35" fmla="*/ 175 h 249"/>
                <a:gd name="T36" fmla="*/ 110 w 165"/>
                <a:gd name="T37" fmla="*/ 15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5" h="249">
                  <a:moveTo>
                    <a:pt x="110" y="156"/>
                  </a:moveTo>
                  <a:cubicBezTo>
                    <a:pt x="99" y="151"/>
                    <a:pt x="88" y="147"/>
                    <a:pt x="76" y="143"/>
                  </a:cubicBezTo>
                  <a:cubicBezTo>
                    <a:pt x="78" y="136"/>
                    <a:pt x="80" y="129"/>
                    <a:pt x="83" y="120"/>
                  </a:cubicBezTo>
                  <a:cubicBezTo>
                    <a:pt x="102" y="126"/>
                    <a:pt x="121" y="132"/>
                    <a:pt x="141" y="139"/>
                  </a:cubicBezTo>
                  <a:cubicBezTo>
                    <a:pt x="130" y="175"/>
                    <a:pt x="119" y="210"/>
                    <a:pt x="107" y="249"/>
                  </a:cubicBezTo>
                  <a:cubicBezTo>
                    <a:pt x="97" y="241"/>
                    <a:pt x="91" y="234"/>
                    <a:pt x="83" y="227"/>
                  </a:cubicBezTo>
                  <a:cubicBezTo>
                    <a:pt x="36" y="234"/>
                    <a:pt x="0" y="200"/>
                    <a:pt x="11" y="147"/>
                  </a:cubicBezTo>
                  <a:cubicBezTo>
                    <a:pt x="18" y="112"/>
                    <a:pt x="31" y="78"/>
                    <a:pt x="47" y="47"/>
                  </a:cubicBezTo>
                  <a:cubicBezTo>
                    <a:pt x="56" y="31"/>
                    <a:pt x="76" y="18"/>
                    <a:pt x="93" y="12"/>
                  </a:cubicBezTo>
                  <a:cubicBezTo>
                    <a:pt x="127" y="0"/>
                    <a:pt x="154" y="19"/>
                    <a:pt x="162" y="55"/>
                  </a:cubicBezTo>
                  <a:cubicBezTo>
                    <a:pt x="164" y="66"/>
                    <a:pt x="164" y="78"/>
                    <a:pt x="165" y="93"/>
                  </a:cubicBezTo>
                  <a:cubicBezTo>
                    <a:pt x="153" y="92"/>
                    <a:pt x="144" y="91"/>
                    <a:pt x="134" y="90"/>
                  </a:cubicBezTo>
                  <a:cubicBezTo>
                    <a:pt x="134" y="82"/>
                    <a:pt x="134" y="76"/>
                    <a:pt x="134" y="69"/>
                  </a:cubicBezTo>
                  <a:cubicBezTo>
                    <a:pt x="134" y="55"/>
                    <a:pt x="130" y="42"/>
                    <a:pt x="115" y="38"/>
                  </a:cubicBezTo>
                  <a:cubicBezTo>
                    <a:pt x="98" y="34"/>
                    <a:pt x="80" y="38"/>
                    <a:pt x="74" y="54"/>
                  </a:cubicBezTo>
                  <a:cubicBezTo>
                    <a:pt x="60" y="88"/>
                    <a:pt x="48" y="123"/>
                    <a:pt x="38" y="159"/>
                  </a:cubicBezTo>
                  <a:cubicBezTo>
                    <a:pt x="33" y="181"/>
                    <a:pt x="46" y="201"/>
                    <a:pt x="64" y="205"/>
                  </a:cubicBezTo>
                  <a:cubicBezTo>
                    <a:pt x="80" y="210"/>
                    <a:pt x="96" y="198"/>
                    <a:pt x="104" y="175"/>
                  </a:cubicBezTo>
                  <a:cubicBezTo>
                    <a:pt x="107" y="170"/>
                    <a:pt x="108" y="164"/>
                    <a:pt x="110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5" name="Freeform 88"/>
            <p:cNvSpPr/>
            <p:nvPr/>
          </p:nvSpPr>
          <p:spPr bwMode="auto">
            <a:xfrm>
              <a:off x="12312424" y="5551487"/>
              <a:ext cx="412750" cy="714375"/>
            </a:xfrm>
            <a:custGeom>
              <a:avLst/>
              <a:gdLst>
                <a:gd name="T0" fmla="*/ 1 w 131"/>
                <a:gd name="T1" fmla="*/ 0 h 226"/>
                <a:gd name="T2" fmla="*/ 30 w 131"/>
                <a:gd name="T3" fmla="*/ 0 h 226"/>
                <a:gd name="T4" fmla="*/ 30 w 131"/>
                <a:gd name="T5" fmla="*/ 98 h 226"/>
                <a:gd name="T6" fmla="*/ 28 w 131"/>
                <a:gd name="T7" fmla="*/ 164 h 226"/>
                <a:gd name="T8" fmla="*/ 68 w 131"/>
                <a:gd name="T9" fmla="*/ 199 h 226"/>
                <a:gd name="T10" fmla="*/ 97 w 131"/>
                <a:gd name="T11" fmla="*/ 163 h 226"/>
                <a:gd name="T12" fmla="*/ 102 w 131"/>
                <a:gd name="T13" fmla="*/ 15 h 226"/>
                <a:gd name="T14" fmla="*/ 103 w 131"/>
                <a:gd name="T15" fmla="*/ 4 h 226"/>
                <a:gd name="T16" fmla="*/ 131 w 131"/>
                <a:gd name="T17" fmla="*/ 4 h 226"/>
                <a:gd name="T18" fmla="*/ 123 w 131"/>
                <a:gd name="T19" fmla="*/ 176 h 226"/>
                <a:gd name="T20" fmla="*/ 64 w 131"/>
                <a:gd name="T21" fmla="*/ 226 h 226"/>
                <a:gd name="T22" fmla="*/ 1 w 131"/>
                <a:gd name="T23" fmla="*/ 172 h 226"/>
                <a:gd name="T24" fmla="*/ 1 w 131"/>
                <a:gd name="T25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1" h="226">
                  <a:moveTo>
                    <a:pt x="1" y="0"/>
                  </a:moveTo>
                  <a:cubicBezTo>
                    <a:pt x="14" y="0"/>
                    <a:pt x="22" y="0"/>
                    <a:pt x="30" y="0"/>
                  </a:cubicBezTo>
                  <a:cubicBezTo>
                    <a:pt x="30" y="33"/>
                    <a:pt x="30" y="66"/>
                    <a:pt x="30" y="98"/>
                  </a:cubicBezTo>
                  <a:cubicBezTo>
                    <a:pt x="30" y="120"/>
                    <a:pt x="28" y="142"/>
                    <a:pt x="28" y="164"/>
                  </a:cubicBezTo>
                  <a:cubicBezTo>
                    <a:pt x="28" y="189"/>
                    <a:pt x="44" y="201"/>
                    <a:pt x="68" y="199"/>
                  </a:cubicBezTo>
                  <a:cubicBezTo>
                    <a:pt x="86" y="197"/>
                    <a:pt x="96" y="186"/>
                    <a:pt x="97" y="163"/>
                  </a:cubicBezTo>
                  <a:cubicBezTo>
                    <a:pt x="99" y="114"/>
                    <a:pt x="100" y="65"/>
                    <a:pt x="102" y="15"/>
                  </a:cubicBezTo>
                  <a:cubicBezTo>
                    <a:pt x="102" y="12"/>
                    <a:pt x="103" y="9"/>
                    <a:pt x="103" y="4"/>
                  </a:cubicBezTo>
                  <a:cubicBezTo>
                    <a:pt x="112" y="4"/>
                    <a:pt x="121" y="4"/>
                    <a:pt x="131" y="4"/>
                  </a:cubicBezTo>
                  <a:cubicBezTo>
                    <a:pt x="129" y="62"/>
                    <a:pt x="127" y="119"/>
                    <a:pt x="123" y="176"/>
                  </a:cubicBezTo>
                  <a:cubicBezTo>
                    <a:pt x="121" y="206"/>
                    <a:pt x="95" y="226"/>
                    <a:pt x="64" y="226"/>
                  </a:cubicBezTo>
                  <a:cubicBezTo>
                    <a:pt x="28" y="225"/>
                    <a:pt x="2" y="205"/>
                    <a:pt x="1" y="172"/>
                  </a:cubicBezTo>
                  <a:cubicBezTo>
                    <a:pt x="0" y="115"/>
                    <a:pt x="1" y="58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6" name="Freeform 89"/>
            <p:cNvSpPr/>
            <p:nvPr/>
          </p:nvSpPr>
          <p:spPr bwMode="auto">
            <a:xfrm>
              <a:off x="9635899" y="4373562"/>
              <a:ext cx="825500" cy="698500"/>
            </a:xfrm>
            <a:custGeom>
              <a:avLst/>
              <a:gdLst>
                <a:gd name="T0" fmla="*/ 192 w 261"/>
                <a:gd name="T1" fmla="*/ 0 h 221"/>
                <a:gd name="T2" fmla="*/ 261 w 261"/>
                <a:gd name="T3" fmla="*/ 96 h 221"/>
                <a:gd name="T4" fmla="*/ 240 w 261"/>
                <a:gd name="T5" fmla="*/ 110 h 221"/>
                <a:gd name="T6" fmla="*/ 196 w 261"/>
                <a:gd name="T7" fmla="*/ 49 h 221"/>
                <a:gd name="T8" fmla="*/ 175 w 261"/>
                <a:gd name="T9" fmla="*/ 44 h 221"/>
                <a:gd name="T10" fmla="*/ 128 w 261"/>
                <a:gd name="T11" fmla="*/ 73 h 221"/>
                <a:gd name="T12" fmla="*/ 175 w 261"/>
                <a:gd name="T13" fmla="*/ 140 h 221"/>
                <a:gd name="T14" fmla="*/ 156 w 261"/>
                <a:gd name="T15" fmla="*/ 155 h 221"/>
                <a:gd name="T16" fmla="*/ 106 w 261"/>
                <a:gd name="T17" fmla="*/ 87 h 221"/>
                <a:gd name="T18" fmla="*/ 38 w 261"/>
                <a:gd name="T19" fmla="*/ 129 h 221"/>
                <a:gd name="T20" fmla="*/ 93 w 261"/>
                <a:gd name="T21" fmla="*/ 207 h 221"/>
                <a:gd name="T22" fmla="*/ 73 w 261"/>
                <a:gd name="T23" fmla="*/ 221 h 221"/>
                <a:gd name="T24" fmla="*/ 0 w 261"/>
                <a:gd name="T25" fmla="*/ 120 h 221"/>
                <a:gd name="T26" fmla="*/ 192 w 261"/>
                <a:gd name="T27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1" h="221">
                  <a:moveTo>
                    <a:pt x="192" y="0"/>
                  </a:moveTo>
                  <a:cubicBezTo>
                    <a:pt x="215" y="32"/>
                    <a:pt x="237" y="63"/>
                    <a:pt x="261" y="96"/>
                  </a:cubicBezTo>
                  <a:cubicBezTo>
                    <a:pt x="254" y="101"/>
                    <a:pt x="248" y="105"/>
                    <a:pt x="240" y="110"/>
                  </a:cubicBezTo>
                  <a:cubicBezTo>
                    <a:pt x="225" y="89"/>
                    <a:pt x="210" y="69"/>
                    <a:pt x="196" y="49"/>
                  </a:cubicBezTo>
                  <a:cubicBezTo>
                    <a:pt x="190" y="39"/>
                    <a:pt x="184" y="38"/>
                    <a:pt x="175" y="44"/>
                  </a:cubicBezTo>
                  <a:cubicBezTo>
                    <a:pt x="160" y="54"/>
                    <a:pt x="145" y="63"/>
                    <a:pt x="128" y="73"/>
                  </a:cubicBezTo>
                  <a:cubicBezTo>
                    <a:pt x="144" y="96"/>
                    <a:pt x="159" y="117"/>
                    <a:pt x="175" y="140"/>
                  </a:cubicBezTo>
                  <a:cubicBezTo>
                    <a:pt x="169" y="145"/>
                    <a:pt x="164" y="149"/>
                    <a:pt x="156" y="155"/>
                  </a:cubicBezTo>
                  <a:cubicBezTo>
                    <a:pt x="139" y="132"/>
                    <a:pt x="122" y="109"/>
                    <a:pt x="106" y="87"/>
                  </a:cubicBezTo>
                  <a:cubicBezTo>
                    <a:pt x="83" y="101"/>
                    <a:pt x="62" y="114"/>
                    <a:pt x="38" y="129"/>
                  </a:cubicBezTo>
                  <a:cubicBezTo>
                    <a:pt x="56" y="154"/>
                    <a:pt x="74" y="180"/>
                    <a:pt x="93" y="207"/>
                  </a:cubicBezTo>
                  <a:cubicBezTo>
                    <a:pt x="87" y="211"/>
                    <a:pt x="81" y="216"/>
                    <a:pt x="73" y="221"/>
                  </a:cubicBezTo>
                  <a:cubicBezTo>
                    <a:pt x="49" y="188"/>
                    <a:pt x="25" y="155"/>
                    <a:pt x="0" y="120"/>
                  </a:cubicBezTo>
                  <a:cubicBezTo>
                    <a:pt x="64" y="80"/>
                    <a:pt x="128" y="40"/>
                    <a:pt x="19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7" name="Freeform 90"/>
            <p:cNvSpPr/>
            <p:nvPr/>
          </p:nvSpPr>
          <p:spPr bwMode="auto">
            <a:xfrm>
              <a:off x="13347474" y="5267325"/>
              <a:ext cx="487363" cy="777875"/>
            </a:xfrm>
            <a:custGeom>
              <a:avLst/>
              <a:gdLst>
                <a:gd name="T0" fmla="*/ 117 w 154"/>
                <a:gd name="T1" fmla="*/ 0 h 246"/>
                <a:gd name="T2" fmla="*/ 135 w 154"/>
                <a:gd name="T3" fmla="*/ 115 h 246"/>
                <a:gd name="T4" fmla="*/ 149 w 154"/>
                <a:gd name="T5" fmla="*/ 208 h 246"/>
                <a:gd name="T6" fmla="*/ 124 w 154"/>
                <a:gd name="T7" fmla="*/ 246 h 246"/>
                <a:gd name="T8" fmla="*/ 0 w 154"/>
                <a:gd name="T9" fmla="*/ 48 h 246"/>
                <a:gd name="T10" fmla="*/ 27 w 154"/>
                <a:gd name="T11" fmla="*/ 36 h 246"/>
                <a:gd name="T12" fmla="*/ 108 w 154"/>
                <a:gd name="T13" fmla="*/ 162 h 246"/>
                <a:gd name="T14" fmla="*/ 112 w 154"/>
                <a:gd name="T15" fmla="*/ 160 h 246"/>
                <a:gd name="T16" fmla="*/ 99 w 154"/>
                <a:gd name="T17" fmla="*/ 70 h 246"/>
                <a:gd name="T18" fmla="*/ 92 w 154"/>
                <a:gd name="T19" fmla="*/ 28 h 246"/>
                <a:gd name="T20" fmla="*/ 117 w 154"/>
                <a:gd name="T21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4" h="246">
                  <a:moveTo>
                    <a:pt x="117" y="0"/>
                  </a:moveTo>
                  <a:cubicBezTo>
                    <a:pt x="123" y="39"/>
                    <a:pt x="129" y="77"/>
                    <a:pt x="135" y="115"/>
                  </a:cubicBezTo>
                  <a:cubicBezTo>
                    <a:pt x="140" y="146"/>
                    <a:pt x="144" y="177"/>
                    <a:pt x="149" y="208"/>
                  </a:cubicBezTo>
                  <a:cubicBezTo>
                    <a:pt x="153" y="236"/>
                    <a:pt x="154" y="236"/>
                    <a:pt x="124" y="246"/>
                  </a:cubicBezTo>
                  <a:cubicBezTo>
                    <a:pt x="83" y="181"/>
                    <a:pt x="42" y="115"/>
                    <a:pt x="0" y="48"/>
                  </a:cubicBezTo>
                  <a:cubicBezTo>
                    <a:pt x="9" y="44"/>
                    <a:pt x="17" y="40"/>
                    <a:pt x="27" y="36"/>
                  </a:cubicBezTo>
                  <a:cubicBezTo>
                    <a:pt x="54" y="78"/>
                    <a:pt x="81" y="120"/>
                    <a:pt x="108" y="162"/>
                  </a:cubicBezTo>
                  <a:cubicBezTo>
                    <a:pt x="109" y="161"/>
                    <a:pt x="111" y="161"/>
                    <a:pt x="112" y="160"/>
                  </a:cubicBezTo>
                  <a:cubicBezTo>
                    <a:pt x="108" y="130"/>
                    <a:pt x="103" y="100"/>
                    <a:pt x="99" y="70"/>
                  </a:cubicBezTo>
                  <a:cubicBezTo>
                    <a:pt x="97" y="56"/>
                    <a:pt x="94" y="42"/>
                    <a:pt x="92" y="28"/>
                  </a:cubicBezTo>
                  <a:cubicBezTo>
                    <a:pt x="90" y="7"/>
                    <a:pt x="91" y="7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8" name="Freeform 91"/>
            <p:cNvSpPr/>
            <p:nvPr/>
          </p:nvSpPr>
          <p:spPr bwMode="auto">
            <a:xfrm>
              <a:off x="11237686" y="209550"/>
              <a:ext cx="533400" cy="842963"/>
            </a:xfrm>
            <a:custGeom>
              <a:avLst/>
              <a:gdLst>
                <a:gd name="T0" fmla="*/ 169 w 169"/>
                <a:gd name="T1" fmla="*/ 10 h 267"/>
                <a:gd name="T2" fmla="*/ 164 w 169"/>
                <a:gd name="T3" fmla="*/ 22 h 267"/>
                <a:gd name="T4" fmla="*/ 144 w 169"/>
                <a:gd name="T5" fmla="*/ 89 h 267"/>
                <a:gd name="T6" fmla="*/ 121 w 169"/>
                <a:gd name="T7" fmla="*/ 163 h 267"/>
                <a:gd name="T8" fmla="*/ 94 w 169"/>
                <a:gd name="T9" fmla="*/ 233 h 267"/>
                <a:gd name="T10" fmla="*/ 47 w 169"/>
                <a:gd name="T11" fmla="*/ 252 h 267"/>
                <a:gd name="T12" fmla="*/ 34 w 169"/>
                <a:gd name="T13" fmla="*/ 188 h 267"/>
                <a:gd name="T14" fmla="*/ 100 w 169"/>
                <a:gd name="T15" fmla="*/ 98 h 267"/>
                <a:gd name="T16" fmla="*/ 141 w 169"/>
                <a:gd name="T17" fmla="*/ 11 h 267"/>
                <a:gd name="T18" fmla="*/ 157 w 169"/>
                <a:gd name="T19" fmla="*/ 0 h 267"/>
                <a:gd name="T20" fmla="*/ 169 w 169"/>
                <a:gd name="T21" fmla="*/ 1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9" h="267">
                  <a:moveTo>
                    <a:pt x="169" y="10"/>
                  </a:moveTo>
                  <a:cubicBezTo>
                    <a:pt x="166" y="16"/>
                    <a:pt x="165" y="19"/>
                    <a:pt x="164" y="22"/>
                  </a:cubicBezTo>
                  <a:cubicBezTo>
                    <a:pt x="157" y="44"/>
                    <a:pt x="150" y="67"/>
                    <a:pt x="144" y="89"/>
                  </a:cubicBezTo>
                  <a:cubicBezTo>
                    <a:pt x="136" y="114"/>
                    <a:pt x="129" y="139"/>
                    <a:pt x="121" y="163"/>
                  </a:cubicBezTo>
                  <a:cubicBezTo>
                    <a:pt x="113" y="187"/>
                    <a:pt x="103" y="210"/>
                    <a:pt x="94" y="233"/>
                  </a:cubicBezTo>
                  <a:cubicBezTo>
                    <a:pt x="84" y="261"/>
                    <a:pt x="72" y="267"/>
                    <a:pt x="47" y="252"/>
                  </a:cubicBezTo>
                  <a:cubicBezTo>
                    <a:pt x="9" y="228"/>
                    <a:pt x="0" y="230"/>
                    <a:pt x="34" y="188"/>
                  </a:cubicBezTo>
                  <a:cubicBezTo>
                    <a:pt x="57" y="159"/>
                    <a:pt x="81" y="130"/>
                    <a:pt x="100" y="98"/>
                  </a:cubicBezTo>
                  <a:cubicBezTo>
                    <a:pt x="117" y="71"/>
                    <a:pt x="127" y="40"/>
                    <a:pt x="141" y="11"/>
                  </a:cubicBezTo>
                  <a:cubicBezTo>
                    <a:pt x="144" y="6"/>
                    <a:pt x="151" y="1"/>
                    <a:pt x="157" y="0"/>
                  </a:cubicBezTo>
                  <a:cubicBezTo>
                    <a:pt x="160" y="0"/>
                    <a:pt x="165" y="7"/>
                    <a:pt x="169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9" name="Freeform 92"/>
            <p:cNvSpPr/>
            <p:nvPr/>
          </p:nvSpPr>
          <p:spPr bwMode="auto">
            <a:xfrm>
              <a:off x="14469836" y="4581525"/>
              <a:ext cx="693738" cy="644525"/>
            </a:xfrm>
            <a:custGeom>
              <a:avLst/>
              <a:gdLst>
                <a:gd name="T0" fmla="*/ 116 w 220"/>
                <a:gd name="T1" fmla="*/ 190 h 204"/>
                <a:gd name="T2" fmla="*/ 126 w 220"/>
                <a:gd name="T3" fmla="*/ 168 h 204"/>
                <a:gd name="T4" fmla="*/ 154 w 220"/>
                <a:gd name="T5" fmla="*/ 170 h 204"/>
                <a:gd name="T6" fmla="*/ 188 w 220"/>
                <a:gd name="T7" fmla="*/ 138 h 204"/>
                <a:gd name="T8" fmla="*/ 158 w 220"/>
                <a:gd name="T9" fmla="*/ 102 h 204"/>
                <a:gd name="T10" fmla="*/ 105 w 220"/>
                <a:gd name="T11" fmla="*/ 112 h 204"/>
                <a:gd name="T12" fmla="*/ 63 w 220"/>
                <a:gd name="T13" fmla="*/ 124 h 204"/>
                <a:gd name="T14" fmla="*/ 9 w 220"/>
                <a:gd name="T15" fmla="*/ 86 h 204"/>
                <a:gd name="T16" fmla="*/ 28 w 220"/>
                <a:gd name="T17" fmla="*/ 13 h 204"/>
                <a:gd name="T18" fmla="*/ 97 w 220"/>
                <a:gd name="T19" fmla="*/ 13 h 204"/>
                <a:gd name="T20" fmla="*/ 87 w 220"/>
                <a:gd name="T21" fmla="*/ 35 h 204"/>
                <a:gd name="T22" fmla="*/ 63 w 220"/>
                <a:gd name="T23" fmla="*/ 33 h 204"/>
                <a:gd name="T24" fmla="*/ 32 w 220"/>
                <a:gd name="T25" fmla="*/ 65 h 204"/>
                <a:gd name="T26" fmla="*/ 65 w 220"/>
                <a:gd name="T27" fmla="*/ 94 h 204"/>
                <a:gd name="T28" fmla="*/ 109 w 220"/>
                <a:gd name="T29" fmla="*/ 77 h 204"/>
                <a:gd name="T30" fmla="*/ 213 w 220"/>
                <a:gd name="T31" fmla="*/ 120 h 204"/>
                <a:gd name="T32" fmla="*/ 189 w 220"/>
                <a:gd name="T33" fmla="*/ 187 h 204"/>
                <a:gd name="T34" fmla="*/ 116 w 220"/>
                <a:gd name="T35" fmla="*/ 19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0" h="204">
                  <a:moveTo>
                    <a:pt x="116" y="190"/>
                  </a:moveTo>
                  <a:cubicBezTo>
                    <a:pt x="120" y="182"/>
                    <a:pt x="123" y="175"/>
                    <a:pt x="126" y="168"/>
                  </a:cubicBezTo>
                  <a:cubicBezTo>
                    <a:pt x="135" y="169"/>
                    <a:pt x="145" y="171"/>
                    <a:pt x="154" y="170"/>
                  </a:cubicBezTo>
                  <a:cubicBezTo>
                    <a:pt x="173" y="170"/>
                    <a:pt x="187" y="156"/>
                    <a:pt x="188" y="138"/>
                  </a:cubicBezTo>
                  <a:cubicBezTo>
                    <a:pt x="188" y="120"/>
                    <a:pt x="176" y="101"/>
                    <a:pt x="158" y="102"/>
                  </a:cubicBezTo>
                  <a:cubicBezTo>
                    <a:pt x="140" y="102"/>
                    <a:pt x="122" y="108"/>
                    <a:pt x="105" y="112"/>
                  </a:cubicBezTo>
                  <a:cubicBezTo>
                    <a:pt x="91" y="116"/>
                    <a:pt x="77" y="123"/>
                    <a:pt x="63" y="124"/>
                  </a:cubicBezTo>
                  <a:cubicBezTo>
                    <a:pt x="35" y="125"/>
                    <a:pt x="18" y="111"/>
                    <a:pt x="9" y="86"/>
                  </a:cubicBezTo>
                  <a:cubicBezTo>
                    <a:pt x="0" y="59"/>
                    <a:pt x="8" y="29"/>
                    <a:pt x="28" y="13"/>
                  </a:cubicBezTo>
                  <a:cubicBezTo>
                    <a:pt x="44" y="0"/>
                    <a:pt x="74" y="0"/>
                    <a:pt x="97" y="13"/>
                  </a:cubicBezTo>
                  <a:cubicBezTo>
                    <a:pt x="94" y="20"/>
                    <a:pt x="91" y="27"/>
                    <a:pt x="87" y="35"/>
                  </a:cubicBezTo>
                  <a:cubicBezTo>
                    <a:pt x="79" y="34"/>
                    <a:pt x="71" y="33"/>
                    <a:pt x="63" y="33"/>
                  </a:cubicBezTo>
                  <a:cubicBezTo>
                    <a:pt x="41" y="33"/>
                    <a:pt x="30" y="44"/>
                    <a:pt x="32" y="65"/>
                  </a:cubicBezTo>
                  <a:cubicBezTo>
                    <a:pt x="33" y="86"/>
                    <a:pt x="44" y="97"/>
                    <a:pt x="65" y="94"/>
                  </a:cubicBezTo>
                  <a:cubicBezTo>
                    <a:pt x="80" y="91"/>
                    <a:pt x="95" y="84"/>
                    <a:pt x="109" y="77"/>
                  </a:cubicBezTo>
                  <a:cubicBezTo>
                    <a:pt x="152" y="57"/>
                    <a:pt x="202" y="77"/>
                    <a:pt x="213" y="120"/>
                  </a:cubicBezTo>
                  <a:cubicBezTo>
                    <a:pt x="220" y="146"/>
                    <a:pt x="210" y="171"/>
                    <a:pt x="189" y="187"/>
                  </a:cubicBezTo>
                  <a:cubicBezTo>
                    <a:pt x="168" y="203"/>
                    <a:pt x="141" y="204"/>
                    <a:pt x="116" y="1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0" name="Freeform 93"/>
            <p:cNvSpPr/>
            <p:nvPr/>
          </p:nvSpPr>
          <p:spPr bwMode="auto">
            <a:xfrm>
              <a:off x="13752286" y="5072062"/>
              <a:ext cx="695325" cy="788988"/>
            </a:xfrm>
            <a:custGeom>
              <a:avLst/>
              <a:gdLst>
                <a:gd name="T0" fmla="*/ 208 w 220"/>
                <a:gd name="T1" fmla="*/ 171 h 250"/>
                <a:gd name="T2" fmla="*/ 220 w 220"/>
                <a:gd name="T3" fmla="*/ 194 h 250"/>
                <a:gd name="T4" fmla="*/ 115 w 220"/>
                <a:gd name="T5" fmla="*/ 250 h 250"/>
                <a:gd name="T6" fmla="*/ 0 w 220"/>
                <a:gd name="T7" fmla="*/ 53 h 250"/>
                <a:gd name="T8" fmla="*/ 99 w 220"/>
                <a:gd name="T9" fmla="*/ 0 h 250"/>
                <a:gd name="T10" fmla="*/ 113 w 220"/>
                <a:gd name="T11" fmla="*/ 21 h 250"/>
                <a:gd name="T12" fmla="*/ 37 w 220"/>
                <a:gd name="T13" fmla="*/ 63 h 250"/>
                <a:gd name="T14" fmla="*/ 72 w 220"/>
                <a:gd name="T15" fmla="*/ 123 h 250"/>
                <a:gd name="T16" fmla="*/ 142 w 220"/>
                <a:gd name="T17" fmla="*/ 86 h 250"/>
                <a:gd name="T18" fmla="*/ 155 w 220"/>
                <a:gd name="T19" fmla="*/ 108 h 250"/>
                <a:gd name="T20" fmla="*/ 86 w 220"/>
                <a:gd name="T21" fmla="*/ 145 h 250"/>
                <a:gd name="T22" fmla="*/ 125 w 220"/>
                <a:gd name="T23" fmla="*/ 215 h 250"/>
                <a:gd name="T24" fmla="*/ 208 w 220"/>
                <a:gd name="T25" fmla="*/ 171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0" h="250">
                  <a:moveTo>
                    <a:pt x="208" y="171"/>
                  </a:moveTo>
                  <a:cubicBezTo>
                    <a:pt x="212" y="179"/>
                    <a:pt x="216" y="186"/>
                    <a:pt x="220" y="194"/>
                  </a:cubicBezTo>
                  <a:cubicBezTo>
                    <a:pt x="185" y="212"/>
                    <a:pt x="151" y="231"/>
                    <a:pt x="115" y="250"/>
                  </a:cubicBezTo>
                  <a:cubicBezTo>
                    <a:pt x="77" y="184"/>
                    <a:pt x="39" y="119"/>
                    <a:pt x="0" y="53"/>
                  </a:cubicBezTo>
                  <a:cubicBezTo>
                    <a:pt x="33" y="35"/>
                    <a:pt x="66" y="18"/>
                    <a:pt x="99" y="0"/>
                  </a:cubicBezTo>
                  <a:cubicBezTo>
                    <a:pt x="104" y="6"/>
                    <a:pt x="108" y="13"/>
                    <a:pt x="113" y="21"/>
                  </a:cubicBezTo>
                  <a:cubicBezTo>
                    <a:pt x="88" y="35"/>
                    <a:pt x="64" y="48"/>
                    <a:pt x="37" y="63"/>
                  </a:cubicBezTo>
                  <a:cubicBezTo>
                    <a:pt x="49" y="83"/>
                    <a:pt x="60" y="102"/>
                    <a:pt x="72" y="123"/>
                  </a:cubicBezTo>
                  <a:cubicBezTo>
                    <a:pt x="96" y="111"/>
                    <a:pt x="118" y="99"/>
                    <a:pt x="142" y="86"/>
                  </a:cubicBezTo>
                  <a:cubicBezTo>
                    <a:pt x="146" y="93"/>
                    <a:pt x="150" y="100"/>
                    <a:pt x="155" y="108"/>
                  </a:cubicBezTo>
                  <a:cubicBezTo>
                    <a:pt x="131" y="120"/>
                    <a:pt x="109" y="132"/>
                    <a:pt x="86" y="145"/>
                  </a:cubicBezTo>
                  <a:cubicBezTo>
                    <a:pt x="99" y="168"/>
                    <a:pt x="111" y="190"/>
                    <a:pt x="125" y="215"/>
                  </a:cubicBezTo>
                  <a:cubicBezTo>
                    <a:pt x="152" y="201"/>
                    <a:pt x="179" y="187"/>
                    <a:pt x="208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1" name="Freeform 94"/>
            <p:cNvSpPr/>
            <p:nvPr/>
          </p:nvSpPr>
          <p:spPr bwMode="auto">
            <a:xfrm>
              <a:off x="9172349" y="3549650"/>
              <a:ext cx="827088" cy="603250"/>
            </a:xfrm>
            <a:custGeom>
              <a:avLst/>
              <a:gdLst>
                <a:gd name="T0" fmla="*/ 198 w 262"/>
                <a:gd name="T1" fmla="*/ 10 h 191"/>
                <a:gd name="T2" fmla="*/ 221 w 262"/>
                <a:gd name="T3" fmla="*/ 0 h 191"/>
                <a:gd name="T4" fmla="*/ 262 w 262"/>
                <a:gd name="T5" fmla="*/ 108 h 191"/>
                <a:gd name="T6" fmla="*/ 207 w 262"/>
                <a:gd name="T7" fmla="*/ 114 h 191"/>
                <a:gd name="T8" fmla="*/ 35 w 262"/>
                <a:gd name="T9" fmla="*/ 88 h 191"/>
                <a:gd name="T10" fmla="*/ 69 w 262"/>
                <a:gd name="T11" fmla="*/ 180 h 191"/>
                <a:gd name="T12" fmla="*/ 46 w 262"/>
                <a:gd name="T13" fmla="*/ 191 h 191"/>
                <a:gd name="T14" fmla="*/ 0 w 262"/>
                <a:gd name="T15" fmla="*/ 69 h 191"/>
                <a:gd name="T16" fmla="*/ 39 w 262"/>
                <a:gd name="T17" fmla="*/ 65 h 191"/>
                <a:gd name="T18" fmla="*/ 214 w 262"/>
                <a:gd name="T19" fmla="*/ 91 h 191"/>
                <a:gd name="T20" fmla="*/ 228 w 262"/>
                <a:gd name="T21" fmla="*/ 92 h 191"/>
                <a:gd name="T22" fmla="*/ 198 w 262"/>
                <a:gd name="T23" fmla="*/ 1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2" h="191">
                  <a:moveTo>
                    <a:pt x="198" y="10"/>
                  </a:moveTo>
                  <a:cubicBezTo>
                    <a:pt x="205" y="7"/>
                    <a:pt x="212" y="4"/>
                    <a:pt x="221" y="0"/>
                  </a:cubicBezTo>
                  <a:cubicBezTo>
                    <a:pt x="235" y="37"/>
                    <a:pt x="248" y="72"/>
                    <a:pt x="262" y="108"/>
                  </a:cubicBezTo>
                  <a:cubicBezTo>
                    <a:pt x="245" y="123"/>
                    <a:pt x="225" y="117"/>
                    <a:pt x="207" y="114"/>
                  </a:cubicBezTo>
                  <a:cubicBezTo>
                    <a:pt x="151" y="106"/>
                    <a:pt x="95" y="97"/>
                    <a:pt x="35" y="88"/>
                  </a:cubicBezTo>
                  <a:cubicBezTo>
                    <a:pt x="47" y="121"/>
                    <a:pt x="58" y="150"/>
                    <a:pt x="69" y="180"/>
                  </a:cubicBezTo>
                  <a:cubicBezTo>
                    <a:pt x="62" y="183"/>
                    <a:pt x="55" y="186"/>
                    <a:pt x="46" y="191"/>
                  </a:cubicBezTo>
                  <a:cubicBezTo>
                    <a:pt x="31" y="151"/>
                    <a:pt x="16" y="112"/>
                    <a:pt x="0" y="69"/>
                  </a:cubicBezTo>
                  <a:cubicBezTo>
                    <a:pt x="14" y="67"/>
                    <a:pt x="27" y="63"/>
                    <a:pt x="39" y="65"/>
                  </a:cubicBezTo>
                  <a:cubicBezTo>
                    <a:pt x="97" y="73"/>
                    <a:pt x="156" y="82"/>
                    <a:pt x="214" y="91"/>
                  </a:cubicBezTo>
                  <a:cubicBezTo>
                    <a:pt x="217" y="92"/>
                    <a:pt x="221" y="92"/>
                    <a:pt x="228" y="92"/>
                  </a:cubicBezTo>
                  <a:cubicBezTo>
                    <a:pt x="217" y="64"/>
                    <a:pt x="208" y="37"/>
                    <a:pt x="19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2" name="Freeform 95"/>
            <p:cNvSpPr/>
            <p:nvPr/>
          </p:nvSpPr>
          <p:spPr bwMode="auto">
            <a:xfrm>
              <a:off x="15009586" y="3498850"/>
              <a:ext cx="749300" cy="492125"/>
            </a:xfrm>
            <a:custGeom>
              <a:avLst/>
              <a:gdLst>
                <a:gd name="T0" fmla="*/ 1 w 237"/>
                <a:gd name="T1" fmla="*/ 123 h 156"/>
                <a:gd name="T2" fmla="*/ 27 w 237"/>
                <a:gd name="T3" fmla="*/ 100 h 156"/>
                <a:gd name="T4" fmla="*/ 107 w 237"/>
                <a:gd name="T5" fmla="*/ 101 h 156"/>
                <a:gd name="T6" fmla="*/ 114 w 237"/>
                <a:gd name="T7" fmla="*/ 98 h 156"/>
                <a:gd name="T8" fmla="*/ 57 w 237"/>
                <a:gd name="T9" fmla="*/ 45 h 156"/>
                <a:gd name="T10" fmla="*/ 50 w 237"/>
                <a:gd name="T11" fmla="*/ 0 h 156"/>
                <a:gd name="T12" fmla="*/ 237 w 237"/>
                <a:gd name="T13" fmla="*/ 128 h 156"/>
                <a:gd name="T14" fmla="*/ 226 w 237"/>
                <a:gd name="T15" fmla="*/ 156 h 156"/>
                <a:gd name="T16" fmla="*/ 1 w 237"/>
                <a:gd name="T17" fmla="*/ 123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7" h="156">
                  <a:moveTo>
                    <a:pt x="1" y="123"/>
                  </a:moveTo>
                  <a:cubicBezTo>
                    <a:pt x="0" y="104"/>
                    <a:pt x="9" y="99"/>
                    <a:pt x="27" y="100"/>
                  </a:cubicBezTo>
                  <a:cubicBezTo>
                    <a:pt x="53" y="102"/>
                    <a:pt x="80" y="101"/>
                    <a:pt x="107" y="101"/>
                  </a:cubicBezTo>
                  <a:cubicBezTo>
                    <a:pt x="108" y="101"/>
                    <a:pt x="109" y="100"/>
                    <a:pt x="114" y="98"/>
                  </a:cubicBezTo>
                  <a:cubicBezTo>
                    <a:pt x="94" y="80"/>
                    <a:pt x="76" y="63"/>
                    <a:pt x="57" y="45"/>
                  </a:cubicBezTo>
                  <a:cubicBezTo>
                    <a:pt x="38" y="27"/>
                    <a:pt x="38" y="27"/>
                    <a:pt x="50" y="0"/>
                  </a:cubicBezTo>
                  <a:cubicBezTo>
                    <a:pt x="110" y="47"/>
                    <a:pt x="157" y="112"/>
                    <a:pt x="237" y="128"/>
                  </a:cubicBezTo>
                  <a:cubicBezTo>
                    <a:pt x="233" y="138"/>
                    <a:pt x="230" y="145"/>
                    <a:pt x="226" y="156"/>
                  </a:cubicBezTo>
                  <a:cubicBezTo>
                    <a:pt x="155" y="113"/>
                    <a:pt x="77" y="133"/>
                    <a:pt x="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3" name="Freeform 96"/>
            <p:cNvSpPr>
              <a:spLocks noEditPoints="1"/>
            </p:cNvSpPr>
            <p:nvPr/>
          </p:nvSpPr>
          <p:spPr bwMode="auto">
            <a:xfrm>
              <a:off x="11859986" y="4851400"/>
              <a:ext cx="496888" cy="469900"/>
            </a:xfrm>
            <a:custGeom>
              <a:avLst/>
              <a:gdLst>
                <a:gd name="T0" fmla="*/ 129 w 157"/>
                <a:gd name="T1" fmla="*/ 71 h 149"/>
                <a:gd name="T2" fmla="*/ 148 w 157"/>
                <a:gd name="T3" fmla="*/ 114 h 149"/>
                <a:gd name="T4" fmla="*/ 105 w 157"/>
                <a:gd name="T5" fmla="*/ 145 h 149"/>
                <a:gd name="T6" fmla="*/ 25 w 157"/>
                <a:gd name="T7" fmla="*/ 129 h 149"/>
                <a:gd name="T8" fmla="*/ 32 w 157"/>
                <a:gd name="T9" fmla="*/ 70 h 149"/>
                <a:gd name="T10" fmla="*/ 47 w 157"/>
                <a:gd name="T11" fmla="*/ 63 h 149"/>
                <a:gd name="T12" fmla="*/ 44 w 157"/>
                <a:gd name="T13" fmla="*/ 59 h 149"/>
                <a:gd name="T14" fmla="*/ 30 w 157"/>
                <a:gd name="T15" fmla="*/ 26 h 149"/>
                <a:gd name="T16" fmla="*/ 67 w 157"/>
                <a:gd name="T17" fmla="*/ 2 h 149"/>
                <a:gd name="T18" fmla="*/ 133 w 157"/>
                <a:gd name="T19" fmla="*/ 11 h 149"/>
                <a:gd name="T20" fmla="*/ 156 w 157"/>
                <a:gd name="T21" fmla="*/ 41 h 149"/>
                <a:gd name="T22" fmla="*/ 133 w 157"/>
                <a:gd name="T23" fmla="*/ 68 h 149"/>
                <a:gd name="T24" fmla="*/ 129 w 157"/>
                <a:gd name="T25" fmla="*/ 71 h 149"/>
                <a:gd name="T26" fmla="*/ 92 w 157"/>
                <a:gd name="T27" fmla="*/ 136 h 149"/>
                <a:gd name="T28" fmla="*/ 118 w 157"/>
                <a:gd name="T29" fmla="*/ 112 h 149"/>
                <a:gd name="T30" fmla="*/ 100 w 157"/>
                <a:gd name="T31" fmla="*/ 84 h 149"/>
                <a:gd name="T32" fmla="*/ 80 w 157"/>
                <a:gd name="T33" fmla="*/ 76 h 149"/>
                <a:gd name="T34" fmla="*/ 39 w 157"/>
                <a:gd name="T35" fmla="*/ 92 h 149"/>
                <a:gd name="T36" fmla="*/ 58 w 157"/>
                <a:gd name="T37" fmla="*/ 127 h 149"/>
                <a:gd name="T38" fmla="*/ 92 w 157"/>
                <a:gd name="T39" fmla="*/ 136 h 149"/>
                <a:gd name="T40" fmla="*/ 81 w 157"/>
                <a:gd name="T41" fmla="*/ 11 h 149"/>
                <a:gd name="T42" fmla="*/ 59 w 157"/>
                <a:gd name="T43" fmla="*/ 28 h 149"/>
                <a:gd name="T44" fmla="*/ 76 w 157"/>
                <a:gd name="T45" fmla="*/ 55 h 149"/>
                <a:gd name="T46" fmla="*/ 91 w 157"/>
                <a:gd name="T47" fmla="*/ 61 h 149"/>
                <a:gd name="T48" fmla="*/ 128 w 157"/>
                <a:gd name="T49" fmla="*/ 44 h 149"/>
                <a:gd name="T50" fmla="*/ 107 w 157"/>
                <a:gd name="T51" fmla="*/ 16 h 149"/>
                <a:gd name="T52" fmla="*/ 81 w 157"/>
                <a:gd name="T53" fmla="*/ 1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7" h="149">
                  <a:moveTo>
                    <a:pt x="129" y="71"/>
                  </a:moveTo>
                  <a:cubicBezTo>
                    <a:pt x="136" y="86"/>
                    <a:pt x="150" y="101"/>
                    <a:pt x="148" y="114"/>
                  </a:cubicBezTo>
                  <a:cubicBezTo>
                    <a:pt x="145" y="134"/>
                    <a:pt x="125" y="143"/>
                    <a:pt x="105" y="145"/>
                  </a:cubicBezTo>
                  <a:cubicBezTo>
                    <a:pt x="76" y="149"/>
                    <a:pt x="49" y="146"/>
                    <a:pt x="25" y="129"/>
                  </a:cubicBezTo>
                  <a:cubicBezTo>
                    <a:pt x="0" y="110"/>
                    <a:pt x="3" y="84"/>
                    <a:pt x="32" y="70"/>
                  </a:cubicBezTo>
                  <a:cubicBezTo>
                    <a:pt x="37" y="68"/>
                    <a:pt x="42" y="66"/>
                    <a:pt x="47" y="63"/>
                  </a:cubicBezTo>
                  <a:cubicBezTo>
                    <a:pt x="46" y="61"/>
                    <a:pt x="45" y="60"/>
                    <a:pt x="44" y="59"/>
                  </a:cubicBezTo>
                  <a:cubicBezTo>
                    <a:pt x="35" y="49"/>
                    <a:pt x="20" y="39"/>
                    <a:pt x="30" y="26"/>
                  </a:cubicBezTo>
                  <a:cubicBezTo>
                    <a:pt x="38" y="14"/>
                    <a:pt x="54" y="3"/>
                    <a:pt x="67" y="2"/>
                  </a:cubicBezTo>
                  <a:cubicBezTo>
                    <a:pt x="89" y="0"/>
                    <a:pt x="112" y="4"/>
                    <a:pt x="133" y="11"/>
                  </a:cubicBezTo>
                  <a:cubicBezTo>
                    <a:pt x="144" y="14"/>
                    <a:pt x="156" y="30"/>
                    <a:pt x="156" y="41"/>
                  </a:cubicBezTo>
                  <a:cubicBezTo>
                    <a:pt x="157" y="49"/>
                    <a:pt x="142" y="59"/>
                    <a:pt x="133" y="68"/>
                  </a:cubicBezTo>
                  <a:cubicBezTo>
                    <a:pt x="131" y="71"/>
                    <a:pt x="127" y="71"/>
                    <a:pt x="129" y="71"/>
                  </a:cubicBezTo>
                  <a:close/>
                  <a:moveTo>
                    <a:pt x="92" y="136"/>
                  </a:moveTo>
                  <a:cubicBezTo>
                    <a:pt x="100" y="129"/>
                    <a:pt x="113" y="123"/>
                    <a:pt x="118" y="112"/>
                  </a:cubicBezTo>
                  <a:cubicBezTo>
                    <a:pt x="125" y="97"/>
                    <a:pt x="110" y="90"/>
                    <a:pt x="100" y="84"/>
                  </a:cubicBezTo>
                  <a:cubicBezTo>
                    <a:pt x="94" y="80"/>
                    <a:pt x="86" y="78"/>
                    <a:pt x="80" y="76"/>
                  </a:cubicBezTo>
                  <a:cubicBezTo>
                    <a:pt x="65" y="69"/>
                    <a:pt x="44" y="78"/>
                    <a:pt x="39" y="92"/>
                  </a:cubicBezTo>
                  <a:cubicBezTo>
                    <a:pt x="34" y="106"/>
                    <a:pt x="42" y="121"/>
                    <a:pt x="58" y="127"/>
                  </a:cubicBezTo>
                  <a:cubicBezTo>
                    <a:pt x="67" y="130"/>
                    <a:pt x="76" y="132"/>
                    <a:pt x="92" y="136"/>
                  </a:cubicBezTo>
                  <a:close/>
                  <a:moveTo>
                    <a:pt x="81" y="11"/>
                  </a:moveTo>
                  <a:cubicBezTo>
                    <a:pt x="75" y="15"/>
                    <a:pt x="63" y="20"/>
                    <a:pt x="59" y="28"/>
                  </a:cubicBezTo>
                  <a:cubicBezTo>
                    <a:pt x="53" y="42"/>
                    <a:pt x="66" y="49"/>
                    <a:pt x="76" y="55"/>
                  </a:cubicBezTo>
                  <a:cubicBezTo>
                    <a:pt x="81" y="57"/>
                    <a:pt x="86" y="59"/>
                    <a:pt x="91" y="61"/>
                  </a:cubicBezTo>
                  <a:cubicBezTo>
                    <a:pt x="106" y="68"/>
                    <a:pt x="124" y="60"/>
                    <a:pt x="128" y="44"/>
                  </a:cubicBezTo>
                  <a:cubicBezTo>
                    <a:pt x="133" y="27"/>
                    <a:pt x="121" y="20"/>
                    <a:pt x="107" y="16"/>
                  </a:cubicBezTo>
                  <a:cubicBezTo>
                    <a:pt x="100" y="14"/>
                    <a:pt x="93" y="14"/>
                    <a:pt x="8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4" name="Freeform 97"/>
            <p:cNvSpPr/>
            <p:nvPr/>
          </p:nvSpPr>
          <p:spPr bwMode="auto">
            <a:xfrm>
              <a:off x="11859986" y="-317500"/>
              <a:ext cx="423863" cy="431800"/>
            </a:xfrm>
            <a:custGeom>
              <a:avLst/>
              <a:gdLst>
                <a:gd name="T0" fmla="*/ 64 w 134"/>
                <a:gd name="T1" fmla="*/ 137 h 137"/>
                <a:gd name="T2" fmla="*/ 64 w 134"/>
                <a:gd name="T3" fmla="*/ 92 h 137"/>
                <a:gd name="T4" fmla="*/ 8 w 134"/>
                <a:gd name="T5" fmla="*/ 79 h 137"/>
                <a:gd name="T6" fmla="*/ 14 w 134"/>
                <a:gd name="T7" fmla="*/ 51 h 137"/>
                <a:gd name="T8" fmla="*/ 68 w 134"/>
                <a:gd name="T9" fmla="*/ 14 h 137"/>
                <a:gd name="T10" fmla="*/ 112 w 134"/>
                <a:gd name="T11" fmla="*/ 10 h 137"/>
                <a:gd name="T12" fmla="*/ 129 w 134"/>
                <a:gd name="T13" fmla="*/ 53 h 137"/>
                <a:gd name="T14" fmla="*/ 64 w 134"/>
                <a:gd name="T15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" h="137">
                  <a:moveTo>
                    <a:pt x="64" y="137"/>
                  </a:moveTo>
                  <a:cubicBezTo>
                    <a:pt x="64" y="123"/>
                    <a:pt x="64" y="109"/>
                    <a:pt x="64" y="92"/>
                  </a:cubicBezTo>
                  <a:cubicBezTo>
                    <a:pt x="40" y="103"/>
                    <a:pt x="22" y="98"/>
                    <a:pt x="8" y="79"/>
                  </a:cubicBezTo>
                  <a:cubicBezTo>
                    <a:pt x="0" y="68"/>
                    <a:pt x="3" y="58"/>
                    <a:pt x="14" y="51"/>
                  </a:cubicBezTo>
                  <a:cubicBezTo>
                    <a:pt x="32" y="39"/>
                    <a:pt x="51" y="27"/>
                    <a:pt x="68" y="14"/>
                  </a:cubicBezTo>
                  <a:cubicBezTo>
                    <a:pt x="83" y="3"/>
                    <a:pt x="98" y="0"/>
                    <a:pt x="112" y="10"/>
                  </a:cubicBezTo>
                  <a:cubicBezTo>
                    <a:pt x="125" y="20"/>
                    <a:pt x="134" y="34"/>
                    <a:pt x="129" y="53"/>
                  </a:cubicBezTo>
                  <a:cubicBezTo>
                    <a:pt x="119" y="89"/>
                    <a:pt x="91" y="126"/>
                    <a:pt x="64" y="1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5" name="Freeform 98"/>
            <p:cNvSpPr/>
            <p:nvPr/>
          </p:nvSpPr>
          <p:spPr bwMode="auto">
            <a:xfrm>
              <a:off x="9926411" y="4838700"/>
              <a:ext cx="758825" cy="536575"/>
            </a:xfrm>
            <a:custGeom>
              <a:avLst/>
              <a:gdLst>
                <a:gd name="T0" fmla="*/ 217 w 240"/>
                <a:gd name="T1" fmla="*/ 0 h 170"/>
                <a:gd name="T2" fmla="*/ 235 w 240"/>
                <a:gd name="T3" fmla="*/ 22 h 170"/>
                <a:gd name="T4" fmla="*/ 240 w 240"/>
                <a:gd name="T5" fmla="*/ 28 h 170"/>
                <a:gd name="T6" fmla="*/ 198 w 240"/>
                <a:gd name="T7" fmla="*/ 63 h 170"/>
                <a:gd name="T8" fmla="*/ 107 w 240"/>
                <a:gd name="T9" fmla="*/ 150 h 170"/>
                <a:gd name="T10" fmla="*/ 30 w 240"/>
                <a:gd name="T11" fmla="*/ 149 h 170"/>
                <a:gd name="T12" fmla="*/ 14 w 240"/>
                <a:gd name="T13" fmla="*/ 73 h 170"/>
                <a:gd name="T14" fmla="*/ 36 w 240"/>
                <a:gd name="T15" fmla="*/ 102 h 170"/>
                <a:gd name="T16" fmla="*/ 87 w 240"/>
                <a:gd name="T17" fmla="*/ 128 h 170"/>
                <a:gd name="T18" fmla="*/ 135 w 240"/>
                <a:gd name="T19" fmla="*/ 83 h 170"/>
                <a:gd name="T20" fmla="*/ 217 w 240"/>
                <a:gd name="T21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0" h="170">
                  <a:moveTo>
                    <a:pt x="217" y="0"/>
                  </a:moveTo>
                  <a:cubicBezTo>
                    <a:pt x="224" y="9"/>
                    <a:pt x="230" y="15"/>
                    <a:pt x="235" y="22"/>
                  </a:cubicBezTo>
                  <a:cubicBezTo>
                    <a:pt x="237" y="24"/>
                    <a:pt x="239" y="26"/>
                    <a:pt x="240" y="28"/>
                  </a:cubicBezTo>
                  <a:cubicBezTo>
                    <a:pt x="226" y="39"/>
                    <a:pt x="211" y="51"/>
                    <a:pt x="198" y="63"/>
                  </a:cubicBezTo>
                  <a:cubicBezTo>
                    <a:pt x="167" y="92"/>
                    <a:pt x="138" y="122"/>
                    <a:pt x="107" y="150"/>
                  </a:cubicBezTo>
                  <a:cubicBezTo>
                    <a:pt x="83" y="170"/>
                    <a:pt x="52" y="168"/>
                    <a:pt x="30" y="149"/>
                  </a:cubicBezTo>
                  <a:cubicBezTo>
                    <a:pt x="6" y="128"/>
                    <a:pt x="0" y="100"/>
                    <a:pt x="14" y="73"/>
                  </a:cubicBezTo>
                  <a:cubicBezTo>
                    <a:pt x="27" y="78"/>
                    <a:pt x="39" y="81"/>
                    <a:pt x="36" y="102"/>
                  </a:cubicBezTo>
                  <a:cubicBezTo>
                    <a:pt x="33" y="127"/>
                    <a:pt x="66" y="143"/>
                    <a:pt x="87" y="128"/>
                  </a:cubicBezTo>
                  <a:cubicBezTo>
                    <a:pt x="104" y="115"/>
                    <a:pt x="119" y="99"/>
                    <a:pt x="135" y="83"/>
                  </a:cubicBezTo>
                  <a:cubicBezTo>
                    <a:pt x="162" y="57"/>
                    <a:pt x="188" y="29"/>
                    <a:pt x="21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6" name="Freeform 99"/>
            <p:cNvSpPr>
              <a:spLocks noEditPoints="1"/>
            </p:cNvSpPr>
            <p:nvPr/>
          </p:nvSpPr>
          <p:spPr bwMode="auto">
            <a:xfrm>
              <a:off x="12596586" y="4835525"/>
              <a:ext cx="476250" cy="476250"/>
            </a:xfrm>
            <a:custGeom>
              <a:avLst/>
              <a:gdLst>
                <a:gd name="T0" fmla="*/ 20 w 151"/>
                <a:gd name="T1" fmla="*/ 148 h 151"/>
                <a:gd name="T2" fmla="*/ 20 w 151"/>
                <a:gd name="T3" fmla="*/ 132 h 151"/>
                <a:gd name="T4" fmla="*/ 105 w 151"/>
                <a:gd name="T5" fmla="*/ 93 h 151"/>
                <a:gd name="T6" fmla="*/ 45 w 151"/>
                <a:gd name="T7" fmla="*/ 95 h 151"/>
                <a:gd name="T8" fmla="*/ 1 w 151"/>
                <a:gd name="T9" fmla="*/ 56 h 151"/>
                <a:gd name="T10" fmla="*/ 41 w 151"/>
                <a:gd name="T11" fmla="*/ 9 h 151"/>
                <a:gd name="T12" fmla="*/ 116 w 151"/>
                <a:gd name="T13" fmla="*/ 19 h 151"/>
                <a:gd name="T14" fmla="*/ 101 w 151"/>
                <a:gd name="T15" fmla="*/ 137 h 151"/>
                <a:gd name="T16" fmla="*/ 20 w 151"/>
                <a:gd name="T17" fmla="*/ 148 h 151"/>
                <a:gd name="T18" fmla="*/ 73 w 151"/>
                <a:gd name="T19" fmla="*/ 82 h 151"/>
                <a:gd name="T20" fmla="*/ 109 w 151"/>
                <a:gd name="T21" fmla="*/ 62 h 151"/>
                <a:gd name="T22" fmla="*/ 68 w 151"/>
                <a:gd name="T23" fmla="*/ 19 h 151"/>
                <a:gd name="T24" fmla="*/ 29 w 151"/>
                <a:gd name="T25" fmla="*/ 51 h 151"/>
                <a:gd name="T26" fmla="*/ 73 w 151"/>
                <a:gd name="T27" fmla="*/ 8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1" h="151">
                  <a:moveTo>
                    <a:pt x="20" y="148"/>
                  </a:moveTo>
                  <a:cubicBezTo>
                    <a:pt x="20" y="142"/>
                    <a:pt x="20" y="137"/>
                    <a:pt x="20" y="132"/>
                  </a:cubicBezTo>
                  <a:cubicBezTo>
                    <a:pt x="72" y="141"/>
                    <a:pt x="104" y="125"/>
                    <a:pt x="105" y="93"/>
                  </a:cubicBezTo>
                  <a:cubicBezTo>
                    <a:pt x="85" y="94"/>
                    <a:pt x="65" y="97"/>
                    <a:pt x="45" y="95"/>
                  </a:cubicBezTo>
                  <a:cubicBezTo>
                    <a:pt x="17" y="92"/>
                    <a:pt x="3" y="77"/>
                    <a:pt x="1" y="56"/>
                  </a:cubicBezTo>
                  <a:cubicBezTo>
                    <a:pt x="0" y="34"/>
                    <a:pt x="14" y="14"/>
                    <a:pt x="41" y="9"/>
                  </a:cubicBezTo>
                  <a:cubicBezTo>
                    <a:pt x="66" y="3"/>
                    <a:pt x="94" y="0"/>
                    <a:pt x="116" y="19"/>
                  </a:cubicBezTo>
                  <a:cubicBezTo>
                    <a:pt x="151" y="49"/>
                    <a:pt x="142" y="113"/>
                    <a:pt x="101" y="137"/>
                  </a:cubicBezTo>
                  <a:cubicBezTo>
                    <a:pt x="76" y="151"/>
                    <a:pt x="50" y="151"/>
                    <a:pt x="20" y="148"/>
                  </a:cubicBezTo>
                  <a:close/>
                  <a:moveTo>
                    <a:pt x="73" y="82"/>
                  </a:moveTo>
                  <a:cubicBezTo>
                    <a:pt x="82" y="74"/>
                    <a:pt x="107" y="88"/>
                    <a:pt x="109" y="62"/>
                  </a:cubicBezTo>
                  <a:cubicBezTo>
                    <a:pt x="112" y="37"/>
                    <a:pt x="93" y="19"/>
                    <a:pt x="68" y="19"/>
                  </a:cubicBezTo>
                  <a:cubicBezTo>
                    <a:pt x="45" y="19"/>
                    <a:pt x="30" y="32"/>
                    <a:pt x="29" y="51"/>
                  </a:cubicBezTo>
                  <a:cubicBezTo>
                    <a:pt x="29" y="70"/>
                    <a:pt x="44" y="82"/>
                    <a:pt x="73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7" name="Freeform 100"/>
            <p:cNvSpPr/>
            <p:nvPr/>
          </p:nvSpPr>
          <p:spPr bwMode="auto">
            <a:xfrm>
              <a:off x="14814324" y="3927475"/>
              <a:ext cx="757238" cy="582613"/>
            </a:xfrm>
            <a:custGeom>
              <a:avLst/>
              <a:gdLst>
                <a:gd name="T0" fmla="*/ 240 w 240"/>
                <a:gd name="T1" fmla="*/ 161 h 184"/>
                <a:gd name="T2" fmla="*/ 228 w 240"/>
                <a:gd name="T3" fmla="*/ 184 h 184"/>
                <a:gd name="T4" fmla="*/ 45 w 240"/>
                <a:gd name="T5" fmla="*/ 77 h 184"/>
                <a:gd name="T6" fmla="*/ 23 w 240"/>
                <a:gd name="T7" fmla="*/ 116 h 184"/>
                <a:gd name="T8" fmla="*/ 0 w 240"/>
                <a:gd name="T9" fmla="*/ 102 h 184"/>
                <a:gd name="T10" fmla="*/ 55 w 240"/>
                <a:gd name="T11" fmla="*/ 0 h 184"/>
                <a:gd name="T12" fmla="*/ 76 w 240"/>
                <a:gd name="T13" fmla="*/ 12 h 184"/>
                <a:gd name="T14" fmla="*/ 76 w 240"/>
                <a:gd name="T15" fmla="*/ 17 h 184"/>
                <a:gd name="T16" fmla="*/ 94 w 240"/>
                <a:gd name="T17" fmla="*/ 75 h 184"/>
                <a:gd name="T18" fmla="*/ 167 w 240"/>
                <a:gd name="T19" fmla="*/ 118 h 184"/>
                <a:gd name="T20" fmla="*/ 240 w 240"/>
                <a:gd name="T21" fmla="*/ 16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0" h="184">
                  <a:moveTo>
                    <a:pt x="240" y="161"/>
                  </a:moveTo>
                  <a:cubicBezTo>
                    <a:pt x="235" y="169"/>
                    <a:pt x="232" y="176"/>
                    <a:pt x="228" y="184"/>
                  </a:cubicBezTo>
                  <a:cubicBezTo>
                    <a:pt x="166" y="148"/>
                    <a:pt x="106" y="113"/>
                    <a:pt x="45" y="77"/>
                  </a:cubicBezTo>
                  <a:cubicBezTo>
                    <a:pt x="37" y="90"/>
                    <a:pt x="30" y="102"/>
                    <a:pt x="23" y="116"/>
                  </a:cubicBezTo>
                  <a:cubicBezTo>
                    <a:pt x="15" y="111"/>
                    <a:pt x="8" y="107"/>
                    <a:pt x="0" y="102"/>
                  </a:cubicBezTo>
                  <a:cubicBezTo>
                    <a:pt x="19" y="68"/>
                    <a:pt x="37" y="34"/>
                    <a:pt x="55" y="0"/>
                  </a:cubicBezTo>
                  <a:cubicBezTo>
                    <a:pt x="64" y="5"/>
                    <a:pt x="71" y="9"/>
                    <a:pt x="76" y="12"/>
                  </a:cubicBezTo>
                  <a:cubicBezTo>
                    <a:pt x="76" y="15"/>
                    <a:pt x="76" y="16"/>
                    <a:pt x="76" y="17"/>
                  </a:cubicBezTo>
                  <a:cubicBezTo>
                    <a:pt x="59" y="54"/>
                    <a:pt x="58" y="54"/>
                    <a:pt x="94" y="75"/>
                  </a:cubicBezTo>
                  <a:cubicBezTo>
                    <a:pt x="118" y="90"/>
                    <a:pt x="143" y="104"/>
                    <a:pt x="167" y="118"/>
                  </a:cubicBezTo>
                  <a:cubicBezTo>
                    <a:pt x="191" y="132"/>
                    <a:pt x="215" y="146"/>
                    <a:pt x="240" y="1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8" name="Freeform 101"/>
            <p:cNvSpPr/>
            <p:nvPr/>
          </p:nvSpPr>
          <p:spPr bwMode="auto">
            <a:xfrm>
              <a:off x="10302649" y="4960937"/>
              <a:ext cx="523875" cy="609600"/>
            </a:xfrm>
            <a:custGeom>
              <a:avLst/>
              <a:gdLst>
                <a:gd name="T0" fmla="*/ 142 w 166"/>
                <a:gd name="T1" fmla="*/ 0 h 193"/>
                <a:gd name="T2" fmla="*/ 166 w 166"/>
                <a:gd name="T3" fmla="*/ 21 h 193"/>
                <a:gd name="T4" fmla="*/ 26 w 166"/>
                <a:gd name="T5" fmla="*/ 193 h 193"/>
                <a:gd name="T6" fmla="*/ 19 w 166"/>
                <a:gd name="T7" fmla="*/ 152 h 193"/>
                <a:gd name="T8" fmla="*/ 142 w 166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193">
                  <a:moveTo>
                    <a:pt x="142" y="0"/>
                  </a:moveTo>
                  <a:cubicBezTo>
                    <a:pt x="151" y="8"/>
                    <a:pt x="158" y="14"/>
                    <a:pt x="166" y="21"/>
                  </a:cubicBezTo>
                  <a:cubicBezTo>
                    <a:pt x="119" y="80"/>
                    <a:pt x="72" y="137"/>
                    <a:pt x="26" y="193"/>
                  </a:cubicBezTo>
                  <a:cubicBezTo>
                    <a:pt x="0" y="176"/>
                    <a:pt x="0" y="176"/>
                    <a:pt x="19" y="152"/>
                  </a:cubicBezTo>
                  <a:cubicBezTo>
                    <a:pt x="59" y="102"/>
                    <a:pt x="100" y="52"/>
                    <a:pt x="14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9" name="Freeform 102"/>
            <p:cNvSpPr/>
            <p:nvPr/>
          </p:nvSpPr>
          <p:spPr bwMode="auto">
            <a:xfrm>
              <a:off x="13190311" y="5445125"/>
              <a:ext cx="280988" cy="698500"/>
            </a:xfrm>
            <a:custGeom>
              <a:avLst/>
              <a:gdLst>
                <a:gd name="T0" fmla="*/ 0 w 89"/>
                <a:gd name="T1" fmla="*/ 8 h 221"/>
                <a:gd name="T2" fmla="*/ 29 w 89"/>
                <a:gd name="T3" fmla="*/ 0 h 221"/>
                <a:gd name="T4" fmla="*/ 89 w 89"/>
                <a:gd name="T5" fmla="*/ 212 h 221"/>
                <a:gd name="T6" fmla="*/ 60 w 89"/>
                <a:gd name="T7" fmla="*/ 221 h 221"/>
                <a:gd name="T8" fmla="*/ 0 w 89"/>
                <a:gd name="T9" fmla="*/ 8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221">
                  <a:moveTo>
                    <a:pt x="0" y="8"/>
                  </a:moveTo>
                  <a:cubicBezTo>
                    <a:pt x="11" y="5"/>
                    <a:pt x="18" y="3"/>
                    <a:pt x="29" y="0"/>
                  </a:cubicBezTo>
                  <a:cubicBezTo>
                    <a:pt x="49" y="70"/>
                    <a:pt x="69" y="140"/>
                    <a:pt x="89" y="212"/>
                  </a:cubicBezTo>
                  <a:cubicBezTo>
                    <a:pt x="80" y="215"/>
                    <a:pt x="71" y="217"/>
                    <a:pt x="60" y="221"/>
                  </a:cubicBezTo>
                  <a:cubicBezTo>
                    <a:pt x="40" y="150"/>
                    <a:pt x="20" y="80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0" name="Freeform 103"/>
            <p:cNvSpPr/>
            <p:nvPr/>
          </p:nvSpPr>
          <p:spPr bwMode="auto">
            <a:xfrm>
              <a:off x="14706374" y="4360862"/>
              <a:ext cx="663575" cy="449263"/>
            </a:xfrm>
            <a:custGeom>
              <a:avLst/>
              <a:gdLst>
                <a:gd name="T0" fmla="*/ 210 w 210"/>
                <a:gd name="T1" fmla="*/ 122 h 142"/>
                <a:gd name="T2" fmla="*/ 192 w 210"/>
                <a:gd name="T3" fmla="*/ 142 h 142"/>
                <a:gd name="T4" fmla="*/ 0 w 210"/>
                <a:gd name="T5" fmla="*/ 22 h 142"/>
                <a:gd name="T6" fmla="*/ 15 w 210"/>
                <a:gd name="T7" fmla="*/ 0 h 142"/>
                <a:gd name="T8" fmla="*/ 210 w 210"/>
                <a:gd name="T9" fmla="*/ 12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142">
                  <a:moveTo>
                    <a:pt x="210" y="122"/>
                  </a:moveTo>
                  <a:cubicBezTo>
                    <a:pt x="204" y="130"/>
                    <a:pt x="198" y="136"/>
                    <a:pt x="192" y="142"/>
                  </a:cubicBezTo>
                  <a:cubicBezTo>
                    <a:pt x="129" y="102"/>
                    <a:pt x="65" y="63"/>
                    <a:pt x="0" y="22"/>
                  </a:cubicBezTo>
                  <a:cubicBezTo>
                    <a:pt x="5" y="14"/>
                    <a:pt x="10" y="8"/>
                    <a:pt x="15" y="0"/>
                  </a:cubicBezTo>
                  <a:cubicBezTo>
                    <a:pt x="80" y="40"/>
                    <a:pt x="144" y="80"/>
                    <a:pt x="210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1" name="Freeform 104"/>
            <p:cNvSpPr/>
            <p:nvPr/>
          </p:nvSpPr>
          <p:spPr bwMode="auto">
            <a:xfrm>
              <a:off x="13203011" y="4594225"/>
              <a:ext cx="357188" cy="522288"/>
            </a:xfrm>
            <a:custGeom>
              <a:avLst/>
              <a:gdLst>
                <a:gd name="T0" fmla="*/ 0 w 113"/>
                <a:gd name="T1" fmla="*/ 54 h 165"/>
                <a:gd name="T2" fmla="*/ 93 w 113"/>
                <a:gd name="T3" fmla="*/ 6 h 165"/>
                <a:gd name="T4" fmla="*/ 113 w 113"/>
                <a:gd name="T5" fmla="*/ 17 h 165"/>
                <a:gd name="T6" fmla="*/ 110 w 113"/>
                <a:gd name="T7" fmla="*/ 141 h 165"/>
                <a:gd name="T8" fmla="*/ 97 w 113"/>
                <a:gd name="T9" fmla="*/ 165 h 165"/>
                <a:gd name="T10" fmla="*/ 90 w 113"/>
                <a:gd name="T11" fmla="*/ 162 h 165"/>
                <a:gd name="T12" fmla="*/ 90 w 113"/>
                <a:gd name="T13" fmla="*/ 30 h 165"/>
                <a:gd name="T14" fmla="*/ 18 w 113"/>
                <a:gd name="T15" fmla="*/ 65 h 165"/>
                <a:gd name="T16" fmla="*/ 0 w 113"/>
                <a:gd name="T17" fmla="*/ 54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65">
                  <a:moveTo>
                    <a:pt x="0" y="54"/>
                  </a:moveTo>
                  <a:cubicBezTo>
                    <a:pt x="31" y="38"/>
                    <a:pt x="62" y="22"/>
                    <a:pt x="93" y="6"/>
                  </a:cubicBezTo>
                  <a:cubicBezTo>
                    <a:pt x="105" y="0"/>
                    <a:pt x="113" y="1"/>
                    <a:pt x="113" y="17"/>
                  </a:cubicBezTo>
                  <a:cubicBezTo>
                    <a:pt x="112" y="59"/>
                    <a:pt x="112" y="100"/>
                    <a:pt x="110" y="141"/>
                  </a:cubicBezTo>
                  <a:cubicBezTo>
                    <a:pt x="109" y="149"/>
                    <a:pt x="101" y="157"/>
                    <a:pt x="97" y="165"/>
                  </a:cubicBezTo>
                  <a:cubicBezTo>
                    <a:pt x="94" y="164"/>
                    <a:pt x="92" y="163"/>
                    <a:pt x="90" y="162"/>
                  </a:cubicBezTo>
                  <a:cubicBezTo>
                    <a:pt x="90" y="119"/>
                    <a:pt x="90" y="77"/>
                    <a:pt x="90" y="30"/>
                  </a:cubicBezTo>
                  <a:cubicBezTo>
                    <a:pt x="64" y="43"/>
                    <a:pt x="41" y="53"/>
                    <a:pt x="18" y="65"/>
                  </a:cubicBezTo>
                  <a:cubicBezTo>
                    <a:pt x="8" y="71"/>
                    <a:pt x="1" y="7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2" name="Freeform 105"/>
            <p:cNvSpPr/>
            <p:nvPr/>
          </p:nvSpPr>
          <p:spPr bwMode="auto">
            <a:xfrm>
              <a:off x="11958411" y="50800"/>
              <a:ext cx="328613" cy="312738"/>
            </a:xfrm>
            <a:custGeom>
              <a:avLst/>
              <a:gdLst>
                <a:gd name="T0" fmla="*/ 104 w 104"/>
                <a:gd name="T1" fmla="*/ 17 h 99"/>
                <a:gd name="T2" fmla="*/ 63 w 104"/>
                <a:gd name="T3" fmla="*/ 88 h 99"/>
                <a:gd name="T4" fmla="*/ 2 w 104"/>
                <a:gd name="T5" fmla="*/ 68 h 99"/>
                <a:gd name="T6" fmla="*/ 11 w 104"/>
                <a:gd name="T7" fmla="*/ 48 h 99"/>
                <a:gd name="T8" fmla="*/ 80 w 104"/>
                <a:gd name="T9" fmla="*/ 6 h 99"/>
                <a:gd name="T10" fmla="*/ 98 w 104"/>
                <a:gd name="T11" fmla="*/ 2 h 99"/>
                <a:gd name="T12" fmla="*/ 104 w 104"/>
                <a:gd name="T13" fmla="*/ 1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99">
                  <a:moveTo>
                    <a:pt x="104" y="17"/>
                  </a:moveTo>
                  <a:cubicBezTo>
                    <a:pt x="100" y="48"/>
                    <a:pt x="85" y="71"/>
                    <a:pt x="63" y="88"/>
                  </a:cubicBezTo>
                  <a:cubicBezTo>
                    <a:pt x="49" y="99"/>
                    <a:pt x="6" y="85"/>
                    <a:pt x="2" y="68"/>
                  </a:cubicBezTo>
                  <a:cubicBezTo>
                    <a:pt x="0" y="62"/>
                    <a:pt x="6" y="49"/>
                    <a:pt x="11" y="48"/>
                  </a:cubicBezTo>
                  <a:cubicBezTo>
                    <a:pt x="39" y="40"/>
                    <a:pt x="58" y="21"/>
                    <a:pt x="80" y="6"/>
                  </a:cubicBezTo>
                  <a:cubicBezTo>
                    <a:pt x="85" y="3"/>
                    <a:pt x="94" y="0"/>
                    <a:pt x="98" y="2"/>
                  </a:cubicBezTo>
                  <a:cubicBezTo>
                    <a:pt x="102" y="4"/>
                    <a:pt x="103" y="13"/>
                    <a:pt x="104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3" name="Freeform 106"/>
            <p:cNvSpPr/>
            <p:nvPr/>
          </p:nvSpPr>
          <p:spPr bwMode="auto">
            <a:xfrm>
              <a:off x="13885636" y="838200"/>
              <a:ext cx="239713" cy="303213"/>
            </a:xfrm>
            <a:custGeom>
              <a:avLst/>
              <a:gdLst>
                <a:gd name="T0" fmla="*/ 75 w 76"/>
                <a:gd name="T1" fmla="*/ 60 h 96"/>
                <a:gd name="T2" fmla="*/ 55 w 76"/>
                <a:gd name="T3" fmla="*/ 90 h 96"/>
                <a:gd name="T4" fmla="*/ 2 w 76"/>
                <a:gd name="T5" fmla="*/ 82 h 96"/>
                <a:gd name="T6" fmla="*/ 0 w 76"/>
                <a:gd name="T7" fmla="*/ 73 h 96"/>
                <a:gd name="T8" fmla="*/ 6 w 76"/>
                <a:gd name="T9" fmla="*/ 26 h 96"/>
                <a:gd name="T10" fmla="*/ 36 w 76"/>
                <a:gd name="T11" fmla="*/ 5 h 96"/>
                <a:gd name="T12" fmla="*/ 75 w 76"/>
                <a:gd name="T13" fmla="*/ 6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96">
                  <a:moveTo>
                    <a:pt x="75" y="60"/>
                  </a:moveTo>
                  <a:cubicBezTo>
                    <a:pt x="76" y="73"/>
                    <a:pt x="71" y="85"/>
                    <a:pt x="55" y="90"/>
                  </a:cubicBezTo>
                  <a:cubicBezTo>
                    <a:pt x="36" y="96"/>
                    <a:pt x="18" y="94"/>
                    <a:pt x="2" y="82"/>
                  </a:cubicBezTo>
                  <a:cubicBezTo>
                    <a:pt x="0" y="80"/>
                    <a:pt x="0" y="76"/>
                    <a:pt x="0" y="73"/>
                  </a:cubicBezTo>
                  <a:cubicBezTo>
                    <a:pt x="2" y="57"/>
                    <a:pt x="4" y="42"/>
                    <a:pt x="6" y="26"/>
                  </a:cubicBezTo>
                  <a:cubicBezTo>
                    <a:pt x="8" y="9"/>
                    <a:pt x="19" y="0"/>
                    <a:pt x="36" y="5"/>
                  </a:cubicBezTo>
                  <a:cubicBezTo>
                    <a:pt x="63" y="13"/>
                    <a:pt x="74" y="28"/>
                    <a:pt x="75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4" name="Freeform 107"/>
            <p:cNvSpPr/>
            <p:nvPr/>
          </p:nvSpPr>
          <p:spPr bwMode="auto">
            <a:xfrm>
              <a:off x="11288486" y="4664075"/>
              <a:ext cx="360363" cy="490538"/>
            </a:xfrm>
            <a:custGeom>
              <a:avLst/>
              <a:gdLst>
                <a:gd name="T0" fmla="*/ 55 w 114"/>
                <a:gd name="T1" fmla="*/ 119 h 155"/>
                <a:gd name="T2" fmla="*/ 82 w 114"/>
                <a:gd name="T3" fmla="*/ 138 h 155"/>
                <a:gd name="T4" fmla="*/ 61 w 114"/>
                <a:gd name="T5" fmla="*/ 140 h 155"/>
                <a:gd name="T6" fmla="*/ 6 w 114"/>
                <a:gd name="T7" fmla="*/ 91 h 155"/>
                <a:gd name="T8" fmla="*/ 35 w 114"/>
                <a:gd name="T9" fmla="*/ 106 h 155"/>
                <a:gd name="T10" fmla="*/ 81 w 114"/>
                <a:gd name="T11" fmla="*/ 26 h 155"/>
                <a:gd name="T12" fmla="*/ 48 w 114"/>
                <a:gd name="T13" fmla="*/ 4 h 155"/>
                <a:gd name="T14" fmla="*/ 66 w 114"/>
                <a:gd name="T15" fmla="*/ 1 h 155"/>
                <a:gd name="T16" fmla="*/ 99 w 114"/>
                <a:gd name="T17" fmla="*/ 3 h 155"/>
                <a:gd name="T18" fmla="*/ 112 w 114"/>
                <a:gd name="T19" fmla="*/ 8 h 155"/>
                <a:gd name="T20" fmla="*/ 111 w 114"/>
                <a:gd name="T21" fmla="*/ 22 h 155"/>
                <a:gd name="T22" fmla="*/ 55 w 114"/>
                <a:gd name="T23" fmla="*/ 11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" h="155">
                  <a:moveTo>
                    <a:pt x="55" y="119"/>
                  </a:moveTo>
                  <a:cubicBezTo>
                    <a:pt x="65" y="126"/>
                    <a:pt x="74" y="132"/>
                    <a:pt x="82" y="138"/>
                  </a:cubicBezTo>
                  <a:cubicBezTo>
                    <a:pt x="77" y="155"/>
                    <a:pt x="68" y="144"/>
                    <a:pt x="61" y="140"/>
                  </a:cubicBezTo>
                  <a:cubicBezTo>
                    <a:pt x="0" y="104"/>
                    <a:pt x="0" y="104"/>
                    <a:pt x="6" y="91"/>
                  </a:cubicBezTo>
                  <a:cubicBezTo>
                    <a:pt x="15" y="95"/>
                    <a:pt x="25" y="100"/>
                    <a:pt x="35" y="106"/>
                  </a:cubicBezTo>
                  <a:cubicBezTo>
                    <a:pt x="50" y="79"/>
                    <a:pt x="65" y="53"/>
                    <a:pt x="81" y="26"/>
                  </a:cubicBezTo>
                  <a:cubicBezTo>
                    <a:pt x="71" y="20"/>
                    <a:pt x="62" y="13"/>
                    <a:pt x="48" y="4"/>
                  </a:cubicBezTo>
                  <a:cubicBezTo>
                    <a:pt x="57" y="2"/>
                    <a:pt x="61" y="0"/>
                    <a:pt x="66" y="1"/>
                  </a:cubicBezTo>
                  <a:cubicBezTo>
                    <a:pt x="77" y="1"/>
                    <a:pt x="88" y="2"/>
                    <a:pt x="99" y="3"/>
                  </a:cubicBezTo>
                  <a:cubicBezTo>
                    <a:pt x="104" y="4"/>
                    <a:pt x="110" y="5"/>
                    <a:pt x="112" y="8"/>
                  </a:cubicBezTo>
                  <a:cubicBezTo>
                    <a:pt x="114" y="11"/>
                    <a:pt x="113" y="18"/>
                    <a:pt x="111" y="22"/>
                  </a:cubicBezTo>
                  <a:cubicBezTo>
                    <a:pt x="93" y="54"/>
                    <a:pt x="75" y="85"/>
                    <a:pt x="55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5" name="Freeform 108"/>
            <p:cNvSpPr/>
            <p:nvPr/>
          </p:nvSpPr>
          <p:spPr bwMode="auto">
            <a:xfrm>
              <a:off x="11380561" y="-306388"/>
              <a:ext cx="261938" cy="298450"/>
            </a:xfrm>
            <a:custGeom>
              <a:avLst/>
              <a:gdLst>
                <a:gd name="T0" fmla="*/ 27 w 83"/>
                <a:gd name="T1" fmla="*/ 94 h 94"/>
                <a:gd name="T2" fmla="*/ 5 w 83"/>
                <a:gd name="T3" fmla="*/ 33 h 94"/>
                <a:gd name="T4" fmla="*/ 32 w 83"/>
                <a:gd name="T5" fmla="*/ 6 h 94"/>
                <a:gd name="T6" fmla="*/ 80 w 83"/>
                <a:gd name="T7" fmla="*/ 41 h 94"/>
                <a:gd name="T8" fmla="*/ 43 w 83"/>
                <a:gd name="T9" fmla="*/ 86 h 94"/>
                <a:gd name="T10" fmla="*/ 27 w 83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94">
                  <a:moveTo>
                    <a:pt x="27" y="94"/>
                  </a:moveTo>
                  <a:cubicBezTo>
                    <a:pt x="19" y="71"/>
                    <a:pt x="10" y="52"/>
                    <a:pt x="5" y="33"/>
                  </a:cubicBezTo>
                  <a:cubicBezTo>
                    <a:pt x="0" y="11"/>
                    <a:pt x="11" y="0"/>
                    <a:pt x="32" y="6"/>
                  </a:cubicBezTo>
                  <a:cubicBezTo>
                    <a:pt x="52" y="12"/>
                    <a:pt x="78" y="18"/>
                    <a:pt x="80" y="41"/>
                  </a:cubicBezTo>
                  <a:cubicBezTo>
                    <a:pt x="83" y="63"/>
                    <a:pt x="61" y="75"/>
                    <a:pt x="43" y="86"/>
                  </a:cubicBezTo>
                  <a:cubicBezTo>
                    <a:pt x="39" y="89"/>
                    <a:pt x="33" y="91"/>
                    <a:pt x="27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6" name="Freeform 109"/>
            <p:cNvSpPr/>
            <p:nvPr/>
          </p:nvSpPr>
          <p:spPr bwMode="auto">
            <a:xfrm>
              <a:off x="11355161" y="57150"/>
              <a:ext cx="249238" cy="303213"/>
            </a:xfrm>
            <a:custGeom>
              <a:avLst/>
              <a:gdLst>
                <a:gd name="T0" fmla="*/ 0 w 79"/>
                <a:gd name="T1" fmla="*/ 30 h 96"/>
                <a:gd name="T2" fmla="*/ 12 w 79"/>
                <a:gd name="T3" fmla="*/ 12 h 96"/>
                <a:gd name="T4" fmla="*/ 67 w 79"/>
                <a:gd name="T5" fmla="*/ 25 h 96"/>
                <a:gd name="T6" fmla="*/ 68 w 79"/>
                <a:gd name="T7" fmla="*/ 66 h 96"/>
                <a:gd name="T8" fmla="*/ 58 w 79"/>
                <a:gd name="T9" fmla="*/ 79 h 96"/>
                <a:gd name="T10" fmla="*/ 16 w 79"/>
                <a:gd name="T11" fmla="*/ 71 h 96"/>
                <a:gd name="T12" fmla="*/ 0 w 79"/>
                <a:gd name="T13" fmla="*/ 3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0" y="30"/>
                  </a:moveTo>
                  <a:cubicBezTo>
                    <a:pt x="4" y="24"/>
                    <a:pt x="7" y="16"/>
                    <a:pt x="12" y="12"/>
                  </a:cubicBezTo>
                  <a:cubicBezTo>
                    <a:pt x="26" y="0"/>
                    <a:pt x="49" y="6"/>
                    <a:pt x="67" y="25"/>
                  </a:cubicBezTo>
                  <a:cubicBezTo>
                    <a:pt x="79" y="38"/>
                    <a:pt x="77" y="52"/>
                    <a:pt x="68" y="66"/>
                  </a:cubicBezTo>
                  <a:cubicBezTo>
                    <a:pt x="65" y="71"/>
                    <a:pt x="62" y="75"/>
                    <a:pt x="58" y="79"/>
                  </a:cubicBezTo>
                  <a:cubicBezTo>
                    <a:pt x="40" y="96"/>
                    <a:pt x="26" y="94"/>
                    <a:pt x="16" y="71"/>
                  </a:cubicBezTo>
                  <a:cubicBezTo>
                    <a:pt x="10" y="58"/>
                    <a:pt x="5" y="45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7" name="Freeform 110"/>
            <p:cNvSpPr/>
            <p:nvPr/>
          </p:nvSpPr>
          <p:spPr bwMode="auto">
            <a:xfrm>
              <a:off x="9291411" y="1674812"/>
              <a:ext cx="269875" cy="228600"/>
            </a:xfrm>
            <a:custGeom>
              <a:avLst/>
              <a:gdLst>
                <a:gd name="T0" fmla="*/ 75 w 85"/>
                <a:gd name="T1" fmla="*/ 72 h 72"/>
                <a:gd name="T2" fmla="*/ 37 w 85"/>
                <a:gd name="T3" fmla="*/ 59 h 72"/>
                <a:gd name="T4" fmla="*/ 1 w 85"/>
                <a:gd name="T5" fmla="*/ 23 h 72"/>
                <a:gd name="T6" fmla="*/ 9 w 85"/>
                <a:gd name="T7" fmla="*/ 10 h 72"/>
                <a:gd name="T8" fmla="*/ 51 w 85"/>
                <a:gd name="T9" fmla="*/ 3 h 72"/>
                <a:gd name="T10" fmla="*/ 84 w 85"/>
                <a:gd name="T11" fmla="*/ 30 h 72"/>
                <a:gd name="T12" fmla="*/ 75 w 85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72">
                  <a:moveTo>
                    <a:pt x="75" y="72"/>
                  </a:moveTo>
                  <a:cubicBezTo>
                    <a:pt x="59" y="66"/>
                    <a:pt x="48" y="62"/>
                    <a:pt x="37" y="59"/>
                  </a:cubicBezTo>
                  <a:cubicBezTo>
                    <a:pt x="18" y="53"/>
                    <a:pt x="4" y="43"/>
                    <a:pt x="1" y="23"/>
                  </a:cubicBezTo>
                  <a:cubicBezTo>
                    <a:pt x="0" y="19"/>
                    <a:pt x="5" y="11"/>
                    <a:pt x="9" y="10"/>
                  </a:cubicBezTo>
                  <a:cubicBezTo>
                    <a:pt x="23" y="6"/>
                    <a:pt x="37" y="6"/>
                    <a:pt x="51" y="3"/>
                  </a:cubicBezTo>
                  <a:cubicBezTo>
                    <a:pt x="71" y="0"/>
                    <a:pt x="85" y="10"/>
                    <a:pt x="84" y="30"/>
                  </a:cubicBezTo>
                  <a:cubicBezTo>
                    <a:pt x="82" y="45"/>
                    <a:pt x="78" y="59"/>
                    <a:pt x="75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8" name="Freeform 111"/>
            <p:cNvSpPr/>
            <p:nvPr/>
          </p:nvSpPr>
          <p:spPr bwMode="auto">
            <a:xfrm>
              <a:off x="9510486" y="1884362"/>
              <a:ext cx="280988" cy="239713"/>
            </a:xfrm>
            <a:custGeom>
              <a:avLst/>
              <a:gdLst>
                <a:gd name="T0" fmla="*/ 77 w 89"/>
                <a:gd name="T1" fmla="*/ 76 h 76"/>
                <a:gd name="T2" fmla="*/ 29 w 89"/>
                <a:gd name="T3" fmla="*/ 56 h 76"/>
                <a:gd name="T4" fmla="*/ 17 w 89"/>
                <a:gd name="T5" fmla="*/ 50 h 76"/>
                <a:gd name="T6" fmla="*/ 0 w 89"/>
                <a:gd name="T7" fmla="*/ 26 h 76"/>
                <a:gd name="T8" fmla="*/ 23 w 89"/>
                <a:gd name="T9" fmla="*/ 14 h 76"/>
                <a:gd name="T10" fmla="*/ 75 w 89"/>
                <a:gd name="T11" fmla="*/ 18 h 76"/>
                <a:gd name="T12" fmla="*/ 77 w 89"/>
                <a:gd name="T1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76">
                  <a:moveTo>
                    <a:pt x="77" y="76"/>
                  </a:moveTo>
                  <a:cubicBezTo>
                    <a:pt x="61" y="69"/>
                    <a:pt x="45" y="63"/>
                    <a:pt x="29" y="56"/>
                  </a:cubicBezTo>
                  <a:cubicBezTo>
                    <a:pt x="25" y="54"/>
                    <a:pt x="20" y="53"/>
                    <a:pt x="17" y="50"/>
                  </a:cubicBezTo>
                  <a:cubicBezTo>
                    <a:pt x="11" y="43"/>
                    <a:pt x="6" y="34"/>
                    <a:pt x="0" y="26"/>
                  </a:cubicBezTo>
                  <a:cubicBezTo>
                    <a:pt x="8" y="22"/>
                    <a:pt x="15" y="16"/>
                    <a:pt x="23" y="14"/>
                  </a:cubicBezTo>
                  <a:cubicBezTo>
                    <a:pt x="41" y="10"/>
                    <a:pt x="61" y="0"/>
                    <a:pt x="75" y="18"/>
                  </a:cubicBezTo>
                  <a:cubicBezTo>
                    <a:pt x="89" y="37"/>
                    <a:pt x="84" y="58"/>
                    <a:pt x="77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9" name="Freeform 112"/>
            <p:cNvSpPr/>
            <p:nvPr/>
          </p:nvSpPr>
          <p:spPr bwMode="auto">
            <a:xfrm>
              <a:off x="14734949" y="1489075"/>
              <a:ext cx="188913" cy="217488"/>
            </a:xfrm>
            <a:custGeom>
              <a:avLst/>
              <a:gdLst>
                <a:gd name="T0" fmla="*/ 60 w 60"/>
                <a:gd name="T1" fmla="*/ 27 h 69"/>
                <a:gd name="T2" fmla="*/ 49 w 60"/>
                <a:gd name="T3" fmla="*/ 51 h 69"/>
                <a:gd name="T4" fmla="*/ 11 w 60"/>
                <a:gd name="T5" fmla="*/ 61 h 69"/>
                <a:gd name="T6" fmla="*/ 13 w 60"/>
                <a:gd name="T7" fmla="*/ 22 h 69"/>
                <a:gd name="T8" fmla="*/ 25 w 60"/>
                <a:gd name="T9" fmla="*/ 11 h 69"/>
                <a:gd name="T10" fmla="*/ 46 w 60"/>
                <a:gd name="T11" fmla="*/ 3 h 69"/>
                <a:gd name="T12" fmla="*/ 60 w 60"/>
                <a:gd name="T13" fmla="*/ 2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69">
                  <a:moveTo>
                    <a:pt x="60" y="27"/>
                  </a:moveTo>
                  <a:cubicBezTo>
                    <a:pt x="56" y="37"/>
                    <a:pt x="54" y="45"/>
                    <a:pt x="49" y="51"/>
                  </a:cubicBezTo>
                  <a:cubicBezTo>
                    <a:pt x="39" y="65"/>
                    <a:pt x="22" y="69"/>
                    <a:pt x="11" y="61"/>
                  </a:cubicBezTo>
                  <a:cubicBezTo>
                    <a:pt x="0" y="52"/>
                    <a:pt x="1" y="37"/>
                    <a:pt x="13" y="22"/>
                  </a:cubicBezTo>
                  <a:cubicBezTo>
                    <a:pt x="17" y="18"/>
                    <a:pt x="20" y="13"/>
                    <a:pt x="25" y="11"/>
                  </a:cubicBezTo>
                  <a:cubicBezTo>
                    <a:pt x="32" y="7"/>
                    <a:pt x="43" y="0"/>
                    <a:pt x="46" y="3"/>
                  </a:cubicBezTo>
                  <a:cubicBezTo>
                    <a:pt x="53" y="8"/>
                    <a:pt x="56" y="19"/>
                    <a:pt x="6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703" name="组合 702"/>
          <p:cNvGrpSpPr/>
          <p:nvPr/>
        </p:nvGrpSpPr>
        <p:grpSpPr>
          <a:xfrm rot="0">
            <a:off x="4458335" y="1525905"/>
            <a:ext cx="3505200" cy="1228725"/>
            <a:chOff x="6815138" y="1806575"/>
            <a:chExt cx="2881312" cy="1009650"/>
          </a:xfrm>
        </p:grpSpPr>
        <p:sp>
          <p:nvSpPr>
            <p:cNvPr id="704" name="Freeform 121"/>
            <p:cNvSpPr/>
            <p:nvPr/>
          </p:nvSpPr>
          <p:spPr bwMode="auto">
            <a:xfrm>
              <a:off x="8842375" y="2344738"/>
              <a:ext cx="147637" cy="152400"/>
            </a:xfrm>
            <a:custGeom>
              <a:avLst/>
              <a:gdLst>
                <a:gd name="T0" fmla="*/ 13 w 47"/>
                <a:gd name="T1" fmla="*/ 47 h 48"/>
                <a:gd name="T2" fmla="*/ 8 w 47"/>
                <a:gd name="T3" fmla="*/ 33 h 48"/>
                <a:gd name="T4" fmla="*/ 0 w 47"/>
                <a:gd name="T5" fmla="*/ 14 h 48"/>
                <a:gd name="T6" fmla="*/ 30 w 47"/>
                <a:gd name="T7" fmla="*/ 5 h 48"/>
                <a:gd name="T8" fmla="*/ 36 w 47"/>
                <a:gd name="T9" fmla="*/ 12 h 48"/>
                <a:gd name="T10" fmla="*/ 39 w 47"/>
                <a:gd name="T11" fmla="*/ 38 h 48"/>
                <a:gd name="T12" fmla="*/ 13 w 47"/>
                <a:gd name="T13" fmla="*/ 4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48">
                  <a:moveTo>
                    <a:pt x="13" y="47"/>
                  </a:moveTo>
                  <a:cubicBezTo>
                    <a:pt x="3" y="44"/>
                    <a:pt x="9" y="41"/>
                    <a:pt x="8" y="33"/>
                  </a:cubicBezTo>
                  <a:cubicBezTo>
                    <a:pt x="6" y="26"/>
                    <a:pt x="0" y="19"/>
                    <a:pt x="0" y="14"/>
                  </a:cubicBezTo>
                  <a:cubicBezTo>
                    <a:pt x="1" y="0"/>
                    <a:pt x="19" y="1"/>
                    <a:pt x="30" y="5"/>
                  </a:cubicBezTo>
                  <a:cubicBezTo>
                    <a:pt x="32" y="6"/>
                    <a:pt x="34" y="9"/>
                    <a:pt x="36" y="12"/>
                  </a:cubicBezTo>
                  <a:cubicBezTo>
                    <a:pt x="41" y="19"/>
                    <a:pt x="47" y="30"/>
                    <a:pt x="39" y="38"/>
                  </a:cubicBezTo>
                  <a:cubicBezTo>
                    <a:pt x="32" y="45"/>
                    <a:pt x="21" y="48"/>
                    <a:pt x="13" y="4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5" name="Freeform 122"/>
            <p:cNvSpPr/>
            <p:nvPr/>
          </p:nvSpPr>
          <p:spPr bwMode="auto">
            <a:xfrm>
              <a:off x="8397875" y="1892300"/>
              <a:ext cx="536575" cy="554038"/>
            </a:xfrm>
            <a:custGeom>
              <a:avLst/>
              <a:gdLst>
                <a:gd name="T0" fmla="*/ 44 w 169"/>
                <a:gd name="T1" fmla="*/ 174 h 174"/>
                <a:gd name="T2" fmla="*/ 43 w 169"/>
                <a:gd name="T3" fmla="*/ 173 h 174"/>
                <a:gd name="T4" fmla="*/ 43 w 169"/>
                <a:gd name="T5" fmla="*/ 170 h 174"/>
                <a:gd name="T6" fmla="*/ 72 w 169"/>
                <a:gd name="T7" fmla="*/ 151 h 174"/>
                <a:gd name="T8" fmla="*/ 89 w 169"/>
                <a:gd name="T9" fmla="*/ 129 h 174"/>
                <a:gd name="T10" fmla="*/ 33 w 169"/>
                <a:gd name="T11" fmla="*/ 150 h 174"/>
                <a:gd name="T12" fmla="*/ 11 w 169"/>
                <a:gd name="T13" fmla="*/ 140 h 174"/>
                <a:gd name="T14" fmla="*/ 11 w 169"/>
                <a:gd name="T15" fmla="*/ 139 h 174"/>
                <a:gd name="T16" fmla="*/ 11 w 169"/>
                <a:gd name="T17" fmla="*/ 120 h 174"/>
                <a:gd name="T18" fmla="*/ 79 w 169"/>
                <a:gd name="T19" fmla="*/ 104 h 174"/>
                <a:gd name="T20" fmla="*/ 98 w 169"/>
                <a:gd name="T21" fmla="*/ 94 h 174"/>
                <a:gd name="T22" fmla="*/ 101 w 169"/>
                <a:gd name="T23" fmla="*/ 18 h 174"/>
                <a:gd name="T24" fmla="*/ 130 w 169"/>
                <a:gd name="T25" fmla="*/ 21 h 174"/>
                <a:gd name="T26" fmla="*/ 135 w 169"/>
                <a:gd name="T27" fmla="*/ 27 h 174"/>
                <a:gd name="T28" fmla="*/ 136 w 169"/>
                <a:gd name="T29" fmla="*/ 27 h 174"/>
                <a:gd name="T30" fmla="*/ 135 w 169"/>
                <a:gd name="T31" fmla="*/ 45 h 174"/>
                <a:gd name="T32" fmla="*/ 129 w 169"/>
                <a:gd name="T33" fmla="*/ 84 h 174"/>
                <a:gd name="T34" fmla="*/ 166 w 169"/>
                <a:gd name="T35" fmla="*/ 71 h 174"/>
                <a:gd name="T36" fmla="*/ 162 w 169"/>
                <a:gd name="T37" fmla="*/ 90 h 174"/>
                <a:gd name="T38" fmla="*/ 126 w 169"/>
                <a:gd name="T39" fmla="*/ 106 h 174"/>
                <a:gd name="T40" fmla="*/ 108 w 169"/>
                <a:gd name="T41" fmla="*/ 145 h 174"/>
                <a:gd name="T42" fmla="*/ 99 w 169"/>
                <a:gd name="T43" fmla="*/ 154 h 174"/>
                <a:gd name="T44" fmla="*/ 74 w 169"/>
                <a:gd name="T45" fmla="*/ 167 h 174"/>
                <a:gd name="T46" fmla="*/ 44 w 169"/>
                <a:gd name="T47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9" h="174">
                  <a:moveTo>
                    <a:pt x="44" y="174"/>
                  </a:moveTo>
                  <a:cubicBezTo>
                    <a:pt x="43" y="174"/>
                    <a:pt x="43" y="174"/>
                    <a:pt x="43" y="173"/>
                  </a:cubicBezTo>
                  <a:cubicBezTo>
                    <a:pt x="43" y="172"/>
                    <a:pt x="43" y="171"/>
                    <a:pt x="43" y="170"/>
                  </a:cubicBezTo>
                  <a:cubicBezTo>
                    <a:pt x="46" y="169"/>
                    <a:pt x="72" y="152"/>
                    <a:pt x="72" y="151"/>
                  </a:cubicBezTo>
                  <a:cubicBezTo>
                    <a:pt x="80" y="145"/>
                    <a:pt x="87" y="139"/>
                    <a:pt x="89" y="129"/>
                  </a:cubicBezTo>
                  <a:cubicBezTo>
                    <a:pt x="70" y="135"/>
                    <a:pt x="52" y="149"/>
                    <a:pt x="33" y="150"/>
                  </a:cubicBezTo>
                  <a:cubicBezTo>
                    <a:pt x="24" y="148"/>
                    <a:pt x="18" y="143"/>
                    <a:pt x="11" y="140"/>
                  </a:cubicBezTo>
                  <a:cubicBezTo>
                    <a:pt x="11" y="140"/>
                    <a:pt x="11" y="140"/>
                    <a:pt x="11" y="139"/>
                  </a:cubicBezTo>
                  <a:cubicBezTo>
                    <a:pt x="1" y="133"/>
                    <a:pt x="0" y="124"/>
                    <a:pt x="11" y="120"/>
                  </a:cubicBezTo>
                  <a:cubicBezTo>
                    <a:pt x="31" y="124"/>
                    <a:pt x="61" y="111"/>
                    <a:pt x="79" y="104"/>
                  </a:cubicBezTo>
                  <a:cubicBezTo>
                    <a:pt x="83" y="102"/>
                    <a:pt x="95" y="98"/>
                    <a:pt x="98" y="94"/>
                  </a:cubicBezTo>
                  <a:cubicBezTo>
                    <a:pt x="103" y="68"/>
                    <a:pt x="100" y="42"/>
                    <a:pt x="101" y="18"/>
                  </a:cubicBezTo>
                  <a:cubicBezTo>
                    <a:pt x="108" y="0"/>
                    <a:pt x="119" y="12"/>
                    <a:pt x="130" y="21"/>
                  </a:cubicBezTo>
                  <a:cubicBezTo>
                    <a:pt x="131" y="22"/>
                    <a:pt x="133" y="24"/>
                    <a:pt x="135" y="27"/>
                  </a:cubicBezTo>
                  <a:cubicBezTo>
                    <a:pt x="136" y="27"/>
                    <a:pt x="136" y="27"/>
                    <a:pt x="136" y="27"/>
                  </a:cubicBezTo>
                  <a:cubicBezTo>
                    <a:pt x="141" y="35"/>
                    <a:pt x="142" y="38"/>
                    <a:pt x="135" y="45"/>
                  </a:cubicBezTo>
                  <a:cubicBezTo>
                    <a:pt x="130" y="57"/>
                    <a:pt x="128" y="70"/>
                    <a:pt x="129" y="84"/>
                  </a:cubicBezTo>
                  <a:cubicBezTo>
                    <a:pt x="142" y="82"/>
                    <a:pt x="150" y="71"/>
                    <a:pt x="166" y="71"/>
                  </a:cubicBezTo>
                  <a:cubicBezTo>
                    <a:pt x="169" y="78"/>
                    <a:pt x="169" y="84"/>
                    <a:pt x="162" y="90"/>
                  </a:cubicBezTo>
                  <a:cubicBezTo>
                    <a:pt x="151" y="95"/>
                    <a:pt x="138" y="100"/>
                    <a:pt x="126" y="106"/>
                  </a:cubicBezTo>
                  <a:cubicBezTo>
                    <a:pt x="123" y="119"/>
                    <a:pt x="117" y="135"/>
                    <a:pt x="108" y="145"/>
                  </a:cubicBezTo>
                  <a:cubicBezTo>
                    <a:pt x="107" y="147"/>
                    <a:pt x="100" y="153"/>
                    <a:pt x="99" y="154"/>
                  </a:cubicBezTo>
                  <a:cubicBezTo>
                    <a:pt x="90" y="159"/>
                    <a:pt x="83" y="165"/>
                    <a:pt x="74" y="167"/>
                  </a:cubicBezTo>
                  <a:cubicBezTo>
                    <a:pt x="49" y="174"/>
                    <a:pt x="48" y="173"/>
                    <a:pt x="44" y="17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6" name="Freeform 123"/>
            <p:cNvSpPr/>
            <p:nvPr/>
          </p:nvSpPr>
          <p:spPr bwMode="auto">
            <a:xfrm>
              <a:off x="7702550" y="2217738"/>
              <a:ext cx="319087" cy="369888"/>
            </a:xfrm>
            <a:custGeom>
              <a:avLst/>
              <a:gdLst>
                <a:gd name="T0" fmla="*/ 23 w 101"/>
                <a:gd name="T1" fmla="*/ 116 h 116"/>
                <a:gd name="T2" fmla="*/ 0 w 101"/>
                <a:gd name="T3" fmla="*/ 93 h 116"/>
                <a:gd name="T4" fmla="*/ 3 w 101"/>
                <a:gd name="T5" fmla="*/ 86 h 116"/>
                <a:gd name="T6" fmla="*/ 66 w 101"/>
                <a:gd name="T7" fmla="*/ 35 h 116"/>
                <a:gd name="T8" fmla="*/ 87 w 101"/>
                <a:gd name="T9" fmla="*/ 7 h 116"/>
                <a:gd name="T10" fmla="*/ 88 w 101"/>
                <a:gd name="T11" fmla="*/ 7 h 116"/>
                <a:gd name="T12" fmla="*/ 88 w 101"/>
                <a:gd name="T13" fmla="*/ 6 h 116"/>
                <a:gd name="T14" fmla="*/ 100 w 101"/>
                <a:gd name="T15" fmla="*/ 7 h 116"/>
                <a:gd name="T16" fmla="*/ 87 w 101"/>
                <a:gd name="T17" fmla="*/ 25 h 116"/>
                <a:gd name="T18" fmla="*/ 72 w 101"/>
                <a:gd name="T19" fmla="*/ 58 h 116"/>
                <a:gd name="T20" fmla="*/ 63 w 101"/>
                <a:gd name="T21" fmla="*/ 71 h 116"/>
                <a:gd name="T22" fmla="*/ 47 w 101"/>
                <a:gd name="T23" fmla="*/ 95 h 116"/>
                <a:gd name="T24" fmla="*/ 28 w 101"/>
                <a:gd name="T25" fmla="*/ 115 h 116"/>
                <a:gd name="T26" fmla="*/ 23 w 10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16">
                  <a:moveTo>
                    <a:pt x="23" y="116"/>
                  </a:moveTo>
                  <a:cubicBezTo>
                    <a:pt x="14" y="111"/>
                    <a:pt x="5" y="100"/>
                    <a:pt x="0" y="93"/>
                  </a:cubicBezTo>
                  <a:cubicBezTo>
                    <a:pt x="1" y="91"/>
                    <a:pt x="2" y="88"/>
                    <a:pt x="3" y="86"/>
                  </a:cubicBezTo>
                  <a:cubicBezTo>
                    <a:pt x="25" y="70"/>
                    <a:pt x="47" y="55"/>
                    <a:pt x="66" y="35"/>
                  </a:cubicBezTo>
                  <a:cubicBezTo>
                    <a:pt x="72" y="26"/>
                    <a:pt x="80" y="16"/>
                    <a:pt x="87" y="7"/>
                  </a:cubicBezTo>
                  <a:cubicBezTo>
                    <a:pt x="87" y="7"/>
                    <a:pt x="87" y="7"/>
                    <a:pt x="88" y="7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93" y="1"/>
                    <a:pt x="96" y="0"/>
                    <a:pt x="100" y="7"/>
                  </a:cubicBezTo>
                  <a:cubicBezTo>
                    <a:pt x="101" y="13"/>
                    <a:pt x="90" y="20"/>
                    <a:pt x="87" y="25"/>
                  </a:cubicBezTo>
                  <a:cubicBezTo>
                    <a:pt x="82" y="36"/>
                    <a:pt x="78" y="47"/>
                    <a:pt x="72" y="58"/>
                  </a:cubicBezTo>
                  <a:cubicBezTo>
                    <a:pt x="70" y="60"/>
                    <a:pt x="70" y="60"/>
                    <a:pt x="63" y="71"/>
                  </a:cubicBezTo>
                  <a:cubicBezTo>
                    <a:pt x="58" y="76"/>
                    <a:pt x="50" y="88"/>
                    <a:pt x="47" y="95"/>
                  </a:cubicBezTo>
                  <a:cubicBezTo>
                    <a:pt x="40" y="99"/>
                    <a:pt x="37" y="111"/>
                    <a:pt x="28" y="115"/>
                  </a:cubicBezTo>
                  <a:cubicBezTo>
                    <a:pt x="27" y="115"/>
                    <a:pt x="25" y="115"/>
                    <a:pt x="23" y="116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7" name="Freeform 124"/>
            <p:cNvSpPr/>
            <p:nvPr/>
          </p:nvSpPr>
          <p:spPr bwMode="auto">
            <a:xfrm>
              <a:off x="8104188" y="2205038"/>
              <a:ext cx="180975" cy="136525"/>
            </a:xfrm>
            <a:custGeom>
              <a:avLst/>
              <a:gdLst>
                <a:gd name="T0" fmla="*/ 25 w 57"/>
                <a:gd name="T1" fmla="*/ 43 h 43"/>
                <a:gd name="T2" fmla="*/ 0 w 57"/>
                <a:gd name="T3" fmla="*/ 26 h 43"/>
                <a:gd name="T4" fmla="*/ 3 w 57"/>
                <a:gd name="T5" fmla="*/ 18 h 43"/>
                <a:gd name="T6" fmla="*/ 8 w 57"/>
                <a:gd name="T7" fmla="*/ 16 h 43"/>
                <a:gd name="T8" fmla="*/ 22 w 57"/>
                <a:gd name="T9" fmla="*/ 15 h 43"/>
                <a:gd name="T10" fmla="*/ 56 w 57"/>
                <a:gd name="T11" fmla="*/ 6 h 43"/>
                <a:gd name="T12" fmla="*/ 25 w 57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3">
                  <a:moveTo>
                    <a:pt x="25" y="43"/>
                  </a:moveTo>
                  <a:cubicBezTo>
                    <a:pt x="12" y="43"/>
                    <a:pt x="8" y="34"/>
                    <a:pt x="0" y="26"/>
                  </a:cubicBezTo>
                  <a:cubicBezTo>
                    <a:pt x="0" y="23"/>
                    <a:pt x="2" y="21"/>
                    <a:pt x="3" y="18"/>
                  </a:cubicBezTo>
                  <a:cubicBezTo>
                    <a:pt x="6" y="17"/>
                    <a:pt x="6" y="17"/>
                    <a:pt x="8" y="16"/>
                  </a:cubicBezTo>
                  <a:cubicBezTo>
                    <a:pt x="14" y="15"/>
                    <a:pt x="16" y="16"/>
                    <a:pt x="22" y="15"/>
                  </a:cubicBezTo>
                  <a:cubicBezTo>
                    <a:pt x="30" y="13"/>
                    <a:pt x="49" y="0"/>
                    <a:pt x="56" y="6"/>
                  </a:cubicBezTo>
                  <a:cubicBezTo>
                    <a:pt x="57" y="22"/>
                    <a:pt x="39" y="39"/>
                    <a:pt x="25" y="4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8" name="Freeform 125"/>
            <p:cNvSpPr/>
            <p:nvPr/>
          </p:nvSpPr>
          <p:spPr bwMode="auto">
            <a:xfrm>
              <a:off x="7834313" y="2122488"/>
              <a:ext cx="120650" cy="136525"/>
            </a:xfrm>
            <a:custGeom>
              <a:avLst/>
              <a:gdLst>
                <a:gd name="T0" fmla="*/ 7 w 38"/>
                <a:gd name="T1" fmla="*/ 43 h 43"/>
                <a:gd name="T2" fmla="*/ 0 w 38"/>
                <a:gd name="T3" fmla="*/ 12 h 43"/>
                <a:gd name="T4" fmla="*/ 25 w 38"/>
                <a:gd name="T5" fmla="*/ 7 h 43"/>
                <a:gd name="T6" fmla="*/ 30 w 38"/>
                <a:gd name="T7" fmla="*/ 33 h 43"/>
                <a:gd name="T8" fmla="*/ 7 w 38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7" y="43"/>
                  </a:moveTo>
                  <a:cubicBezTo>
                    <a:pt x="1" y="39"/>
                    <a:pt x="0" y="18"/>
                    <a:pt x="0" y="12"/>
                  </a:cubicBezTo>
                  <a:cubicBezTo>
                    <a:pt x="4" y="0"/>
                    <a:pt x="16" y="0"/>
                    <a:pt x="25" y="7"/>
                  </a:cubicBezTo>
                  <a:cubicBezTo>
                    <a:pt x="33" y="17"/>
                    <a:pt x="38" y="22"/>
                    <a:pt x="30" y="33"/>
                  </a:cubicBezTo>
                  <a:cubicBezTo>
                    <a:pt x="21" y="41"/>
                    <a:pt x="17" y="42"/>
                    <a:pt x="7" y="4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9" name="Freeform 126"/>
            <p:cNvSpPr/>
            <p:nvPr/>
          </p:nvSpPr>
          <p:spPr bwMode="auto">
            <a:xfrm>
              <a:off x="8101013" y="2030413"/>
              <a:ext cx="209550" cy="196850"/>
            </a:xfrm>
            <a:custGeom>
              <a:avLst/>
              <a:gdLst>
                <a:gd name="T0" fmla="*/ 22 w 66"/>
                <a:gd name="T1" fmla="*/ 62 h 62"/>
                <a:gd name="T2" fmla="*/ 27 w 66"/>
                <a:gd name="T3" fmla="*/ 39 h 62"/>
                <a:gd name="T4" fmla="*/ 17 w 66"/>
                <a:gd name="T5" fmla="*/ 41 h 62"/>
                <a:gd name="T6" fmla="*/ 3 w 66"/>
                <a:gd name="T7" fmla="*/ 20 h 62"/>
                <a:gd name="T8" fmla="*/ 16 w 66"/>
                <a:gd name="T9" fmla="*/ 14 h 62"/>
                <a:gd name="T10" fmla="*/ 43 w 66"/>
                <a:gd name="T11" fmla="*/ 2 h 62"/>
                <a:gd name="T12" fmla="*/ 66 w 66"/>
                <a:gd name="T13" fmla="*/ 23 h 62"/>
                <a:gd name="T14" fmla="*/ 51 w 66"/>
                <a:gd name="T15" fmla="*/ 47 h 62"/>
                <a:gd name="T16" fmla="*/ 28 w 66"/>
                <a:gd name="T17" fmla="*/ 61 h 62"/>
                <a:gd name="T18" fmla="*/ 22 w 66"/>
                <a:gd name="T1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" h="62">
                  <a:moveTo>
                    <a:pt x="22" y="62"/>
                  </a:moveTo>
                  <a:cubicBezTo>
                    <a:pt x="21" y="56"/>
                    <a:pt x="30" y="43"/>
                    <a:pt x="27" y="39"/>
                  </a:cubicBezTo>
                  <a:cubicBezTo>
                    <a:pt x="24" y="40"/>
                    <a:pt x="21" y="41"/>
                    <a:pt x="17" y="41"/>
                  </a:cubicBezTo>
                  <a:cubicBezTo>
                    <a:pt x="9" y="37"/>
                    <a:pt x="0" y="27"/>
                    <a:pt x="3" y="20"/>
                  </a:cubicBezTo>
                  <a:cubicBezTo>
                    <a:pt x="9" y="13"/>
                    <a:pt x="7" y="15"/>
                    <a:pt x="16" y="14"/>
                  </a:cubicBezTo>
                  <a:cubicBezTo>
                    <a:pt x="25" y="10"/>
                    <a:pt x="34" y="6"/>
                    <a:pt x="43" y="2"/>
                  </a:cubicBezTo>
                  <a:cubicBezTo>
                    <a:pt x="58" y="0"/>
                    <a:pt x="65" y="8"/>
                    <a:pt x="66" y="23"/>
                  </a:cubicBezTo>
                  <a:cubicBezTo>
                    <a:pt x="64" y="32"/>
                    <a:pt x="57" y="40"/>
                    <a:pt x="51" y="47"/>
                  </a:cubicBezTo>
                  <a:cubicBezTo>
                    <a:pt x="43" y="52"/>
                    <a:pt x="36" y="57"/>
                    <a:pt x="28" y="61"/>
                  </a:cubicBezTo>
                  <a:cubicBezTo>
                    <a:pt x="26" y="62"/>
                    <a:pt x="24" y="62"/>
                    <a:pt x="22" y="62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0" name="Freeform 127"/>
            <p:cNvSpPr/>
            <p:nvPr/>
          </p:nvSpPr>
          <p:spPr bwMode="auto">
            <a:xfrm>
              <a:off x="7894638" y="1949450"/>
              <a:ext cx="130175" cy="144463"/>
            </a:xfrm>
            <a:custGeom>
              <a:avLst/>
              <a:gdLst>
                <a:gd name="T0" fmla="*/ 5 w 41"/>
                <a:gd name="T1" fmla="*/ 45 h 45"/>
                <a:gd name="T2" fmla="*/ 5 w 41"/>
                <a:gd name="T3" fmla="*/ 37 h 45"/>
                <a:gd name="T4" fmla="*/ 0 w 41"/>
                <a:gd name="T5" fmla="*/ 20 h 45"/>
                <a:gd name="T6" fmla="*/ 9 w 41"/>
                <a:gd name="T7" fmla="*/ 0 h 45"/>
                <a:gd name="T8" fmla="*/ 35 w 41"/>
                <a:gd name="T9" fmla="*/ 29 h 45"/>
                <a:gd name="T10" fmla="*/ 5 w 41"/>
                <a:gd name="T11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45">
                  <a:moveTo>
                    <a:pt x="5" y="45"/>
                  </a:moveTo>
                  <a:cubicBezTo>
                    <a:pt x="2" y="42"/>
                    <a:pt x="3" y="40"/>
                    <a:pt x="5" y="37"/>
                  </a:cubicBezTo>
                  <a:cubicBezTo>
                    <a:pt x="4" y="31"/>
                    <a:pt x="0" y="26"/>
                    <a:pt x="0" y="20"/>
                  </a:cubicBezTo>
                  <a:cubicBezTo>
                    <a:pt x="2" y="9"/>
                    <a:pt x="0" y="5"/>
                    <a:pt x="9" y="0"/>
                  </a:cubicBezTo>
                  <a:cubicBezTo>
                    <a:pt x="16" y="3"/>
                    <a:pt x="41" y="16"/>
                    <a:pt x="35" y="29"/>
                  </a:cubicBezTo>
                  <a:cubicBezTo>
                    <a:pt x="28" y="38"/>
                    <a:pt x="15" y="43"/>
                    <a:pt x="5" y="4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1" name="Freeform 128"/>
            <p:cNvSpPr/>
            <p:nvPr/>
          </p:nvSpPr>
          <p:spPr bwMode="auto">
            <a:xfrm>
              <a:off x="6815138" y="1990725"/>
              <a:ext cx="817562" cy="628650"/>
            </a:xfrm>
            <a:custGeom>
              <a:avLst/>
              <a:gdLst>
                <a:gd name="T0" fmla="*/ 27 w 258"/>
                <a:gd name="T1" fmla="*/ 197 h 197"/>
                <a:gd name="T2" fmla="*/ 17 w 258"/>
                <a:gd name="T3" fmla="*/ 155 h 197"/>
                <a:gd name="T4" fmla="*/ 22 w 258"/>
                <a:gd name="T5" fmla="*/ 149 h 197"/>
                <a:gd name="T6" fmla="*/ 22 w 258"/>
                <a:gd name="T7" fmla="*/ 148 h 197"/>
                <a:gd name="T8" fmla="*/ 57 w 258"/>
                <a:gd name="T9" fmla="*/ 100 h 197"/>
                <a:gd name="T10" fmla="*/ 69 w 258"/>
                <a:gd name="T11" fmla="*/ 87 h 197"/>
                <a:gd name="T12" fmla="*/ 70 w 258"/>
                <a:gd name="T13" fmla="*/ 102 h 197"/>
                <a:gd name="T14" fmla="*/ 80 w 258"/>
                <a:gd name="T15" fmla="*/ 101 h 197"/>
                <a:gd name="T16" fmla="*/ 112 w 258"/>
                <a:gd name="T17" fmla="*/ 76 h 197"/>
                <a:gd name="T18" fmla="*/ 114 w 258"/>
                <a:gd name="T19" fmla="*/ 63 h 197"/>
                <a:gd name="T20" fmla="*/ 90 w 258"/>
                <a:gd name="T21" fmla="*/ 57 h 197"/>
                <a:gd name="T22" fmla="*/ 116 w 258"/>
                <a:gd name="T23" fmla="*/ 38 h 197"/>
                <a:gd name="T24" fmla="*/ 121 w 258"/>
                <a:gd name="T25" fmla="*/ 11 h 197"/>
                <a:gd name="T26" fmla="*/ 144 w 258"/>
                <a:gd name="T27" fmla="*/ 29 h 197"/>
                <a:gd name="T28" fmla="*/ 145 w 258"/>
                <a:gd name="T29" fmla="*/ 48 h 197"/>
                <a:gd name="T30" fmla="*/ 142 w 258"/>
                <a:gd name="T31" fmla="*/ 60 h 197"/>
                <a:gd name="T32" fmla="*/ 146 w 258"/>
                <a:gd name="T33" fmla="*/ 60 h 197"/>
                <a:gd name="T34" fmla="*/ 172 w 258"/>
                <a:gd name="T35" fmla="*/ 42 h 197"/>
                <a:gd name="T36" fmla="*/ 184 w 258"/>
                <a:gd name="T37" fmla="*/ 6 h 197"/>
                <a:gd name="T38" fmla="*/ 214 w 258"/>
                <a:gd name="T39" fmla="*/ 14 h 197"/>
                <a:gd name="T40" fmla="*/ 232 w 258"/>
                <a:gd name="T41" fmla="*/ 6 h 197"/>
                <a:gd name="T42" fmla="*/ 239 w 258"/>
                <a:gd name="T43" fmla="*/ 5 h 197"/>
                <a:gd name="T44" fmla="*/ 242 w 258"/>
                <a:gd name="T45" fmla="*/ 17 h 197"/>
                <a:gd name="T46" fmla="*/ 206 w 258"/>
                <a:gd name="T47" fmla="*/ 51 h 197"/>
                <a:gd name="T48" fmla="*/ 218 w 258"/>
                <a:gd name="T49" fmla="*/ 38 h 197"/>
                <a:gd name="T50" fmla="*/ 250 w 258"/>
                <a:gd name="T51" fmla="*/ 45 h 197"/>
                <a:gd name="T52" fmla="*/ 242 w 258"/>
                <a:gd name="T53" fmla="*/ 66 h 197"/>
                <a:gd name="T54" fmla="*/ 239 w 258"/>
                <a:gd name="T55" fmla="*/ 70 h 197"/>
                <a:gd name="T56" fmla="*/ 239 w 258"/>
                <a:gd name="T57" fmla="*/ 121 h 197"/>
                <a:gd name="T58" fmla="*/ 227 w 258"/>
                <a:gd name="T59" fmla="*/ 140 h 197"/>
                <a:gd name="T60" fmla="*/ 227 w 258"/>
                <a:gd name="T61" fmla="*/ 141 h 197"/>
                <a:gd name="T62" fmla="*/ 226 w 258"/>
                <a:gd name="T63" fmla="*/ 141 h 197"/>
                <a:gd name="T64" fmla="*/ 207 w 258"/>
                <a:gd name="T65" fmla="*/ 148 h 197"/>
                <a:gd name="T66" fmla="*/ 208 w 258"/>
                <a:gd name="T67" fmla="*/ 75 h 197"/>
                <a:gd name="T68" fmla="*/ 206 w 258"/>
                <a:gd name="T69" fmla="*/ 76 h 197"/>
                <a:gd name="T70" fmla="*/ 183 w 258"/>
                <a:gd name="T71" fmla="*/ 117 h 197"/>
                <a:gd name="T72" fmla="*/ 163 w 258"/>
                <a:gd name="T73" fmla="*/ 104 h 197"/>
                <a:gd name="T74" fmla="*/ 168 w 258"/>
                <a:gd name="T75" fmla="*/ 99 h 197"/>
                <a:gd name="T76" fmla="*/ 171 w 258"/>
                <a:gd name="T77" fmla="*/ 58 h 197"/>
                <a:gd name="T78" fmla="*/ 145 w 258"/>
                <a:gd name="T79" fmla="*/ 83 h 197"/>
                <a:gd name="T80" fmla="*/ 134 w 258"/>
                <a:gd name="T81" fmla="*/ 92 h 197"/>
                <a:gd name="T82" fmla="*/ 127 w 258"/>
                <a:gd name="T83" fmla="*/ 120 h 197"/>
                <a:gd name="T84" fmla="*/ 121 w 258"/>
                <a:gd name="T85" fmla="*/ 133 h 197"/>
                <a:gd name="T86" fmla="*/ 120 w 258"/>
                <a:gd name="T87" fmla="*/ 133 h 197"/>
                <a:gd name="T88" fmla="*/ 98 w 258"/>
                <a:gd name="T89" fmla="*/ 145 h 197"/>
                <a:gd name="T90" fmla="*/ 98 w 258"/>
                <a:gd name="T91" fmla="*/ 141 h 197"/>
                <a:gd name="T92" fmla="*/ 108 w 258"/>
                <a:gd name="T93" fmla="*/ 111 h 197"/>
                <a:gd name="T94" fmla="*/ 83 w 258"/>
                <a:gd name="T95" fmla="*/ 123 h 197"/>
                <a:gd name="T96" fmla="*/ 69 w 258"/>
                <a:gd name="T97" fmla="*/ 119 h 197"/>
                <a:gd name="T98" fmla="*/ 69 w 258"/>
                <a:gd name="T99" fmla="*/ 117 h 197"/>
                <a:gd name="T100" fmla="*/ 63 w 258"/>
                <a:gd name="T101" fmla="*/ 115 h 197"/>
                <a:gd name="T102" fmla="*/ 58 w 258"/>
                <a:gd name="T103" fmla="*/ 131 h 197"/>
                <a:gd name="T104" fmla="*/ 35 w 258"/>
                <a:gd name="T105" fmla="*/ 192 h 197"/>
                <a:gd name="T106" fmla="*/ 27 w 258"/>
                <a:gd name="T107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8" h="197">
                  <a:moveTo>
                    <a:pt x="27" y="197"/>
                  </a:moveTo>
                  <a:cubicBezTo>
                    <a:pt x="12" y="191"/>
                    <a:pt x="0" y="162"/>
                    <a:pt x="17" y="155"/>
                  </a:cubicBezTo>
                  <a:cubicBezTo>
                    <a:pt x="18" y="153"/>
                    <a:pt x="20" y="150"/>
                    <a:pt x="22" y="149"/>
                  </a:cubicBezTo>
                  <a:cubicBezTo>
                    <a:pt x="22" y="149"/>
                    <a:pt x="22" y="149"/>
                    <a:pt x="22" y="148"/>
                  </a:cubicBezTo>
                  <a:cubicBezTo>
                    <a:pt x="36" y="135"/>
                    <a:pt x="46" y="115"/>
                    <a:pt x="57" y="100"/>
                  </a:cubicBezTo>
                  <a:cubicBezTo>
                    <a:pt x="61" y="94"/>
                    <a:pt x="62" y="89"/>
                    <a:pt x="69" y="87"/>
                  </a:cubicBezTo>
                  <a:cubicBezTo>
                    <a:pt x="72" y="90"/>
                    <a:pt x="71" y="97"/>
                    <a:pt x="70" y="102"/>
                  </a:cubicBezTo>
                  <a:cubicBezTo>
                    <a:pt x="71" y="103"/>
                    <a:pt x="77" y="102"/>
                    <a:pt x="80" y="101"/>
                  </a:cubicBezTo>
                  <a:cubicBezTo>
                    <a:pt x="89" y="93"/>
                    <a:pt x="102" y="85"/>
                    <a:pt x="112" y="76"/>
                  </a:cubicBezTo>
                  <a:cubicBezTo>
                    <a:pt x="113" y="72"/>
                    <a:pt x="113" y="67"/>
                    <a:pt x="114" y="63"/>
                  </a:cubicBezTo>
                  <a:cubicBezTo>
                    <a:pt x="107" y="65"/>
                    <a:pt x="84" y="70"/>
                    <a:pt x="90" y="57"/>
                  </a:cubicBezTo>
                  <a:cubicBezTo>
                    <a:pt x="98" y="54"/>
                    <a:pt x="111" y="47"/>
                    <a:pt x="116" y="38"/>
                  </a:cubicBezTo>
                  <a:cubicBezTo>
                    <a:pt x="118" y="28"/>
                    <a:pt x="117" y="18"/>
                    <a:pt x="121" y="11"/>
                  </a:cubicBezTo>
                  <a:cubicBezTo>
                    <a:pt x="131" y="6"/>
                    <a:pt x="142" y="18"/>
                    <a:pt x="144" y="29"/>
                  </a:cubicBezTo>
                  <a:cubicBezTo>
                    <a:pt x="148" y="35"/>
                    <a:pt x="160" y="27"/>
                    <a:pt x="145" y="48"/>
                  </a:cubicBezTo>
                  <a:cubicBezTo>
                    <a:pt x="142" y="50"/>
                    <a:pt x="142" y="55"/>
                    <a:pt x="142" y="60"/>
                  </a:cubicBezTo>
                  <a:cubicBezTo>
                    <a:pt x="144" y="60"/>
                    <a:pt x="145" y="60"/>
                    <a:pt x="146" y="60"/>
                  </a:cubicBezTo>
                  <a:cubicBezTo>
                    <a:pt x="154" y="54"/>
                    <a:pt x="163" y="47"/>
                    <a:pt x="172" y="42"/>
                  </a:cubicBezTo>
                  <a:cubicBezTo>
                    <a:pt x="175" y="29"/>
                    <a:pt x="177" y="17"/>
                    <a:pt x="184" y="6"/>
                  </a:cubicBezTo>
                  <a:cubicBezTo>
                    <a:pt x="193" y="0"/>
                    <a:pt x="205" y="7"/>
                    <a:pt x="214" y="14"/>
                  </a:cubicBezTo>
                  <a:cubicBezTo>
                    <a:pt x="221" y="14"/>
                    <a:pt x="226" y="11"/>
                    <a:pt x="232" y="6"/>
                  </a:cubicBezTo>
                  <a:cubicBezTo>
                    <a:pt x="234" y="5"/>
                    <a:pt x="234" y="5"/>
                    <a:pt x="239" y="5"/>
                  </a:cubicBezTo>
                  <a:cubicBezTo>
                    <a:pt x="241" y="9"/>
                    <a:pt x="242" y="12"/>
                    <a:pt x="242" y="17"/>
                  </a:cubicBezTo>
                  <a:cubicBezTo>
                    <a:pt x="237" y="30"/>
                    <a:pt x="198" y="35"/>
                    <a:pt x="206" y="51"/>
                  </a:cubicBezTo>
                  <a:cubicBezTo>
                    <a:pt x="213" y="50"/>
                    <a:pt x="215" y="43"/>
                    <a:pt x="218" y="38"/>
                  </a:cubicBezTo>
                  <a:cubicBezTo>
                    <a:pt x="225" y="34"/>
                    <a:pt x="242" y="39"/>
                    <a:pt x="250" y="45"/>
                  </a:cubicBezTo>
                  <a:cubicBezTo>
                    <a:pt x="258" y="55"/>
                    <a:pt x="252" y="59"/>
                    <a:pt x="242" y="66"/>
                  </a:cubicBezTo>
                  <a:cubicBezTo>
                    <a:pt x="241" y="67"/>
                    <a:pt x="240" y="69"/>
                    <a:pt x="239" y="70"/>
                  </a:cubicBezTo>
                  <a:cubicBezTo>
                    <a:pt x="238" y="92"/>
                    <a:pt x="238" y="92"/>
                    <a:pt x="239" y="121"/>
                  </a:cubicBezTo>
                  <a:cubicBezTo>
                    <a:pt x="235" y="129"/>
                    <a:pt x="233" y="133"/>
                    <a:pt x="227" y="140"/>
                  </a:cubicBezTo>
                  <a:cubicBezTo>
                    <a:pt x="227" y="140"/>
                    <a:pt x="227" y="140"/>
                    <a:pt x="227" y="141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2" y="147"/>
                    <a:pt x="213" y="154"/>
                    <a:pt x="207" y="148"/>
                  </a:cubicBezTo>
                  <a:cubicBezTo>
                    <a:pt x="207" y="123"/>
                    <a:pt x="208" y="98"/>
                    <a:pt x="208" y="75"/>
                  </a:cubicBezTo>
                  <a:cubicBezTo>
                    <a:pt x="207" y="75"/>
                    <a:pt x="207" y="76"/>
                    <a:pt x="206" y="76"/>
                  </a:cubicBezTo>
                  <a:cubicBezTo>
                    <a:pt x="205" y="87"/>
                    <a:pt x="193" y="110"/>
                    <a:pt x="183" y="117"/>
                  </a:cubicBezTo>
                  <a:cubicBezTo>
                    <a:pt x="173" y="117"/>
                    <a:pt x="166" y="112"/>
                    <a:pt x="163" y="104"/>
                  </a:cubicBezTo>
                  <a:cubicBezTo>
                    <a:pt x="164" y="102"/>
                    <a:pt x="166" y="101"/>
                    <a:pt x="168" y="99"/>
                  </a:cubicBezTo>
                  <a:cubicBezTo>
                    <a:pt x="173" y="89"/>
                    <a:pt x="171" y="69"/>
                    <a:pt x="171" y="58"/>
                  </a:cubicBezTo>
                  <a:cubicBezTo>
                    <a:pt x="164" y="60"/>
                    <a:pt x="151" y="77"/>
                    <a:pt x="145" y="83"/>
                  </a:cubicBezTo>
                  <a:cubicBezTo>
                    <a:pt x="142" y="86"/>
                    <a:pt x="138" y="89"/>
                    <a:pt x="134" y="92"/>
                  </a:cubicBezTo>
                  <a:cubicBezTo>
                    <a:pt x="131" y="101"/>
                    <a:pt x="129" y="110"/>
                    <a:pt x="127" y="120"/>
                  </a:cubicBezTo>
                  <a:cubicBezTo>
                    <a:pt x="125" y="124"/>
                    <a:pt x="123" y="128"/>
                    <a:pt x="121" y="133"/>
                  </a:cubicBezTo>
                  <a:cubicBezTo>
                    <a:pt x="120" y="133"/>
                    <a:pt x="120" y="133"/>
                    <a:pt x="120" y="133"/>
                  </a:cubicBezTo>
                  <a:cubicBezTo>
                    <a:pt x="116" y="139"/>
                    <a:pt x="105" y="154"/>
                    <a:pt x="98" y="145"/>
                  </a:cubicBezTo>
                  <a:cubicBezTo>
                    <a:pt x="98" y="143"/>
                    <a:pt x="98" y="142"/>
                    <a:pt x="98" y="141"/>
                  </a:cubicBezTo>
                  <a:cubicBezTo>
                    <a:pt x="104" y="132"/>
                    <a:pt x="108" y="121"/>
                    <a:pt x="108" y="111"/>
                  </a:cubicBezTo>
                  <a:cubicBezTo>
                    <a:pt x="99" y="114"/>
                    <a:pt x="93" y="122"/>
                    <a:pt x="83" y="123"/>
                  </a:cubicBezTo>
                  <a:cubicBezTo>
                    <a:pt x="78" y="122"/>
                    <a:pt x="73" y="120"/>
                    <a:pt x="69" y="119"/>
                  </a:cubicBezTo>
                  <a:cubicBezTo>
                    <a:pt x="69" y="118"/>
                    <a:pt x="69" y="118"/>
                    <a:pt x="69" y="117"/>
                  </a:cubicBezTo>
                  <a:cubicBezTo>
                    <a:pt x="67" y="116"/>
                    <a:pt x="65" y="114"/>
                    <a:pt x="63" y="115"/>
                  </a:cubicBezTo>
                  <a:cubicBezTo>
                    <a:pt x="61" y="120"/>
                    <a:pt x="60" y="125"/>
                    <a:pt x="58" y="131"/>
                  </a:cubicBezTo>
                  <a:cubicBezTo>
                    <a:pt x="49" y="150"/>
                    <a:pt x="42" y="170"/>
                    <a:pt x="35" y="192"/>
                  </a:cubicBezTo>
                  <a:cubicBezTo>
                    <a:pt x="32" y="196"/>
                    <a:pt x="31" y="196"/>
                    <a:pt x="27" y="19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2" name="Freeform 129"/>
            <p:cNvSpPr/>
            <p:nvPr/>
          </p:nvSpPr>
          <p:spPr bwMode="auto">
            <a:xfrm>
              <a:off x="6935788" y="2093913"/>
              <a:ext cx="127000" cy="158750"/>
            </a:xfrm>
            <a:custGeom>
              <a:avLst/>
              <a:gdLst>
                <a:gd name="T0" fmla="*/ 7 w 40"/>
                <a:gd name="T1" fmla="*/ 50 h 50"/>
                <a:gd name="T2" fmla="*/ 8 w 40"/>
                <a:gd name="T3" fmla="*/ 35 h 50"/>
                <a:gd name="T4" fmla="*/ 9 w 40"/>
                <a:gd name="T5" fmla="*/ 0 h 50"/>
                <a:gd name="T6" fmla="*/ 13 w 40"/>
                <a:gd name="T7" fmla="*/ 0 h 50"/>
                <a:gd name="T8" fmla="*/ 34 w 40"/>
                <a:gd name="T9" fmla="*/ 21 h 50"/>
                <a:gd name="T10" fmla="*/ 7 w 40"/>
                <a:gd name="T11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50">
                  <a:moveTo>
                    <a:pt x="7" y="50"/>
                  </a:moveTo>
                  <a:cubicBezTo>
                    <a:pt x="4" y="46"/>
                    <a:pt x="8" y="40"/>
                    <a:pt x="8" y="35"/>
                  </a:cubicBezTo>
                  <a:cubicBezTo>
                    <a:pt x="4" y="22"/>
                    <a:pt x="0" y="12"/>
                    <a:pt x="9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9" y="4"/>
                    <a:pt x="28" y="14"/>
                    <a:pt x="34" y="21"/>
                  </a:cubicBezTo>
                  <a:cubicBezTo>
                    <a:pt x="40" y="38"/>
                    <a:pt x="19" y="45"/>
                    <a:pt x="7" y="5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3" name="Freeform 130"/>
            <p:cNvSpPr/>
            <p:nvPr/>
          </p:nvSpPr>
          <p:spPr bwMode="auto">
            <a:xfrm>
              <a:off x="6970713" y="1920875"/>
              <a:ext cx="152400" cy="163513"/>
            </a:xfrm>
            <a:custGeom>
              <a:avLst/>
              <a:gdLst>
                <a:gd name="T0" fmla="*/ 9 w 48"/>
                <a:gd name="T1" fmla="*/ 51 h 51"/>
                <a:gd name="T2" fmla="*/ 5 w 48"/>
                <a:gd name="T3" fmla="*/ 48 h 51"/>
                <a:gd name="T4" fmla="*/ 8 w 48"/>
                <a:gd name="T5" fmla="*/ 39 h 51"/>
                <a:gd name="T6" fmla="*/ 15 w 48"/>
                <a:gd name="T7" fmla="*/ 0 h 51"/>
                <a:gd name="T8" fmla="*/ 21 w 48"/>
                <a:gd name="T9" fmla="*/ 10 h 51"/>
                <a:gd name="T10" fmla="*/ 31 w 48"/>
                <a:gd name="T11" fmla="*/ 43 h 51"/>
                <a:gd name="T12" fmla="*/ 9 w 48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1">
                  <a:moveTo>
                    <a:pt x="9" y="51"/>
                  </a:moveTo>
                  <a:cubicBezTo>
                    <a:pt x="6" y="50"/>
                    <a:pt x="6" y="49"/>
                    <a:pt x="5" y="48"/>
                  </a:cubicBezTo>
                  <a:cubicBezTo>
                    <a:pt x="7" y="44"/>
                    <a:pt x="9" y="42"/>
                    <a:pt x="8" y="39"/>
                  </a:cubicBezTo>
                  <a:cubicBezTo>
                    <a:pt x="0" y="26"/>
                    <a:pt x="0" y="7"/>
                    <a:pt x="15" y="0"/>
                  </a:cubicBezTo>
                  <a:cubicBezTo>
                    <a:pt x="19" y="1"/>
                    <a:pt x="19" y="4"/>
                    <a:pt x="21" y="10"/>
                  </a:cubicBezTo>
                  <a:cubicBezTo>
                    <a:pt x="30" y="19"/>
                    <a:pt x="48" y="31"/>
                    <a:pt x="31" y="43"/>
                  </a:cubicBezTo>
                  <a:cubicBezTo>
                    <a:pt x="24" y="46"/>
                    <a:pt x="16" y="48"/>
                    <a:pt x="9" y="5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4" name="Freeform 131"/>
            <p:cNvSpPr/>
            <p:nvPr/>
          </p:nvSpPr>
          <p:spPr bwMode="auto">
            <a:xfrm>
              <a:off x="9170988" y="2116138"/>
              <a:ext cx="88900" cy="127000"/>
            </a:xfrm>
            <a:custGeom>
              <a:avLst/>
              <a:gdLst>
                <a:gd name="T0" fmla="*/ 13 w 28"/>
                <a:gd name="T1" fmla="*/ 40 h 40"/>
                <a:gd name="T2" fmla="*/ 5 w 28"/>
                <a:gd name="T3" fmla="*/ 6 h 40"/>
                <a:gd name="T4" fmla="*/ 28 w 28"/>
                <a:gd name="T5" fmla="*/ 24 h 40"/>
                <a:gd name="T6" fmla="*/ 13 w 28"/>
                <a:gd name="T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0">
                  <a:moveTo>
                    <a:pt x="13" y="40"/>
                  </a:moveTo>
                  <a:cubicBezTo>
                    <a:pt x="0" y="36"/>
                    <a:pt x="3" y="14"/>
                    <a:pt x="5" y="6"/>
                  </a:cubicBezTo>
                  <a:cubicBezTo>
                    <a:pt x="14" y="0"/>
                    <a:pt x="27" y="12"/>
                    <a:pt x="28" y="24"/>
                  </a:cubicBezTo>
                  <a:cubicBezTo>
                    <a:pt x="25" y="36"/>
                    <a:pt x="25" y="38"/>
                    <a:pt x="13" y="4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5" name="Freeform 132"/>
            <p:cNvSpPr>
              <a:spLocks noEditPoints="1"/>
            </p:cNvSpPr>
            <p:nvPr/>
          </p:nvSpPr>
          <p:spPr bwMode="auto">
            <a:xfrm>
              <a:off x="9139238" y="1806575"/>
              <a:ext cx="557212" cy="755650"/>
            </a:xfrm>
            <a:custGeom>
              <a:avLst/>
              <a:gdLst>
                <a:gd name="T0" fmla="*/ 93 w 176"/>
                <a:gd name="T1" fmla="*/ 236 h 237"/>
                <a:gd name="T2" fmla="*/ 44 w 176"/>
                <a:gd name="T3" fmla="*/ 226 h 237"/>
                <a:gd name="T4" fmla="*/ 74 w 176"/>
                <a:gd name="T5" fmla="*/ 194 h 237"/>
                <a:gd name="T6" fmla="*/ 0 w 176"/>
                <a:gd name="T7" fmla="*/ 193 h 237"/>
                <a:gd name="T8" fmla="*/ 74 w 176"/>
                <a:gd name="T9" fmla="*/ 162 h 237"/>
                <a:gd name="T10" fmla="*/ 99 w 176"/>
                <a:gd name="T11" fmla="*/ 142 h 237"/>
                <a:gd name="T12" fmla="*/ 119 w 176"/>
                <a:gd name="T13" fmla="*/ 127 h 237"/>
                <a:gd name="T14" fmla="*/ 42 w 176"/>
                <a:gd name="T15" fmla="*/ 157 h 237"/>
                <a:gd name="T16" fmla="*/ 45 w 176"/>
                <a:gd name="T17" fmla="*/ 142 h 237"/>
                <a:gd name="T18" fmla="*/ 96 w 176"/>
                <a:gd name="T19" fmla="*/ 107 h 237"/>
                <a:gd name="T20" fmla="*/ 93 w 176"/>
                <a:gd name="T21" fmla="*/ 102 h 237"/>
                <a:gd name="T22" fmla="*/ 51 w 176"/>
                <a:gd name="T23" fmla="*/ 122 h 237"/>
                <a:gd name="T24" fmla="*/ 36 w 176"/>
                <a:gd name="T25" fmla="*/ 80 h 237"/>
                <a:gd name="T26" fmla="*/ 44 w 176"/>
                <a:gd name="T27" fmla="*/ 58 h 237"/>
                <a:gd name="T28" fmla="*/ 60 w 176"/>
                <a:gd name="T29" fmla="*/ 73 h 237"/>
                <a:gd name="T30" fmla="*/ 78 w 176"/>
                <a:gd name="T31" fmla="*/ 86 h 237"/>
                <a:gd name="T32" fmla="*/ 89 w 176"/>
                <a:gd name="T33" fmla="*/ 72 h 237"/>
                <a:gd name="T34" fmla="*/ 85 w 176"/>
                <a:gd name="T35" fmla="*/ 59 h 237"/>
                <a:gd name="T36" fmla="*/ 110 w 176"/>
                <a:gd name="T37" fmla="*/ 33 h 237"/>
                <a:gd name="T38" fmla="*/ 145 w 176"/>
                <a:gd name="T39" fmla="*/ 27 h 237"/>
                <a:gd name="T40" fmla="*/ 144 w 176"/>
                <a:gd name="T41" fmla="*/ 37 h 237"/>
                <a:gd name="T42" fmla="*/ 173 w 176"/>
                <a:gd name="T43" fmla="*/ 58 h 237"/>
                <a:gd name="T44" fmla="*/ 151 w 176"/>
                <a:gd name="T45" fmla="*/ 101 h 237"/>
                <a:gd name="T46" fmla="*/ 158 w 176"/>
                <a:gd name="T47" fmla="*/ 123 h 237"/>
                <a:gd name="T48" fmla="*/ 103 w 176"/>
                <a:gd name="T49" fmla="*/ 150 h 237"/>
                <a:gd name="T50" fmla="*/ 120 w 176"/>
                <a:gd name="T51" fmla="*/ 157 h 237"/>
                <a:gd name="T52" fmla="*/ 107 w 176"/>
                <a:gd name="T53" fmla="*/ 183 h 237"/>
                <a:gd name="T54" fmla="*/ 94 w 176"/>
                <a:gd name="T55" fmla="*/ 236 h 237"/>
                <a:gd name="T56" fmla="*/ 139 w 176"/>
                <a:gd name="T57" fmla="*/ 69 h 237"/>
                <a:gd name="T58" fmla="*/ 115 w 176"/>
                <a:gd name="T59" fmla="*/ 77 h 237"/>
                <a:gd name="T60" fmla="*/ 115 w 176"/>
                <a:gd name="T61" fmla="*/ 79 h 237"/>
                <a:gd name="T62" fmla="*/ 120 w 176"/>
                <a:gd name="T63" fmla="*/ 76 h 237"/>
                <a:gd name="T64" fmla="*/ 130 w 176"/>
                <a:gd name="T65" fmla="*/ 8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237">
                  <a:moveTo>
                    <a:pt x="94" y="236"/>
                  </a:moveTo>
                  <a:cubicBezTo>
                    <a:pt x="94" y="236"/>
                    <a:pt x="93" y="236"/>
                    <a:pt x="93" y="236"/>
                  </a:cubicBezTo>
                  <a:cubicBezTo>
                    <a:pt x="76" y="237"/>
                    <a:pt x="60" y="235"/>
                    <a:pt x="45" y="230"/>
                  </a:cubicBezTo>
                  <a:cubicBezTo>
                    <a:pt x="45" y="228"/>
                    <a:pt x="45" y="228"/>
                    <a:pt x="44" y="226"/>
                  </a:cubicBezTo>
                  <a:cubicBezTo>
                    <a:pt x="53" y="221"/>
                    <a:pt x="66" y="223"/>
                    <a:pt x="72" y="213"/>
                  </a:cubicBezTo>
                  <a:cubicBezTo>
                    <a:pt x="74" y="206"/>
                    <a:pt x="74" y="200"/>
                    <a:pt x="74" y="194"/>
                  </a:cubicBezTo>
                  <a:cubicBezTo>
                    <a:pt x="57" y="195"/>
                    <a:pt x="48" y="207"/>
                    <a:pt x="35" y="211"/>
                  </a:cubicBezTo>
                  <a:cubicBezTo>
                    <a:pt x="24" y="212"/>
                    <a:pt x="4" y="202"/>
                    <a:pt x="0" y="193"/>
                  </a:cubicBezTo>
                  <a:cubicBezTo>
                    <a:pt x="0" y="178"/>
                    <a:pt x="3" y="185"/>
                    <a:pt x="19" y="184"/>
                  </a:cubicBezTo>
                  <a:cubicBezTo>
                    <a:pt x="37" y="181"/>
                    <a:pt x="56" y="170"/>
                    <a:pt x="74" y="162"/>
                  </a:cubicBezTo>
                  <a:cubicBezTo>
                    <a:pt x="78" y="159"/>
                    <a:pt x="78" y="159"/>
                    <a:pt x="80" y="158"/>
                  </a:cubicBezTo>
                  <a:cubicBezTo>
                    <a:pt x="84" y="146"/>
                    <a:pt x="86" y="144"/>
                    <a:pt x="99" y="142"/>
                  </a:cubicBezTo>
                  <a:cubicBezTo>
                    <a:pt x="104" y="139"/>
                    <a:pt x="104" y="139"/>
                    <a:pt x="118" y="131"/>
                  </a:cubicBezTo>
                  <a:cubicBezTo>
                    <a:pt x="118" y="129"/>
                    <a:pt x="119" y="128"/>
                    <a:pt x="119" y="127"/>
                  </a:cubicBezTo>
                  <a:cubicBezTo>
                    <a:pt x="98" y="129"/>
                    <a:pt x="80" y="147"/>
                    <a:pt x="63" y="158"/>
                  </a:cubicBezTo>
                  <a:cubicBezTo>
                    <a:pt x="54" y="161"/>
                    <a:pt x="48" y="159"/>
                    <a:pt x="42" y="157"/>
                  </a:cubicBezTo>
                  <a:cubicBezTo>
                    <a:pt x="38" y="157"/>
                    <a:pt x="16" y="161"/>
                    <a:pt x="27" y="152"/>
                  </a:cubicBezTo>
                  <a:cubicBezTo>
                    <a:pt x="33" y="150"/>
                    <a:pt x="38" y="145"/>
                    <a:pt x="45" y="142"/>
                  </a:cubicBezTo>
                  <a:cubicBezTo>
                    <a:pt x="61" y="131"/>
                    <a:pt x="80" y="122"/>
                    <a:pt x="98" y="112"/>
                  </a:cubicBezTo>
                  <a:cubicBezTo>
                    <a:pt x="97" y="109"/>
                    <a:pt x="96" y="107"/>
                    <a:pt x="96" y="107"/>
                  </a:cubicBezTo>
                  <a:cubicBezTo>
                    <a:pt x="96" y="103"/>
                    <a:pt x="97" y="101"/>
                    <a:pt x="98" y="98"/>
                  </a:cubicBezTo>
                  <a:cubicBezTo>
                    <a:pt x="94" y="100"/>
                    <a:pt x="94" y="99"/>
                    <a:pt x="93" y="102"/>
                  </a:cubicBezTo>
                  <a:cubicBezTo>
                    <a:pt x="82" y="106"/>
                    <a:pt x="78" y="116"/>
                    <a:pt x="69" y="106"/>
                  </a:cubicBezTo>
                  <a:cubicBezTo>
                    <a:pt x="67" y="115"/>
                    <a:pt x="60" y="121"/>
                    <a:pt x="51" y="122"/>
                  </a:cubicBezTo>
                  <a:cubicBezTo>
                    <a:pt x="42" y="117"/>
                    <a:pt x="42" y="102"/>
                    <a:pt x="40" y="94"/>
                  </a:cubicBezTo>
                  <a:cubicBezTo>
                    <a:pt x="39" y="93"/>
                    <a:pt x="38" y="87"/>
                    <a:pt x="36" y="80"/>
                  </a:cubicBezTo>
                  <a:cubicBezTo>
                    <a:pt x="31" y="72"/>
                    <a:pt x="24" y="62"/>
                    <a:pt x="29" y="54"/>
                  </a:cubicBezTo>
                  <a:cubicBezTo>
                    <a:pt x="35" y="50"/>
                    <a:pt x="38" y="49"/>
                    <a:pt x="44" y="58"/>
                  </a:cubicBezTo>
                  <a:cubicBezTo>
                    <a:pt x="48" y="61"/>
                    <a:pt x="55" y="66"/>
                    <a:pt x="59" y="73"/>
                  </a:cubicBezTo>
                  <a:cubicBezTo>
                    <a:pt x="60" y="73"/>
                    <a:pt x="60" y="73"/>
                    <a:pt x="60" y="73"/>
                  </a:cubicBezTo>
                  <a:cubicBezTo>
                    <a:pt x="63" y="81"/>
                    <a:pt x="71" y="91"/>
                    <a:pt x="70" y="101"/>
                  </a:cubicBezTo>
                  <a:cubicBezTo>
                    <a:pt x="75" y="98"/>
                    <a:pt x="82" y="93"/>
                    <a:pt x="78" y="86"/>
                  </a:cubicBezTo>
                  <a:cubicBezTo>
                    <a:pt x="70" y="82"/>
                    <a:pt x="75" y="75"/>
                    <a:pt x="80" y="72"/>
                  </a:cubicBezTo>
                  <a:cubicBezTo>
                    <a:pt x="84" y="72"/>
                    <a:pt x="84" y="72"/>
                    <a:pt x="89" y="72"/>
                  </a:cubicBezTo>
                  <a:cubicBezTo>
                    <a:pt x="89" y="70"/>
                    <a:pt x="89" y="70"/>
                    <a:pt x="88" y="68"/>
                  </a:cubicBezTo>
                  <a:cubicBezTo>
                    <a:pt x="82" y="66"/>
                    <a:pt x="83" y="64"/>
                    <a:pt x="85" y="59"/>
                  </a:cubicBezTo>
                  <a:cubicBezTo>
                    <a:pt x="77" y="56"/>
                    <a:pt x="74" y="48"/>
                    <a:pt x="77" y="42"/>
                  </a:cubicBezTo>
                  <a:cubicBezTo>
                    <a:pt x="100" y="36"/>
                    <a:pt x="100" y="36"/>
                    <a:pt x="110" y="33"/>
                  </a:cubicBezTo>
                  <a:cubicBezTo>
                    <a:pt x="117" y="24"/>
                    <a:pt x="125" y="0"/>
                    <a:pt x="139" y="5"/>
                  </a:cubicBezTo>
                  <a:cubicBezTo>
                    <a:pt x="143" y="10"/>
                    <a:pt x="146" y="18"/>
                    <a:pt x="145" y="27"/>
                  </a:cubicBezTo>
                  <a:cubicBezTo>
                    <a:pt x="143" y="30"/>
                    <a:pt x="141" y="33"/>
                    <a:pt x="140" y="37"/>
                  </a:cubicBezTo>
                  <a:cubicBezTo>
                    <a:pt x="142" y="37"/>
                    <a:pt x="143" y="37"/>
                    <a:pt x="144" y="37"/>
                  </a:cubicBezTo>
                  <a:cubicBezTo>
                    <a:pt x="154" y="33"/>
                    <a:pt x="158" y="27"/>
                    <a:pt x="164" y="41"/>
                  </a:cubicBezTo>
                  <a:cubicBezTo>
                    <a:pt x="173" y="46"/>
                    <a:pt x="176" y="45"/>
                    <a:pt x="173" y="58"/>
                  </a:cubicBezTo>
                  <a:cubicBezTo>
                    <a:pt x="166" y="72"/>
                    <a:pt x="159" y="86"/>
                    <a:pt x="152" y="99"/>
                  </a:cubicBezTo>
                  <a:cubicBezTo>
                    <a:pt x="152" y="100"/>
                    <a:pt x="151" y="101"/>
                    <a:pt x="151" y="101"/>
                  </a:cubicBezTo>
                  <a:cubicBezTo>
                    <a:pt x="153" y="102"/>
                    <a:pt x="155" y="102"/>
                    <a:pt x="157" y="102"/>
                  </a:cubicBezTo>
                  <a:cubicBezTo>
                    <a:pt x="158" y="108"/>
                    <a:pt x="158" y="116"/>
                    <a:pt x="158" y="123"/>
                  </a:cubicBezTo>
                  <a:cubicBezTo>
                    <a:pt x="152" y="132"/>
                    <a:pt x="145" y="132"/>
                    <a:pt x="136" y="133"/>
                  </a:cubicBezTo>
                  <a:cubicBezTo>
                    <a:pt x="124" y="139"/>
                    <a:pt x="114" y="143"/>
                    <a:pt x="103" y="150"/>
                  </a:cubicBezTo>
                  <a:cubicBezTo>
                    <a:pt x="103" y="152"/>
                    <a:pt x="102" y="154"/>
                    <a:pt x="103" y="157"/>
                  </a:cubicBezTo>
                  <a:cubicBezTo>
                    <a:pt x="109" y="157"/>
                    <a:pt x="115" y="157"/>
                    <a:pt x="120" y="157"/>
                  </a:cubicBezTo>
                  <a:cubicBezTo>
                    <a:pt x="126" y="161"/>
                    <a:pt x="126" y="172"/>
                    <a:pt x="122" y="179"/>
                  </a:cubicBezTo>
                  <a:cubicBezTo>
                    <a:pt x="116" y="180"/>
                    <a:pt x="112" y="180"/>
                    <a:pt x="107" y="183"/>
                  </a:cubicBezTo>
                  <a:cubicBezTo>
                    <a:pt x="106" y="186"/>
                    <a:pt x="106" y="189"/>
                    <a:pt x="105" y="192"/>
                  </a:cubicBezTo>
                  <a:cubicBezTo>
                    <a:pt x="106" y="204"/>
                    <a:pt x="112" y="234"/>
                    <a:pt x="94" y="236"/>
                  </a:cubicBezTo>
                  <a:moveTo>
                    <a:pt x="130" y="88"/>
                  </a:moveTo>
                  <a:cubicBezTo>
                    <a:pt x="135" y="82"/>
                    <a:pt x="139" y="77"/>
                    <a:pt x="139" y="69"/>
                  </a:cubicBezTo>
                  <a:cubicBezTo>
                    <a:pt x="134" y="65"/>
                    <a:pt x="126" y="64"/>
                    <a:pt x="121" y="64"/>
                  </a:cubicBezTo>
                  <a:cubicBezTo>
                    <a:pt x="120" y="67"/>
                    <a:pt x="120" y="67"/>
                    <a:pt x="115" y="77"/>
                  </a:cubicBezTo>
                  <a:cubicBezTo>
                    <a:pt x="115" y="77"/>
                    <a:pt x="116" y="78"/>
                    <a:pt x="116" y="78"/>
                  </a:cubicBezTo>
                  <a:cubicBezTo>
                    <a:pt x="116" y="78"/>
                    <a:pt x="115" y="78"/>
                    <a:pt x="115" y="79"/>
                  </a:cubicBezTo>
                  <a:cubicBezTo>
                    <a:pt x="115" y="79"/>
                    <a:pt x="115" y="79"/>
                    <a:pt x="115" y="80"/>
                  </a:cubicBezTo>
                  <a:cubicBezTo>
                    <a:pt x="118" y="80"/>
                    <a:pt x="119" y="78"/>
                    <a:pt x="120" y="76"/>
                  </a:cubicBezTo>
                  <a:cubicBezTo>
                    <a:pt x="129" y="75"/>
                    <a:pt x="129" y="78"/>
                    <a:pt x="129" y="87"/>
                  </a:cubicBezTo>
                  <a:cubicBezTo>
                    <a:pt x="129" y="87"/>
                    <a:pt x="129" y="88"/>
                    <a:pt x="130" y="8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6" name="Freeform 133"/>
            <p:cNvSpPr/>
            <p:nvPr/>
          </p:nvSpPr>
          <p:spPr bwMode="auto">
            <a:xfrm>
              <a:off x="6983413" y="2679700"/>
              <a:ext cx="101600" cy="133350"/>
            </a:xfrm>
            <a:custGeom>
              <a:avLst/>
              <a:gdLst>
                <a:gd name="T0" fmla="*/ 0 w 64"/>
                <a:gd name="T1" fmla="*/ 74 h 84"/>
                <a:gd name="T2" fmla="*/ 50 w 64"/>
                <a:gd name="T3" fmla="*/ 10 h 84"/>
                <a:gd name="T4" fmla="*/ 4 w 64"/>
                <a:gd name="T5" fmla="*/ 10 h 84"/>
                <a:gd name="T6" fmla="*/ 4 w 64"/>
                <a:gd name="T7" fmla="*/ 4 h 84"/>
                <a:gd name="T8" fmla="*/ 4 w 64"/>
                <a:gd name="T9" fmla="*/ 0 h 84"/>
                <a:gd name="T10" fmla="*/ 64 w 64"/>
                <a:gd name="T11" fmla="*/ 0 h 84"/>
                <a:gd name="T12" fmla="*/ 64 w 64"/>
                <a:gd name="T13" fmla="*/ 4 h 84"/>
                <a:gd name="T14" fmla="*/ 64 w 64"/>
                <a:gd name="T15" fmla="*/ 10 h 84"/>
                <a:gd name="T16" fmla="*/ 14 w 64"/>
                <a:gd name="T17" fmla="*/ 74 h 84"/>
                <a:gd name="T18" fmla="*/ 64 w 64"/>
                <a:gd name="T19" fmla="*/ 74 h 84"/>
                <a:gd name="T20" fmla="*/ 64 w 64"/>
                <a:gd name="T21" fmla="*/ 78 h 84"/>
                <a:gd name="T22" fmla="*/ 64 w 64"/>
                <a:gd name="T23" fmla="*/ 84 h 84"/>
                <a:gd name="T24" fmla="*/ 0 w 64"/>
                <a:gd name="T25" fmla="*/ 84 h 84"/>
                <a:gd name="T26" fmla="*/ 0 w 64"/>
                <a:gd name="T27" fmla="*/ 78 h 84"/>
                <a:gd name="T28" fmla="*/ 0 w 64"/>
                <a:gd name="T29" fmla="*/ 7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84">
                  <a:moveTo>
                    <a:pt x="0" y="74"/>
                  </a:moveTo>
                  <a:lnTo>
                    <a:pt x="50" y="10"/>
                  </a:lnTo>
                  <a:lnTo>
                    <a:pt x="4" y="10"/>
                  </a:lnTo>
                  <a:lnTo>
                    <a:pt x="4" y="4"/>
                  </a:lnTo>
                  <a:lnTo>
                    <a:pt x="4" y="0"/>
                  </a:lnTo>
                  <a:lnTo>
                    <a:pt x="64" y="0"/>
                  </a:lnTo>
                  <a:lnTo>
                    <a:pt x="64" y="4"/>
                  </a:lnTo>
                  <a:lnTo>
                    <a:pt x="64" y="10"/>
                  </a:lnTo>
                  <a:lnTo>
                    <a:pt x="14" y="74"/>
                  </a:lnTo>
                  <a:lnTo>
                    <a:pt x="64" y="74"/>
                  </a:lnTo>
                  <a:lnTo>
                    <a:pt x="64" y="78"/>
                  </a:lnTo>
                  <a:lnTo>
                    <a:pt x="64" y="84"/>
                  </a:lnTo>
                  <a:lnTo>
                    <a:pt x="0" y="84"/>
                  </a:lnTo>
                  <a:lnTo>
                    <a:pt x="0" y="7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7" name="Freeform 134"/>
            <p:cNvSpPr/>
            <p:nvPr/>
          </p:nvSpPr>
          <p:spPr bwMode="auto">
            <a:xfrm>
              <a:off x="7126288" y="2679700"/>
              <a:ext cx="103187" cy="133350"/>
            </a:xfrm>
            <a:custGeom>
              <a:avLst/>
              <a:gdLst>
                <a:gd name="T0" fmla="*/ 0 w 65"/>
                <a:gd name="T1" fmla="*/ 0 h 84"/>
                <a:gd name="T2" fmla="*/ 6 w 65"/>
                <a:gd name="T3" fmla="*/ 0 h 84"/>
                <a:gd name="T4" fmla="*/ 12 w 65"/>
                <a:gd name="T5" fmla="*/ 0 h 84"/>
                <a:gd name="T6" fmla="*/ 12 w 65"/>
                <a:gd name="T7" fmla="*/ 34 h 84"/>
                <a:gd name="T8" fmla="*/ 56 w 65"/>
                <a:gd name="T9" fmla="*/ 34 h 84"/>
                <a:gd name="T10" fmla="*/ 56 w 65"/>
                <a:gd name="T11" fmla="*/ 0 h 84"/>
                <a:gd name="T12" fmla="*/ 60 w 65"/>
                <a:gd name="T13" fmla="*/ 0 h 84"/>
                <a:gd name="T14" fmla="*/ 65 w 65"/>
                <a:gd name="T15" fmla="*/ 0 h 84"/>
                <a:gd name="T16" fmla="*/ 65 w 65"/>
                <a:gd name="T17" fmla="*/ 84 h 84"/>
                <a:gd name="T18" fmla="*/ 62 w 65"/>
                <a:gd name="T19" fmla="*/ 84 h 84"/>
                <a:gd name="T20" fmla="*/ 56 w 65"/>
                <a:gd name="T21" fmla="*/ 84 h 84"/>
                <a:gd name="T22" fmla="*/ 56 w 65"/>
                <a:gd name="T23" fmla="*/ 44 h 84"/>
                <a:gd name="T24" fmla="*/ 12 w 65"/>
                <a:gd name="T25" fmla="*/ 44 h 84"/>
                <a:gd name="T26" fmla="*/ 12 w 65"/>
                <a:gd name="T27" fmla="*/ 84 h 84"/>
                <a:gd name="T28" fmla="*/ 6 w 65"/>
                <a:gd name="T29" fmla="*/ 84 h 84"/>
                <a:gd name="T30" fmla="*/ 0 w 65"/>
                <a:gd name="T31" fmla="*/ 84 h 84"/>
                <a:gd name="T32" fmla="*/ 0 w 65"/>
                <a:gd name="T3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" h="8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2" y="34"/>
                  </a:lnTo>
                  <a:lnTo>
                    <a:pt x="56" y="34"/>
                  </a:lnTo>
                  <a:lnTo>
                    <a:pt x="56" y="0"/>
                  </a:lnTo>
                  <a:lnTo>
                    <a:pt x="60" y="0"/>
                  </a:lnTo>
                  <a:lnTo>
                    <a:pt x="65" y="0"/>
                  </a:lnTo>
                  <a:lnTo>
                    <a:pt x="65" y="84"/>
                  </a:lnTo>
                  <a:lnTo>
                    <a:pt x="62" y="84"/>
                  </a:lnTo>
                  <a:lnTo>
                    <a:pt x="56" y="84"/>
                  </a:lnTo>
                  <a:lnTo>
                    <a:pt x="56" y="44"/>
                  </a:lnTo>
                  <a:lnTo>
                    <a:pt x="12" y="44"/>
                  </a:lnTo>
                  <a:lnTo>
                    <a:pt x="12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8" name="Freeform 135"/>
            <p:cNvSpPr/>
            <p:nvPr/>
          </p:nvSpPr>
          <p:spPr bwMode="auto">
            <a:xfrm>
              <a:off x="7280275" y="2679700"/>
              <a:ext cx="95250" cy="133350"/>
            </a:xfrm>
            <a:custGeom>
              <a:avLst/>
              <a:gdLst>
                <a:gd name="T0" fmla="*/ 0 w 60"/>
                <a:gd name="T1" fmla="*/ 84 h 84"/>
                <a:gd name="T2" fmla="*/ 0 w 60"/>
                <a:gd name="T3" fmla="*/ 0 h 84"/>
                <a:gd name="T4" fmla="*/ 60 w 60"/>
                <a:gd name="T5" fmla="*/ 0 h 84"/>
                <a:gd name="T6" fmla="*/ 60 w 60"/>
                <a:gd name="T7" fmla="*/ 4 h 84"/>
                <a:gd name="T8" fmla="*/ 60 w 60"/>
                <a:gd name="T9" fmla="*/ 10 h 84"/>
                <a:gd name="T10" fmla="*/ 10 w 60"/>
                <a:gd name="T11" fmla="*/ 10 h 84"/>
                <a:gd name="T12" fmla="*/ 10 w 60"/>
                <a:gd name="T13" fmla="*/ 36 h 84"/>
                <a:gd name="T14" fmla="*/ 56 w 60"/>
                <a:gd name="T15" fmla="*/ 36 h 84"/>
                <a:gd name="T16" fmla="*/ 56 w 60"/>
                <a:gd name="T17" fmla="*/ 40 h 84"/>
                <a:gd name="T18" fmla="*/ 56 w 60"/>
                <a:gd name="T19" fmla="*/ 46 h 84"/>
                <a:gd name="T20" fmla="*/ 10 w 60"/>
                <a:gd name="T21" fmla="*/ 46 h 84"/>
                <a:gd name="T22" fmla="*/ 10 w 60"/>
                <a:gd name="T23" fmla="*/ 74 h 84"/>
                <a:gd name="T24" fmla="*/ 60 w 60"/>
                <a:gd name="T25" fmla="*/ 74 h 84"/>
                <a:gd name="T26" fmla="*/ 60 w 60"/>
                <a:gd name="T27" fmla="*/ 78 h 84"/>
                <a:gd name="T28" fmla="*/ 60 w 60"/>
                <a:gd name="T29" fmla="*/ 84 h 84"/>
                <a:gd name="T30" fmla="*/ 0 w 60"/>
                <a:gd name="T3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84">
                  <a:moveTo>
                    <a:pt x="0" y="84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60" y="10"/>
                  </a:lnTo>
                  <a:lnTo>
                    <a:pt x="10" y="10"/>
                  </a:lnTo>
                  <a:lnTo>
                    <a:pt x="10" y="36"/>
                  </a:lnTo>
                  <a:lnTo>
                    <a:pt x="56" y="36"/>
                  </a:lnTo>
                  <a:lnTo>
                    <a:pt x="56" y="40"/>
                  </a:lnTo>
                  <a:lnTo>
                    <a:pt x="56" y="46"/>
                  </a:lnTo>
                  <a:lnTo>
                    <a:pt x="10" y="46"/>
                  </a:lnTo>
                  <a:lnTo>
                    <a:pt x="10" y="74"/>
                  </a:lnTo>
                  <a:lnTo>
                    <a:pt x="60" y="74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9" name="Freeform 136"/>
            <p:cNvSpPr/>
            <p:nvPr/>
          </p:nvSpPr>
          <p:spPr bwMode="auto">
            <a:xfrm>
              <a:off x="7410450" y="2679700"/>
              <a:ext cx="76200" cy="136525"/>
            </a:xfrm>
            <a:custGeom>
              <a:avLst/>
              <a:gdLst>
                <a:gd name="T0" fmla="*/ 18 w 24"/>
                <a:gd name="T1" fmla="*/ 0 h 43"/>
                <a:gd name="T2" fmla="*/ 21 w 24"/>
                <a:gd name="T3" fmla="*/ 0 h 43"/>
                <a:gd name="T4" fmla="*/ 24 w 24"/>
                <a:gd name="T5" fmla="*/ 0 h 43"/>
                <a:gd name="T6" fmla="*/ 24 w 24"/>
                <a:gd name="T7" fmla="*/ 30 h 43"/>
                <a:gd name="T8" fmla="*/ 21 w 24"/>
                <a:gd name="T9" fmla="*/ 39 h 43"/>
                <a:gd name="T10" fmla="*/ 12 w 24"/>
                <a:gd name="T11" fmla="*/ 43 h 43"/>
                <a:gd name="T12" fmla="*/ 3 w 24"/>
                <a:gd name="T13" fmla="*/ 40 h 43"/>
                <a:gd name="T14" fmla="*/ 0 w 24"/>
                <a:gd name="T15" fmla="*/ 31 h 43"/>
                <a:gd name="T16" fmla="*/ 0 w 24"/>
                <a:gd name="T17" fmla="*/ 28 h 43"/>
                <a:gd name="T18" fmla="*/ 5 w 24"/>
                <a:gd name="T19" fmla="*/ 28 h 43"/>
                <a:gd name="T20" fmla="*/ 5 w 24"/>
                <a:gd name="T21" fmla="*/ 31 h 43"/>
                <a:gd name="T22" fmla="*/ 7 w 24"/>
                <a:gd name="T23" fmla="*/ 36 h 43"/>
                <a:gd name="T24" fmla="*/ 12 w 24"/>
                <a:gd name="T25" fmla="*/ 38 h 43"/>
                <a:gd name="T26" fmla="*/ 17 w 24"/>
                <a:gd name="T27" fmla="*/ 36 h 43"/>
                <a:gd name="T28" fmla="*/ 18 w 24"/>
                <a:gd name="T29" fmla="*/ 30 h 43"/>
                <a:gd name="T30" fmla="*/ 18 w 2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43">
                  <a:moveTo>
                    <a:pt x="18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4"/>
                    <a:pt x="23" y="37"/>
                    <a:pt x="21" y="39"/>
                  </a:cubicBezTo>
                  <a:cubicBezTo>
                    <a:pt x="19" y="42"/>
                    <a:pt x="16" y="43"/>
                    <a:pt x="12" y="43"/>
                  </a:cubicBezTo>
                  <a:cubicBezTo>
                    <a:pt x="8" y="43"/>
                    <a:pt x="5" y="42"/>
                    <a:pt x="3" y="40"/>
                  </a:cubicBezTo>
                  <a:cubicBezTo>
                    <a:pt x="1" y="38"/>
                    <a:pt x="0" y="35"/>
                    <a:pt x="0" y="3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3"/>
                    <a:pt x="6" y="35"/>
                    <a:pt x="7" y="36"/>
                  </a:cubicBezTo>
                  <a:cubicBezTo>
                    <a:pt x="8" y="37"/>
                    <a:pt x="10" y="38"/>
                    <a:pt x="12" y="38"/>
                  </a:cubicBezTo>
                  <a:cubicBezTo>
                    <a:pt x="14" y="38"/>
                    <a:pt x="15" y="37"/>
                    <a:pt x="17" y="36"/>
                  </a:cubicBezTo>
                  <a:cubicBezTo>
                    <a:pt x="18" y="34"/>
                    <a:pt x="18" y="32"/>
                    <a:pt x="18" y="30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0" name="Freeform 137"/>
            <p:cNvSpPr/>
            <p:nvPr/>
          </p:nvSpPr>
          <p:spPr bwMode="auto">
            <a:xfrm>
              <a:off x="7534275" y="2679700"/>
              <a:ext cx="19050" cy="133350"/>
            </a:xfrm>
            <a:custGeom>
              <a:avLst/>
              <a:gdLst>
                <a:gd name="T0" fmla="*/ 0 w 12"/>
                <a:gd name="T1" fmla="*/ 0 h 84"/>
                <a:gd name="T2" fmla="*/ 6 w 12"/>
                <a:gd name="T3" fmla="*/ 0 h 84"/>
                <a:gd name="T4" fmla="*/ 12 w 12"/>
                <a:gd name="T5" fmla="*/ 0 h 84"/>
                <a:gd name="T6" fmla="*/ 12 w 12"/>
                <a:gd name="T7" fmla="*/ 84 h 84"/>
                <a:gd name="T8" fmla="*/ 6 w 12"/>
                <a:gd name="T9" fmla="*/ 84 h 84"/>
                <a:gd name="T10" fmla="*/ 0 w 12"/>
                <a:gd name="T11" fmla="*/ 84 h 84"/>
                <a:gd name="T12" fmla="*/ 0 w 12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2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1" name="Freeform 138"/>
            <p:cNvSpPr>
              <a:spLocks noEditPoints="1"/>
            </p:cNvSpPr>
            <p:nvPr/>
          </p:nvSpPr>
          <p:spPr bwMode="auto">
            <a:xfrm>
              <a:off x="7591425" y="2679700"/>
              <a:ext cx="117475" cy="133350"/>
            </a:xfrm>
            <a:custGeom>
              <a:avLst/>
              <a:gdLst>
                <a:gd name="T0" fmla="*/ 32 w 74"/>
                <a:gd name="T1" fmla="*/ 0 h 84"/>
                <a:gd name="T2" fmla="*/ 38 w 74"/>
                <a:gd name="T3" fmla="*/ 0 h 84"/>
                <a:gd name="T4" fmla="*/ 44 w 74"/>
                <a:gd name="T5" fmla="*/ 0 h 84"/>
                <a:gd name="T6" fmla="*/ 74 w 74"/>
                <a:gd name="T7" fmla="*/ 84 h 84"/>
                <a:gd name="T8" fmla="*/ 68 w 74"/>
                <a:gd name="T9" fmla="*/ 84 h 84"/>
                <a:gd name="T10" fmla="*/ 62 w 74"/>
                <a:gd name="T11" fmla="*/ 84 h 84"/>
                <a:gd name="T12" fmla="*/ 54 w 74"/>
                <a:gd name="T13" fmla="*/ 60 h 84"/>
                <a:gd name="T14" fmla="*/ 20 w 74"/>
                <a:gd name="T15" fmla="*/ 60 h 84"/>
                <a:gd name="T16" fmla="*/ 12 w 74"/>
                <a:gd name="T17" fmla="*/ 84 h 84"/>
                <a:gd name="T18" fmla="*/ 6 w 74"/>
                <a:gd name="T19" fmla="*/ 84 h 84"/>
                <a:gd name="T20" fmla="*/ 0 w 74"/>
                <a:gd name="T21" fmla="*/ 84 h 84"/>
                <a:gd name="T22" fmla="*/ 32 w 74"/>
                <a:gd name="T23" fmla="*/ 0 h 84"/>
                <a:gd name="T24" fmla="*/ 24 w 74"/>
                <a:gd name="T25" fmla="*/ 50 h 84"/>
                <a:gd name="T26" fmla="*/ 50 w 74"/>
                <a:gd name="T27" fmla="*/ 50 h 84"/>
                <a:gd name="T28" fmla="*/ 36 w 74"/>
                <a:gd name="T29" fmla="*/ 12 h 84"/>
                <a:gd name="T30" fmla="*/ 38 w 74"/>
                <a:gd name="T31" fmla="*/ 12 h 84"/>
                <a:gd name="T32" fmla="*/ 24 w 74"/>
                <a:gd name="T33" fmla="*/ 5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" h="84">
                  <a:moveTo>
                    <a:pt x="32" y="0"/>
                  </a:moveTo>
                  <a:lnTo>
                    <a:pt x="38" y="0"/>
                  </a:lnTo>
                  <a:lnTo>
                    <a:pt x="44" y="0"/>
                  </a:lnTo>
                  <a:lnTo>
                    <a:pt x="74" y="84"/>
                  </a:lnTo>
                  <a:lnTo>
                    <a:pt x="68" y="84"/>
                  </a:lnTo>
                  <a:lnTo>
                    <a:pt x="62" y="84"/>
                  </a:lnTo>
                  <a:lnTo>
                    <a:pt x="54" y="60"/>
                  </a:lnTo>
                  <a:lnTo>
                    <a:pt x="20" y="60"/>
                  </a:lnTo>
                  <a:lnTo>
                    <a:pt x="12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32" y="0"/>
                  </a:lnTo>
                  <a:close/>
                  <a:moveTo>
                    <a:pt x="24" y="50"/>
                  </a:moveTo>
                  <a:lnTo>
                    <a:pt x="50" y="50"/>
                  </a:lnTo>
                  <a:lnTo>
                    <a:pt x="36" y="12"/>
                  </a:lnTo>
                  <a:lnTo>
                    <a:pt x="38" y="12"/>
                  </a:lnTo>
                  <a:lnTo>
                    <a:pt x="24" y="5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2" name="Freeform 139"/>
            <p:cNvSpPr/>
            <p:nvPr/>
          </p:nvSpPr>
          <p:spPr bwMode="auto">
            <a:xfrm>
              <a:off x="7743825" y="2679700"/>
              <a:ext cx="103187" cy="133350"/>
            </a:xfrm>
            <a:custGeom>
              <a:avLst/>
              <a:gdLst>
                <a:gd name="T0" fmla="*/ 10 w 65"/>
                <a:gd name="T1" fmla="*/ 84 h 84"/>
                <a:gd name="T2" fmla="*/ 6 w 65"/>
                <a:gd name="T3" fmla="*/ 84 h 84"/>
                <a:gd name="T4" fmla="*/ 0 w 65"/>
                <a:gd name="T5" fmla="*/ 84 h 84"/>
                <a:gd name="T6" fmla="*/ 0 w 65"/>
                <a:gd name="T7" fmla="*/ 0 h 84"/>
                <a:gd name="T8" fmla="*/ 6 w 65"/>
                <a:gd name="T9" fmla="*/ 0 h 84"/>
                <a:gd name="T10" fmla="*/ 14 w 65"/>
                <a:gd name="T11" fmla="*/ 0 h 84"/>
                <a:gd name="T12" fmla="*/ 55 w 65"/>
                <a:gd name="T13" fmla="*/ 68 h 84"/>
                <a:gd name="T14" fmla="*/ 55 w 65"/>
                <a:gd name="T15" fmla="*/ 0 h 84"/>
                <a:gd name="T16" fmla="*/ 59 w 65"/>
                <a:gd name="T17" fmla="*/ 0 h 84"/>
                <a:gd name="T18" fmla="*/ 65 w 65"/>
                <a:gd name="T19" fmla="*/ 0 h 84"/>
                <a:gd name="T20" fmla="*/ 65 w 65"/>
                <a:gd name="T21" fmla="*/ 84 h 84"/>
                <a:gd name="T22" fmla="*/ 59 w 65"/>
                <a:gd name="T23" fmla="*/ 84 h 84"/>
                <a:gd name="T24" fmla="*/ 53 w 65"/>
                <a:gd name="T25" fmla="*/ 84 h 84"/>
                <a:gd name="T26" fmla="*/ 10 w 65"/>
                <a:gd name="T27" fmla="*/ 16 h 84"/>
                <a:gd name="T28" fmla="*/ 10 w 65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84">
                  <a:moveTo>
                    <a:pt x="10" y="84"/>
                  </a:move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lnTo>
                    <a:pt x="6" y="0"/>
                  </a:lnTo>
                  <a:lnTo>
                    <a:pt x="14" y="0"/>
                  </a:lnTo>
                  <a:lnTo>
                    <a:pt x="55" y="68"/>
                  </a:lnTo>
                  <a:lnTo>
                    <a:pt x="55" y="0"/>
                  </a:lnTo>
                  <a:lnTo>
                    <a:pt x="59" y="0"/>
                  </a:lnTo>
                  <a:lnTo>
                    <a:pt x="65" y="0"/>
                  </a:lnTo>
                  <a:lnTo>
                    <a:pt x="65" y="84"/>
                  </a:lnTo>
                  <a:lnTo>
                    <a:pt x="59" y="84"/>
                  </a:lnTo>
                  <a:lnTo>
                    <a:pt x="53" y="84"/>
                  </a:lnTo>
                  <a:lnTo>
                    <a:pt x="10" y="16"/>
                  </a:lnTo>
                  <a:lnTo>
                    <a:pt x="10" y="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3" name="Freeform 140"/>
            <p:cNvSpPr/>
            <p:nvPr/>
          </p:nvSpPr>
          <p:spPr bwMode="auto">
            <a:xfrm>
              <a:off x="7894638" y="2676525"/>
              <a:ext cx="120650" cy="139700"/>
            </a:xfrm>
            <a:custGeom>
              <a:avLst/>
              <a:gdLst>
                <a:gd name="T0" fmla="*/ 20 w 38"/>
                <a:gd name="T1" fmla="*/ 44 h 44"/>
                <a:gd name="T2" fmla="*/ 6 w 38"/>
                <a:gd name="T3" fmla="*/ 38 h 44"/>
                <a:gd name="T4" fmla="*/ 0 w 38"/>
                <a:gd name="T5" fmla="*/ 22 h 44"/>
                <a:gd name="T6" fmla="*/ 6 w 38"/>
                <a:gd name="T7" fmla="*/ 6 h 44"/>
                <a:gd name="T8" fmla="*/ 20 w 38"/>
                <a:gd name="T9" fmla="*/ 0 h 44"/>
                <a:gd name="T10" fmla="*/ 32 w 38"/>
                <a:gd name="T11" fmla="*/ 4 h 44"/>
                <a:gd name="T12" fmla="*/ 38 w 38"/>
                <a:gd name="T13" fmla="*/ 13 h 44"/>
                <a:gd name="T14" fmla="*/ 32 w 38"/>
                <a:gd name="T15" fmla="*/ 13 h 44"/>
                <a:gd name="T16" fmla="*/ 28 w 38"/>
                <a:gd name="T17" fmla="*/ 7 h 44"/>
                <a:gd name="T18" fmla="*/ 20 w 38"/>
                <a:gd name="T19" fmla="*/ 5 h 44"/>
                <a:gd name="T20" fmla="*/ 10 w 38"/>
                <a:gd name="T21" fmla="*/ 10 h 44"/>
                <a:gd name="T22" fmla="*/ 6 w 38"/>
                <a:gd name="T23" fmla="*/ 22 h 44"/>
                <a:gd name="T24" fmla="*/ 10 w 38"/>
                <a:gd name="T25" fmla="*/ 34 h 44"/>
                <a:gd name="T26" fmla="*/ 20 w 38"/>
                <a:gd name="T27" fmla="*/ 39 h 44"/>
                <a:gd name="T28" fmla="*/ 30 w 38"/>
                <a:gd name="T29" fmla="*/ 34 h 44"/>
                <a:gd name="T30" fmla="*/ 32 w 38"/>
                <a:gd name="T31" fmla="*/ 33 h 44"/>
                <a:gd name="T32" fmla="*/ 33 w 38"/>
                <a:gd name="T33" fmla="*/ 30 h 44"/>
                <a:gd name="T34" fmla="*/ 33 w 38"/>
                <a:gd name="T35" fmla="*/ 26 h 44"/>
                <a:gd name="T36" fmla="*/ 33 w 38"/>
                <a:gd name="T37" fmla="*/ 25 h 44"/>
                <a:gd name="T38" fmla="*/ 20 w 38"/>
                <a:gd name="T39" fmla="*/ 25 h 44"/>
                <a:gd name="T40" fmla="*/ 20 w 38"/>
                <a:gd name="T41" fmla="*/ 21 h 44"/>
                <a:gd name="T42" fmla="*/ 38 w 38"/>
                <a:gd name="T43" fmla="*/ 21 h 44"/>
                <a:gd name="T44" fmla="*/ 38 w 38"/>
                <a:gd name="T45" fmla="*/ 43 h 44"/>
                <a:gd name="T46" fmla="*/ 35 w 38"/>
                <a:gd name="T47" fmla="*/ 43 h 44"/>
                <a:gd name="T48" fmla="*/ 34 w 38"/>
                <a:gd name="T49" fmla="*/ 37 h 44"/>
                <a:gd name="T50" fmla="*/ 33 w 38"/>
                <a:gd name="T51" fmla="*/ 38 h 44"/>
                <a:gd name="T52" fmla="*/ 20 w 38"/>
                <a:gd name="T5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" h="44">
                  <a:moveTo>
                    <a:pt x="20" y="44"/>
                  </a:moveTo>
                  <a:cubicBezTo>
                    <a:pt x="14" y="44"/>
                    <a:pt x="9" y="42"/>
                    <a:pt x="6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25" y="0"/>
                    <a:pt x="29" y="1"/>
                    <a:pt x="32" y="4"/>
                  </a:cubicBezTo>
                  <a:cubicBezTo>
                    <a:pt x="35" y="6"/>
                    <a:pt x="37" y="9"/>
                    <a:pt x="38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1"/>
                    <a:pt x="30" y="9"/>
                    <a:pt x="28" y="7"/>
                  </a:cubicBezTo>
                  <a:cubicBezTo>
                    <a:pt x="26" y="6"/>
                    <a:pt x="23" y="5"/>
                    <a:pt x="20" y="5"/>
                  </a:cubicBezTo>
                  <a:cubicBezTo>
                    <a:pt x="16" y="5"/>
                    <a:pt x="12" y="6"/>
                    <a:pt x="10" y="10"/>
                  </a:cubicBezTo>
                  <a:cubicBezTo>
                    <a:pt x="7" y="13"/>
                    <a:pt x="6" y="17"/>
                    <a:pt x="6" y="22"/>
                  </a:cubicBezTo>
                  <a:cubicBezTo>
                    <a:pt x="6" y="27"/>
                    <a:pt x="7" y="32"/>
                    <a:pt x="10" y="34"/>
                  </a:cubicBezTo>
                  <a:cubicBezTo>
                    <a:pt x="12" y="37"/>
                    <a:pt x="16" y="39"/>
                    <a:pt x="20" y="39"/>
                  </a:cubicBezTo>
                  <a:cubicBezTo>
                    <a:pt x="24" y="39"/>
                    <a:pt x="28" y="37"/>
                    <a:pt x="30" y="34"/>
                  </a:cubicBezTo>
                  <a:cubicBezTo>
                    <a:pt x="31" y="34"/>
                    <a:pt x="31" y="33"/>
                    <a:pt x="32" y="33"/>
                  </a:cubicBezTo>
                  <a:cubicBezTo>
                    <a:pt x="32" y="32"/>
                    <a:pt x="32" y="31"/>
                    <a:pt x="33" y="30"/>
                  </a:cubicBezTo>
                  <a:cubicBezTo>
                    <a:pt x="33" y="28"/>
                    <a:pt x="33" y="27"/>
                    <a:pt x="33" y="26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0" y="42"/>
                    <a:pt x="25" y="44"/>
                    <a:pt x="20" y="4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4" name="Freeform 141"/>
            <p:cNvSpPr/>
            <p:nvPr/>
          </p:nvSpPr>
          <p:spPr bwMode="auto">
            <a:xfrm>
              <a:off x="8139113" y="2679700"/>
              <a:ext cx="104775" cy="136525"/>
            </a:xfrm>
            <a:custGeom>
              <a:avLst/>
              <a:gdLst>
                <a:gd name="T0" fmla="*/ 33 w 33"/>
                <a:gd name="T1" fmla="*/ 26 h 43"/>
                <a:gd name="T2" fmla="*/ 29 w 33"/>
                <a:gd name="T3" fmla="*/ 38 h 43"/>
                <a:gd name="T4" fmla="*/ 17 w 33"/>
                <a:gd name="T5" fmla="*/ 43 h 43"/>
                <a:gd name="T6" fmla="*/ 5 w 33"/>
                <a:gd name="T7" fmla="*/ 39 h 43"/>
                <a:gd name="T8" fmla="*/ 0 w 33"/>
                <a:gd name="T9" fmla="*/ 26 h 43"/>
                <a:gd name="T10" fmla="*/ 0 w 33"/>
                <a:gd name="T11" fmla="*/ 0 h 43"/>
                <a:gd name="T12" fmla="*/ 3 w 33"/>
                <a:gd name="T13" fmla="*/ 0 h 43"/>
                <a:gd name="T14" fmla="*/ 6 w 33"/>
                <a:gd name="T15" fmla="*/ 0 h 43"/>
                <a:gd name="T16" fmla="*/ 6 w 33"/>
                <a:gd name="T17" fmla="*/ 26 h 43"/>
                <a:gd name="T18" fmla="*/ 9 w 33"/>
                <a:gd name="T19" fmla="*/ 35 h 43"/>
                <a:gd name="T20" fmla="*/ 17 w 33"/>
                <a:gd name="T21" fmla="*/ 38 h 43"/>
                <a:gd name="T22" fmla="*/ 25 w 33"/>
                <a:gd name="T23" fmla="*/ 35 h 43"/>
                <a:gd name="T24" fmla="*/ 28 w 33"/>
                <a:gd name="T25" fmla="*/ 26 h 43"/>
                <a:gd name="T26" fmla="*/ 28 w 33"/>
                <a:gd name="T27" fmla="*/ 0 h 43"/>
                <a:gd name="T28" fmla="*/ 30 w 33"/>
                <a:gd name="T29" fmla="*/ 0 h 43"/>
                <a:gd name="T30" fmla="*/ 33 w 33"/>
                <a:gd name="T31" fmla="*/ 0 h 43"/>
                <a:gd name="T32" fmla="*/ 33 w 33"/>
                <a:gd name="T33" fmla="*/ 2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43">
                  <a:moveTo>
                    <a:pt x="33" y="26"/>
                  </a:moveTo>
                  <a:cubicBezTo>
                    <a:pt x="33" y="31"/>
                    <a:pt x="32" y="35"/>
                    <a:pt x="29" y="38"/>
                  </a:cubicBezTo>
                  <a:cubicBezTo>
                    <a:pt x="26" y="41"/>
                    <a:pt x="22" y="43"/>
                    <a:pt x="17" y="43"/>
                  </a:cubicBezTo>
                  <a:cubicBezTo>
                    <a:pt x="11" y="43"/>
                    <a:pt x="7" y="41"/>
                    <a:pt x="5" y="39"/>
                  </a:cubicBezTo>
                  <a:cubicBezTo>
                    <a:pt x="2" y="36"/>
                    <a:pt x="0" y="32"/>
                    <a:pt x="0" y="2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30"/>
                    <a:pt x="7" y="33"/>
                    <a:pt x="9" y="35"/>
                  </a:cubicBezTo>
                  <a:cubicBezTo>
                    <a:pt x="11" y="37"/>
                    <a:pt x="13" y="38"/>
                    <a:pt x="17" y="38"/>
                  </a:cubicBezTo>
                  <a:cubicBezTo>
                    <a:pt x="20" y="38"/>
                    <a:pt x="23" y="37"/>
                    <a:pt x="25" y="35"/>
                  </a:cubicBezTo>
                  <a:cubicBezTo>
                    <a:pt x="27" y="33"/>
                    <a:pt x="28" y="30"/>
                    <a:pt x="28" y="26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6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5" name="Freeform 142"/>
            <p:cNvSpPr/>
            <p:nvPr/>
          </p:nvSpPr>
          <p:spPr bwMode="auto">
            <a:xfrm>
              <a:off x="8294688" y="2679700"/>
              <a:ext cx="103187" cy="133350"/>
            </a:xfrm>
            <a:custGeom>
              <a:avLst/>
              <a:gdLst>
                <a:gd name="T0" fmla="*/ 12 w 65"/>
                <a:gd name="T1" fmla="*/ 84 h 84"/>
                <a:gd name="T2" fmla="*/ 6 w 65"/>
                <a:gd name="T3" fmla="*/ 84 h 84"/>
                <a:gd name="T4" fmla="*/ 0 w 65"/>
                <a:gd name="T5" fmla="*/ 84 h 84"/>
                <a:gd name="T6" fmla="*/ 0 w 65"/>
                <a:gd name="T7" fmla="*/ 0 h 84"/>
                <a:gd name="T8" fmla="*/ 6 w 65"/>
                <a:gd name="T9" fmla="*/ 0 h 84"/>
                <a:gd name="T10" fmla="*/ 14 w 65"/>
                <a:gd name="T11" fmla="*/ 0 h 84"/>
                <a:gd name="T12" fmla="*/ 55 w 65"/>
                <a:gd name="T13" fmla="*/ 68 h 84"/>
                <a:gd name="T14" fmla="*/ 55 w 65"/>
                <a:gd name="T15" fmla="*/ 0 h 84"/>
                <a:gd name="T16" fmla="*/ 59 w 65"/>
                <a:gd name="T17" fmla="*/ 0 h 84"/>
                <a:gd name="T18" fmla="*/ 65 w 65"/>
                <a:gd name="T19" fmla="*/ 0 h 84"/>
                <a:gd name="T20" fmla="*/ 65 w 65"/>
                <a:gd name="T21" fmla="*/ 84 h 84"/>
                <a:gd name="T22" fmla="*/ 59 w 65"/>
                <a:gd name="T23" fmla="*/ 84 h 84"/>
                <a:gd name="T24" fmla="*/ 53 w 65"/>
                <a:gd name="T25" fmla="*/ 84 h 84"/>
                <a:gd name="T26" fmla="*/ 12 w 65"/>
                <a:gd name="T27" fmla="*/ 16 h 84"/>
                <a:gd name="T28" fmla="*/ 12 w 65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84">
                  <a:moveTo>
                    <a:pt x="12" y="84"/>
                  </a:move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lnTo>
                    <a:pt x="6" y="0"/>
                  </a:lnTo>
                  <a:lnTo>
                    <a:pt x="14" y="0"/>
                  </a:lnTo>
                  <a:lnTo>
                    <a:pt x="55" y="68"/>
                  </a:lnTo>
                  <a:lnTo>
                    <a:pt x="55" y="0"/>
                  </a:lnTo>
                  <a:lnTo>
                    <a:pt x="59" y="0"/>
                  </a:lnTo>
                  <a:lnTo>
                    <a:pt x="65" y="0"/>
                  </a:lnTo>
                  <a:lnTo>
                    <a:pt x="65" y="84"/>
                  </a:lnTo>
                  <a:lnTo>
                    <a:pt x="59" y="84"/>
                  </a:lnTo>
                  <a:lnTo>
                    <a:pt x="53" y="84"/>
                  </a:lnTo>
                  <a:lnTo>
                    <a:pt x="12" y="16"/>
                  </a:lnTo>
                  <a:lnTo>
                    <a:pt x="12" y="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6" name="Freeform 143"/>
            <p:cNvSpPr/>
            <p:nvPr/>
          </p:nvSpPr>
          <p:spPr bwMode="auto">
            <a:xfrm>
              <a:off x="8448675" y="2679700"/>
              <a:ext cx="15875" cy="133350"/>
            </a:xfrm>
            <a:custGeom>
              <a:avLst/>
              <a:gdLst>
                <a:gd name="T0" fmla="*/ 0 w 10"/>
                <a:gd name="T1" fmla="*/ 0 h 84"/>
                <a:gd name="T2" fmla="*/ 4 w 10"/>
                <a:gd name="T3" fmla="*/ 0 h 84"/>
                <a:gd name="T4" fmla="*/ 10 w 10"/>
                <a:gd name="T5" fmla="*/ 0 h 84"/>
                <a:gd name="T6" fmla="*/ 10 w 10"/>
                <a:gd name="T7" fmla="*/ 84 h 84"/>
                <a:gd name="T8" fmla="*/ 6 w 10"/>
                <a:gd name="T9" fmla="*/ 84 h 84"/>
                <a:gd name="T10" fmla="*/ 0 w 10"/>
                <a:gd name="T11" fmla="*/ 84 h 84"/>
                <a:gd name="T12" fmla="*/ 0 w 1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84">
                  <a:moveTo>
                    <a:pt x="0" y="0"/>
                  </a:moveTo>
                  <a:lnTo>
                    <a:pt x="4" y="0"/>
                  </a:lnTo>
                  <a:lnTo>
                    <a:pt x="10" y="0"/>
                  </a:lnTo>
                  <a:lnTo>
                    <a:pt x="10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7" name="Freeform 144"/>
            <p:cNvSpPr/>
            <p:nvPr/>
          </p:nvSpPr>
          <p:spPr bwMode="auto">
            <a:xfrm>
              <a:off x="8499475" y="2679700"/>
              <a:ext cx="117475" cy="133350"/>
            </a:xfrm>
            <a:custGeom>
              <a:avLst/>
              <a:gdLst>
                <a:gd name="T0" fmla="*/ 0 w 74"/>
                <a:gd name="T1" fmla="*/ 0 h 84"/>
                <a:gd name="T2" fmla="*/ 6 w 74"/>
                <a:gd name="T3" fmla="*/ 0 h 84"/>
                <a:gd name="T4" fmla="*/ 14 w 74"/>
                <a:gd name="T5" fmla="*/ 0 h 84"/>
                <a:gd name="T6" fmla="*/ 38 w 74"/>
                <a:gd name="T7" fmla="*/ 72 h 84"/>
                <a:gd name="T8" fmla="*/ 38 w 74"/>
                <a:gd name="T9" fmla="*/ 72 h 84"/>
                <a:gd name="T10" fmla="*/ 60 w 74"/>
                <a:gd name="T11" fmla="*/ 0 h 84"/>
                <a:gd name="T12" fmla="*/ 68 w 74"/>
                <a:gd name="T13" fmla="*/ 0 h 84"/>
                <a:gd name="T14" fmla="*/ 74 w 74"/>
                <a:gd name="T15" fmla="*/ 0 h 84"/>
                <a:gd name="T16" fmla="*/ 44 w 74"/>
                <a:gd name="T17" fmla="*/ 84 h 84"/>
                <a:gd name="T18" fmla="*/ 38 w 74"/>
                <a:gd name="T19" fmla="*/ 84 h 84"/>
                <a:gd name="T20" fmla="*/ 32 w 74"/>
                <a:gd name="T21" fmla="*/ 84 h 84"/>
                <a:gd name="T22" fmla="*/ 0 w 74"/>
                <a:gd name="T2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84">
                  <a:moveTo>
                    <a:pt x="0" y="0"/>
                  </a:moveTo>
                  <a:lnTo>
                    <a:pt x="6" y="0"/>
                  </a:lnTo>
                  <a:lnTo>
                    <a:pt x="14" y="0"/>
                  </a:lnTo>
                  <a:lnTo>
                    <a:pt x="38" y="72"/>
                  </a:lnTo>
                  <a:lnTo>
                    <a:pt x="38" y="72"/>
                  </a:lnTo>
                  <a:lnTo>
                    <a:pt x="60" y="0"/>
                  </a:lnTo>
                  <a:lnTo>
                    <a:pt x="68" y="0"/>
                  </a:lnTo>
                  <a:lnTo>
                    <a:pt x="74" y="0"/>
                  </a:lnTo>
                  <a:lnTo>
                    <a:pt x="44" y="84"/>
                  </a:lnTo>
                  <a:lnTo>
                    <a:pt x="38" y="84"/>
                  </a:lnTo>
                  <a:lnTo>
                    <a:pt x="32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8" name="Freeform 145"/>
            <p:cNvSpPr/>
            <p:nvPr/>
          </p:nvSpPr>
          <p:spPr bwMode="auto">
            <a:xfrm>
              <a:off x="8651875" y="2679700"/>
              <a:ext cx="95250" cy="133350"/>
            </a:xfrm>
            <a:custGeom>
              <a:avLst/>
              <a:gdLst>
                <a:gd name="T0" fmla="*/ 0 w 60"/>
                <a:gd name="T1" fmla="*/ 84 h 84"/>
                <a:gd name="T2" fmla="*/ 0 w 60"/>
                <a:gd name="T3" fmla="*/ 0 h 84"/>
                <a:gd name="T4" fmla="*/ 60 w 60"/>
                <a:gd name="T5" fmla="*/ 0 h 84"/>
                <a:gd name="T6" fmla="*/ 60 w 60"/>
                <a:gd name="T7" fmla="*/ 4 h 84"/>
                <a:gd name="T8" fmla="*/ 60 w 60"/>
                <a:gd name="T9" fmla="*/ 10 h 84"/>
                <a:gd name="T10" fmla="*/ 10 w 60"/>
                <a:gd name="T11" fmla="*/ 10 h 84"/>
                <a:gd name="T12" fmla="*/ 10 w 60"/>
                <a:gd name="T13" fmla="*/ 36 h 84"/>
                <a:gd name="T14" fmla="*/ 56 w 60"/>
                <a:gd name="T15" fmla="*/ 36 h 84"/>
                <a:gd name="T16" fmla="*/ 56 w 60"/>
                <a:gd name="T17" fmla="*/ 40 h 84"/>
                <a:gd name="T18" fmla="*/ 56 w 60"/>
                <a:gd name="T19" fmla="*/ 46 h 84"/>
                <a:gd name="T20" fmla="*/ 10 w 60"/>
                <a:gd name="T21" fmla="*/ 46 h 84"/>
                <a:gd name="T22" fmla="*/ 10 w 60"/>
                <a:gd name="T23" fmla="*/ 74 h 84"/>
                <a:gd name="T24" fmla="*/ 60 w 60"/>
                <a:gd name="T25" fmla="*/ 74 h 84"/>
                <a:gd name="T26" fmla="*/ 60 w 60"/>
                <a:gd name="T27" fmla="*/ 78 h 84"/>
                <a:gd name="T28" fmla="*/ 60 w 60"/>
                <a:gd name="T29" fmla="*/ 84 h 84"/>
                <a:gd name="T30" fmla="*/ 0 w 60"/>
                <a:gd name="T3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84">
                  <a:moveTo>
                    <a:pt x="0" y="84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60" y="10"/>
                  </a:lnTo>
                  <a:lnTo>
                    <a:pt x="10" y="10"/>
                  </a:lnTo>
                  <a:lnTo>
                    <a:pt x="10" y="36"/>
                  </a:lnTo>
                  <a:lnTo>
                    <a:pt x="56" y="36"/>
                  </a:lnTo>
                  <a:lnTo>
                    <a:pt x="56" y="40"/>
                  </a:lnTo>
                  <a:lnTo>
                    <a:pt x="56" y="46"/>
                  </a:lnTo>
                  <a:lnTo>
                    <a:pt x="10" y="46"/>
                  </a:lnTo>
                  <a:lnTo>
                    <a:pt x="10" y="74"/>
                  </a:lnTo>
                  <a:lnTo>
                    <a:pt x="60" y="74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9" name="Freeform 146"/>
            <p:cNvSpPr>
              <a:spLocks noEditPoints="1"/>
            </p:cNvSpPr>
            <p:nvPr/>
          </p:nvSpPr>
          <p:spPr bwMode="auto">
            <a:xfrm>
              <a:off x="8794750" y="2679700"/>
              <a:ext cx="111125" cy="133350"/>
            </a:xfrm>
            <a:custGeom>
              <a:avLst/>
              <a:gdLst>
                <a:gd name="T0" fmla="*/ 0 w 35"/>
                <a:gd name="T1" fmla="*/ 0 h 42"/>
                <a:gd name="T2" fmla="*/ 3 w 35"/>
                <a:gd name="T3" fmla="*/ 0 h 42"/>
                <a:gd name="T4" fmla="*/ 20 w 35"/>
                <a:gd name="T5" fmla="*/ 0 h 42"/>
                <a:gd name="T6" fmla="*/ 30 w 35"/>
                <a:gd name="T7" fmla="*/ 3 h 42"/>
                <a:gd name="T8" fmla="*/ 33 w 35"/>
                <a:gd name="T9" fmla="*/ 11 h 42"/>
                <a:gd name="T10" fmla="*/ 30 w 35"/>
                <a:gd name="T11" fmla="*/ 20 h 42"/>
                <a:gd name="T12" fmla="*/ 28 w 35"/>
                <a:gd name="T13" fmla="*/ 21 h 42"/>
                <a:gd name="T14" fmla="*/ 29 w 35"/>
                <a:gd name="T15" fmla="*/ 22 h 42"/>
                <a:gd name="T16" fmla="*/ 33 w 35"/>
                <a:gd name="T17" fmla="*/ 29 h 42"/>
                <a:gd name="T18" fmla="*/ 33 w 35"/>
                <a:gd name="T19" fmla="*/ 37 h 42"/>
                <a:gd name="T20" fmla="*/ 33 w 35"/>
                <a:gd name="T21" fmla="*/ 39 h 42"/>
                <a:gd name="T22" fmla="*/ 35 w 35"/>
                <a:gd name="T23" fmla="*/ 41 h 42"/>
                <a:gd name="T24" fmla="*/ 35 w 35"/>
                <a:gd name="T25" fmla="*/ 42 h 42"/>
                <a:gd name="T26" fmla="*/ 28 w 35"/>
                <a:gd name="T27" fmla="*/ 42 h 42"/>
                <a:gd name="T28" fmla="*/ 28 w 35"/>
                <a:gd name="T29" fmla="*/ 39 h 42"/>
                <a:gd name="T30" fmla="*/ 27 w 35"/>
                <a:gd name="T31" fmla="*/ 34 h 42"/>
                <a:gd name="T32" fmla="*/ 27 w 35"/>
                <a:gd name="T33" fmla="*/ 31 h 42"/>
                <a:gd name="T34" fmla="*/ 25 w 35"/>
                <a:gd name="T35" fmla="*/ 25 h 42"/>
                <a:gd name="T36" fmla="*/ 19 w 35"/>
                <a:gd name="T37" fmla="*/ 24 h 42"/>
                <a:gd name="T38" fmla="*/ 6 w 35"/>
                <a:gd name="T39" fmla="*/ 24 h 42"/>
                <a:gd name="T40" fmla="*/ 6 w 35"/>
                <a:gd name="T41" fmla="*/ 42 h 42"/>
                <a:gd name="T42" fmla="*/ 3 w 35"/>
                <a:gd name="T43" fmla="*/ 42 h 42"/>
                <a:gd name="T44" fmla="*/ 0 w 35"/>
                <a:gd name="T45" fmla="*/ 42 h 42"/>
                <a:gd name="T46" fmla="*/ 0 w 35"/>
                <a:gd name="T47" fmla="*/ 0 h 42"/>
                <a:gd name="T48" fmla="*/ 6 w 35"/>
                <a:gd name="T49" fmla="*/ 19 h 42"/>
                <a:gd name="T50" fmla="*/ 20 w 35"/>
                <a:gd name="T51" fmla="*/ 19 h 42"/>
                <a:gd name="T52" fmla="*/ 26 w 35"/>
                <a:gd name="T53" fmla="*/ 17 h 42"/>
                <a:gd name="T54" fmla="*/ 27 w 35"/>
                <a:gd name="T55" fmla="*/ 12 h 42"/>
                <a:gd name="T56" fmla="*/ 26 w 35"/>
                <a:gd name="T57" fmla="*/ 6 h 42"/>
                <a:gd name="T58" fmla="*/ 19 w 35"/>
                <a:gd name="T59" fmla="*/ 5 h 42"/>
                <a:gd name="T60" fmla="*/ 6 w 35"/>
                <a:gd name="T61" fmla="*/ 5 h 42"/>
                <a:gd name="T62" fmla="*/ 6 w 35"/>
                <a:gd name="T63" fmla="*/ 1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" h="42">
                  <a:moveTo>
                    <a:pt x="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4" y="0"/>
                    <a:pt x="28" y="1"/>
                    <a:pt x="30" y="3"/>
                  </a:cubicBezTo>
                  <a:cubicBezTo>
                    <a:pt x="32" y="5"/>
                    <a:pt x="33" y="8"/>
                    <a:pt x="33" y="11"/>
                  </a:cubicBezTo>
                  <a:cubicBezTo>
                    <a:pt x="33" y="15"/>
                    <a:pt x="32" y="18"/>
                    <a:pt x="30" y="20"/>
                  </a:cubicBezTo>
                  <a:cubicBezTo>
                    <a:pt x="29" y="20"/>
                    <a:pt x="28" y="21"/>
                    <a:pt x="28" y="2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3"/>
                    <a:pt x="33" y="26"/>
                    <a:pt x="33" y="29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8"/>
                    <a:pt x="33" y="39"/>
                    <a:pt x="33" y="39"/>
                  </a:cubicBezTo>
                  <a:cubicBezTo>
                    <a:pt x="34" y="40"/>
                    <a:pt x="34" y="40"/>
                    <a:pt x="35" y="41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1"/>
                    <a:pt x="28" y="40"/>
                    <a:pt x="28" y="39"/>
                  </a:cubicBezTo>
                  <a:cubicBezTo>
                    <a:pt x="27" y="37"/>
                    <a:pt x="27" y="36"/>
                    <a:pt x="27" y="34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28"/>
                    <a:pt x="26" y="26"/>
                    <a:pt x="25" y="25"/>
                  </a:cubicBezTo>
                  <a:cubicBezTo>
                    <a:pt x="24" y="24"/>
                    <a:pt x="22" y="24"/>
                    <a:pt x="19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0"/>
                  </a:lnTo>
                  <a:close/>
                  <a:moveTo>
                    <a:pt x="6" y="19"/>
                  </a:moveTo>
                  <a:cubicBezTo>
                    <a:pt x="20" y="19"/>
                    <a:pt x="20" y="19"/>
                    <a:pt x="20" y="19"/>
                  </a:cubicBezTo>
                  <a:cubicBezTo>
                    <a:pt x="23" y="19"/>
                    <a:pt x="24" y="18"/>
                    <a:pt x="26" y="17"/>
                  </a:cubicBezTo>
                  <a:cubicBezTo>
                    <a:pt x="27" y="16"/>
                    <a:pt x="27" y="14"/>
                    <a:pt x="27" y="12"/>
                  </a:cubicBezTo>
                  <a:cubicBezTo>
                    <a:pt x="27" y="9"/>
                    <a:pt x="27" y="7"/>
                    <a:pt x="26" y="6"/>
                  </a:cubicBezTo>
                  <a:cubicBezTo>
                    <a:pt x="24" y="5"/>
                    <a:pt x="22" y="5"/>
                    <a:pt x="19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1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0" name="Freeform 147"/>
            <p:cNvSpPr/>
            <p:nvPr/>
          </p:nvSpPr>
          <p:spPr bwMode="auto">
            <a:xfrm>
              <a:off x="8942388" y="2676525"/>
              <a:ext cx="104775" cy="139700"/>
            </a:xfrm>
            <a:custGeom>
              <a:avLst/>
              <a:gdLst>
                <a:gd name="T0" fmla="*/ 27 w 33"/>
                <a:gd name="T1" fmla="*/ 13 h 44"/>
                <a:gd name="T2" fmla="*/ 24 w 33"/>
                <a:gd name="T3" fmla="*/ 7 h 44"/>
                <a:gd name="T4" fmla="*/ 16 w 33"/>
                <a:gd name="T5" fmla="*/ 5 h 44"/>
                <a:gd name="T6" fmla="*/ 9 w 33"/>
                <a:gd name="T7" fmla="*/ 7 h 44"/>
                <a:gd name="T8" fmla="*/ 7 w 33"/>
                <a:gd name="T9" fmla="*/ 12 h 44"/>
                <a:gd name="T10" fmla="*/ 8 w 33"/>
                <a:gd name="T11" fmla="*/ 16 h 44"/>
                <a:gd name="T12" fmla="*/ 15 w 33"/>
                <a:gd name="T13" fmla="*/ 18 h 44"/>
                <a:gd name="T14" fmla="*/ 22 w 33"/>
                <a:gd name="T15" fmla="*/ 20 h 44"/>
                <a:gd name="T16" fmla="*/ 31 w 33"/>
                <a:gd name="T17" fmla="*/ 24 h 44"/>
                <a:gd name="T18" fmla="*/ 33 w 33"/>
                <a:gd name="T19" fmla="*/ 31 h 44"/>
                <a:gd name="T20" fmla="*/ 29 w 33"/>
                <a:gd name="T21" fmla="*/ 40 h 44"/>
                <a:gd name="T22" fmla="*/ 17 w 33"/>
                <a:gd name="T23" fmla="*/ 44 h 44"/>
                <a:gd name="T24" fmla="*/ 4 w 33"/>
                <a:gd name="T25" fmla="*/ 40 h 44"/>
                <a:gd name="T26" fmla="*/ 0 w 33"/>
                <a:gd name="T27" fmla="*/ 30 h 44"/>
                <a:gd name="T28" fmla="*/ 0 w 33"/>
                <a:gd name="T29" fmla="*/ 29 h 44"/>
                <a:gd name="T30" fmla="*/ 5 w 33"/>
                <a:gd name="T31" fmla="*/ 29 h 44"/>
                <a:gd name="T32" fmla="*/ 8 w 33"/>
                <a:gd name="T33" fmla="*/ 36 h 44"/>
                <a:gd name="T34" fmla="*/ 17 w 33"/>
                <a:gd name="T35" fmla="*/ 39 h 44"/>
                <a:gd name="T36" fmla="*/ 25 w 33"/>
                <a:gd name="T37" fmla="*/ 37 h 44"/>
                <a:gd name="T38" fmla="*/ 28 w 33"/>
                <a:gd name="T39" fmla="*/ 32 h 44"/>
                <a:gd name="T40" fmla="*/ 26 w 33"/>
                <a:gd name="T41" fmla="*/ 27 h 44"/>
                <a:gd name="T42" fmla="*/ 19 w 33"/>
                <a:gd name="T43" fmla="*/ 25 h 44"/>
                <a:gd name="T44" fmla="*/ 12 w 33"/>
                <a:gd name="T45" fmla="*/ 23 h 44"/>
                <a:gd name="T46" fmla="*/ 4 w 33"/>
                <a:gd name="T47" fmla="*/ 19 h 44"/>
                <a:gd name="T48" fmla="*/ 1 w 33"/>
                <a:gd name="T49" fmla="*/ 13 h 44"/>
                <a:gd name="T50" fmla="*/ 5 w 33"/>
                <a:gd name="T51" fmla="*/ 3 h 44"/>
                <a:gd name="T52" fmla="*/ 16 w 33"/>
                <a:gd name="T53" fmla="*/ 0 h 44"/>
                <a:gd name="T54" fmla="*/ 28 w 33"/>
                <a:gd name="T55" fmla="*/ 3 h 44"/>
                <a:gd name="T56" fmla="*/ 32 w 33"/>
                <a:gd name="T57" fmla="*/ 13 h 44"/>
                <a:gd name="T58" fmla="*/ 27 w 33"/>
                <a:gd name="T59" fmla="*/ 1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3" h="44">
                  <a:moveTo>
                    <a:pt x="27" y="13"/>
                  </a:moveTo>
                  <a:cubicBezTo>
                    <a:pt x="27" y="10"/>
                    <a:pt x="26" y="8"/>
                    <a:pt x="24" y="7"/>
                  </a:cubicBezTo>
                  <a:cubicBezTo>
                    <a:pt x="22" y="6"/>
                    <a:pt x="20" y="5"/>
                    <a:pt x="16" y="5"/>
                  </a:cubicBezTo>
                  <a:cubicBezTo>
                    <a:pt x="13" y="5"/>
                    <a:pt x="11" y="5"/>
                    <a:pt x="9" y="7"/>
                  </a:cubicBezTo>
                  <a:cubicBezTo>
                    <a:pt x="8" y="8"/>
                    <a:pt x="7" y="10"/>
                    <a:pt x="7" y="12"/>
                  </a:cubicBezTo>
                  <a:cubicBezTo>
                    <a:pt x="7" y="14"/>
                    <a:pt x="7" y="15"/>
                    <a:pt x="8" y="16"/>
                  </a:cubicBezTo>
                  <a:cubicBezTo>
                    <a:pt x="10" y="16"/>
                    <a:pt x="12" y="17"/>
                    <a:pt x="15" y="18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6" y="21"/>
                    <a:pt x="29" y="22"/>
                    <a:pt x="31" y="24"/>
                  </a:cubicBezTo>
                  <a:cubicBezTo>
                    <a:pt x="32" y="26"/>
                    <a:pt x="33" y="28"/>
                    <a:pt x="33" y="31"/>
                  </a:cubicBezTo>
                  <a:cubicBezTo>
                    <a:pt x="33" y="35"/>
                    <a:pt x="32" y="38"/>
                    <a:pt x="29" y="40"/>
                  </a:cubicBezTo>
                  <a:cubicBezTo>
                    <a:pt x="26" y="43"/>
                    <a:pt x="22" y="44"/>
                    <a:pt x="17" y="44"/>
                  </a:cubicBezTo>
                  <a:cubicBezTo>
                    <a:pt x="12" y="44"/>
                    <a:pt x="7" y="42"/>
                    <a:pt x="4" y="40"/>
                  </a:cubicBezTo>
                  <a:cubicBezTo>
                    <a:pt x="1" y="37"/>
                    <a:pt x="0" y="34"/>
                    <a:pt x="0" y="3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32"/>
                    <a:pt x="6" y="35"/>
                    <a:pt x="8" y="36"/>
                  </a:cubicBezTo>
                  <a:cubicBezTo>
                    <a:pt x="11" y="38"/>
                    <a:pt x="13" y="39"/>
                    <a:pt x="17" y="39"/>
                  </a:cubicBezTo>
                  <a:cubicBezTo>
                    <a:pt x="21" y="39"/>
                    <a:pt x="23" y="38"/>
                    <a:pt x="25" y="37"/>
                  </a:cubicBezTo>
                  <a:cubicBezTo>
                    <a:pt x="27" y="36"/>
                    <a:pt x="28" y="34"/>
                    <a:pt x="28" y="32"/>
                  </a:cubicBezTo>
                  <a:cubicBezTo>
                    <a:pt x="28" y="30"/>
                    <a:pt x="27" y="28"/>
                    <a:pt x="26" y="27"/>
                  </a:cubicBezTo>
                  <a:cubicBezTo>
                    <a:pt x="25" y="26"/>
                    <a:pt x="22" y="25"/>
                    <a:pt x="19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8" y="22"/>
                    <a:pt x="5" y="21"/>
                    <a:pt x="4" y="19"/>
                  </a:cubicBezTo>
                  <a:cubicBezTo>
                    <a:pt x="2" y="18"/>
                    <a:pt x="1" y="16"/>
                    <a:pt x="1" y="13"/>
                  </a:cubicBezTo>
                  <a:cubicBezTo>
                    <a:pt x="1" y="9"/>
                    <a:pt x="3" y="6"/>
                    <a:pt x="5" y="3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1" y="0"/>
                    <a:pt x="25" y="1"/>
                    <a:pt x="28" y="3"/>
                  </a:cubicBezTo>
                  <a:cubicBezTo>
                    <a:pt x="30" y="6"/>
                    <a:pt x="32" y="9"/>
                    <a:pt x="32" y="13"/>
                  </a:cubicBezTo>
                  <a:lnTo>
                    <a:pt x="27" y="1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1" name="Freeform 148"/>
            <p:cNvSpPr/>
            <p:nvPr/>
          </p:nvSpPr>
          <p:spPr bwMode="auto">
            <a:xfrm>
              <a:off x="9091613" y="2679700"/>
              <a:ext cx="19050" cy="133350"/>
            </a:xfrm>
            <a:custGeom>
              <a:avLst/>
              <a:gdLst>
                <a:gd name="T0" fmla="*/ 0 w 12"/>
                <a:gd name="T1" fmla="*/ 0 h 84"/>
                <a:gd name="T2" fmla="*/ 6 w 12"/>
                <a:gd name="T3" fmla="*/ 0 h 84"/>
                <a:gd name="T4" fmla="*/ 12 w 12"/>
                <a:gd name="T5" fmla="*/ 0 h 84"/>
                <a:gd name="T6" fmla="*/ 12 w 12"/>
                <a:gd name="T7" fmla="*/ 84 h 84"/>
                <a:gd name="T8" fmla="*/ 6 w 12"/>
                <a:gd name="T9" fmla="*/ 84 h 84"/>
                <a:gd name="T10" fmla="*/ 0 w 12"/>
                <a:gd name="T11" fmla="*/ 84 h 84"/>
                <a:gd name="T12" fmla="*/ 0 w 12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2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2" name="Freeform 149"/>
            <p:cNvSpPr/>
            <p:nvPr/>
          </p:nvSpPr>
          <p:spPr bwMode="auto">
            <a:xfrm>
              <a:off x="9145588" y="2679700"/>
              <a:ext cx="107950" cy="133350"/>
            </a:xfrm>
            <a:custGeom>
              <a:avLst/>
              <a:gdLst>
                <a:gd name="T0" fmla="*/ 30 w 68"/>
                <a:gd name="T1" fmla="*/ 10 h 84"/>
                <a:gd name="T2" fmla="*/ 0 w 68"/>
                <a:gd name="T3" fmla="*/ 10 h 84"/>
                <a:gd name="T4" fmla="*/ 0 w 68"/>
                <a:gd name="T5" fmla="*/ 4 h 84"/>
                <a:gd name="T6" fmla="*/ 0 w 68"/>
                <a:gd name="T7" fmla="*/ 0 h 84"/>
                <a:gd name="T8" fmla="*/ 68 w 68"/>
                <a:gd name="T9" fmla="*/ 0 h 84"/>
                <a:gd name="T10" fmla="*/ 68 w 68"/>
                <a:gd name="T11" fmla="*/ 4 h 84"/>
                <a:gd name="T12" fmla="*/ 68 w 68"/>
                <a:gd name="T13" fmla="*/ 10 h 84"/>
                <a:gd name="T14" fmla="*/ 40 w 68"/>
                <a:gd name="T15" fmla="*/ 10 h 84"/>
                <a:gd name="T16" fmla="*/ 40 w 68"/>
                <a:gd name="T17" fmla="*/ 84 h 84"/>
                <a:gd name="T18" fmla="*/ 34 w 68"/>
                <a:gd name="T19" fmla="*/ 84 h 84"/>
                <a:gd name="T20" fmla="*/ 30 w 68"/>
                <a:gd name="T21" fmla="*/ 84 h 84"/>
                <a:gd name="T22" fmla="*/ 30 w 68"/>
                <a:gd name="T23" fmla="*/ 1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84">
                  <a:moveTo>
                    <a:pt x="30" y="10"/>
                  </a:moveTo>
                  <a:lnTo>
                    <a:pt x="0" y="10"/>
                  </a:lnTo>
                  <a:lnTo>
                    <a:pt x="0" y="4"/>
                  </a:lnTo>
                  <a:lnTo>
                    <a:pt x="0" y="0"/>
                  </a:lnTo>
                  <a:lnTo>
                    <a:pt x="68" y="0"/>
                  </a:lnTo>
                  <a:lnTo>
                    <a:pt x="68" y="4"/>
                  </a:lnTo>
                  <a:lnTo>
                    <a:pt x="68" y="10"/>
                  </a:lnTo>
                  <a:lnTo>
                    <a:pt x="40" y="10"/>
                  </a:lnTo>
                  <a:lnTo>
                    <a:pt x="40" y="84"/>
                  </a:lnTo>
                  <a:lnTo>
                    <a:pt x="34" y="84"/>
                  </a:lnTo>
                  <a:lnTo>
                    <a:pt x="30" y="84"/>
                  </a:lnTo>
                  <a:lnTo>
                    <a:pt x="30" y="1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3" name="Freeform 150"/>
            <p:cNvSpPr/>
            <p:nvPr/>
          </p:nvSpPr>
          <p:spPr bwMode="auto">
            <a:xfrm>
              <a:off x="9285288" y="2679700"/>
              <a:ext cx="117475" cy="133350"/>
            </a:xfrm>
            <a:custGeom>
              <a:avLst/>
              <a:gdLst>
                <a:gd name="T0" fmla="*/ 32 w 74"/>
                <a:gd name="T1" fmla="*/ 50 h 84"/>
                <a:gd name="T2" fmla="*/ 0 w 74"/>
                <a:gd name="T3" fmla="*/ 0 h 84"/>
                <a:gd name="T4" fmla="*/ 6 w 74"/>
                <a:gd name="T5" fmla="*/ 0 h 84"/>
                <a:gd name="T6" fmla="*/ 14 w 74"/>
                <a:gd name="T7" fmla="*/ 0 h 84"/>
                <a:gd name="T8" fmla="*/ 38 w 74"/>
                <a:gd name="T9" fmla="*/ 40 h 84"/>
                <a:gd name="T10" fmla="*/ 38 w 74"/>
                <a:gd name="T11" fmla="*/ 40 h 84"/>
                <a:gd name="T12" fmla="*/ 62 w 74"/>
                <a:gd name="T13" fmla="*/ 0 h 84"/>
                <a:gd name="T14" fmla="*/ 68 w 74"/>
                <a:gd name="T15" fmla="*/ 0 h 84"/>
                <a:gd name="T16" fmla="*/ 74 w 74"/>
                <a:gd name="T17" fmla="*/ 0 h 84"/>
                <a:gd name="T18" fmla="*/ 42 w 74"/>
                <a:gd name="T19" fmla="*/ 50 h 84"/>
                <a:gd name="T20" fmla="*/ 42 w 74"/>
                <a:gd name="T21" fmla="*/ 84 h 84"/>
                <a:gd name="T22" fmla="*/ 38 w 74"/>
                <a:gd name="T23" fmla="*/ 84 h 84"/>
                <a:gd name="T24" fmla="*/ 32 w 74"/>
                <a:gd name="T25" fmla="*/ 84 h 84"/>
                <a:gd name="T26" fmla="*/ 32 w 74"/>
                <a:gd name="T27" fmla="*/ 5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84">
                  <a:moveTo>
                    <a:pt x="32" y="5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4" y="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62" y="0"/>
                  </a:lnTo>
                  <a:lnTo>
                    <a:pt x="68" y="0"/>
                  </a:lnTo>
                  <a:lnTo>
                    <a:pt x="74" y="0"/>
                  </a:lnTo>
                  <a:lnTo>
                    <a:pt x="42" y="50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2" y="84"/>
                  </a:lnTo>
                  <a:lnTo>
                    <a:pt x="32" y="5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4" name="Freeform 151"/>
            <p:cNvSpPr/>
            <p:nvPr/>
          </p:nvSpPr>
          <p:spPr bwMode="auto">
            <a:xfrm>
              <a:off x="8842375" y="2344738"/>
              <a:ext cx="147637" cy="152400"/>
            </a:xfrm>
            <a:custGeom>
              <a:avLst/>
              <a:gdLst>
                <a:gd name="T0" fmla="*/ 13 w 47"/>
                <a:gd name="T1" fmla="*/ 47 h 48"/>
                <a:gd name="T2" fmla="*/ 8 w 47"/>
                <a:gd name="T3" fmla="*/ 33 h 48"/>
                <a:gd name="T4" fmla="*/ 0 w 47"/>
                <a:gd name="T5" fmla="*/ 14 h 48"/>
                <a:gd name="T6" fmla="*/ 30 w 47"/>
                <a:gd name="T7" fmla="*/ 5 h 48"/>
                <a:gd name="T8" fmla="*/ 36 w 47"/>
                <a:gd name="T9" fmla="*/ 12 h 48"/>
                <a:gd name="T10" fmla="*/ 39 w 47"/>
                <a:gd name="T11" fmla="*/ 38 h 48"/>
                <a:gd name="T12" fmla="*/ 13 w 47"/>
                <a:gd name="T13" fmla="*/ 4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48">
                  <a:moveTo>
                    <a:pt x="13" y="47"/>
                  </a:moveTo>
                  <a:cubicBezTo>
                    <a:pt x="3" y="44"/>
                    <a:pt x="9" y="41"/>
                    <a:pt x="8" y="33"/>
                  </a:cubicBezTo>
                  <a:cubicBezTo>
                    <a:pt x="6" y="26"/>
                    <a:pt x="0" y="19"/>
                    <a:pt x="0" y="14"/>
                  </a:cubicBezTo>
                  <a:cubicBezTo>
                    <a:pt x="1" y="0"/>
                    <a:pt x="19" y="1"/>
                    <a:pt x="30" y="5"/>
                  </a:cubicBezTo>
                  <a:cubicBezTo>
                    <a:pt x="32" y="6"/>
                    <a:pt x="34" y="9"/>
                    <a:pt x="36" y="12"/>
                  </a:cubicBezTo>
                  <a:cubicBezTo>
                    <a:pt x="41" y="19"/>
                    <a:pt x="47" y="30"/>
                    <a:pt x="39" y="38"/>
                  </a:cubicBezTo>
                  <a:cubicBezTo>
                    <a:pt x="32" y="45"/>
                    <a:pt x="21" y="48"/>
                    <a:pt x="13" y="4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5" name="Freeform 152"/>
            <p:cNvSpPr/>
            <p:nvPr/>
          </p:nvSpPr>
          <p:spPr bwMode="auto">
            <a:xfrm>
              <a:off x="8397875" y="1892300"/>
              <a:ext cx="536575" cy="554038"/>
            </a:xfrm>
            <a:custGeom>
              <a:avLst/>
              <a:gdLst>
                <a:gd name="T0" fmla="*/ 44 w 169"/>
                <a:gd name="T1" fmla="*/ 174 h 174"/>
                <a:gd name="T2" fmla="*/ 43 w 169"/>
                <a:gd name="T3" fmla="*/ 173 h 174"/>
                <a:gd name="T4" fmla="*/ 43 w 169"/>
                <a:gd name="T5" fmla="*/ 170 h 174"/>
                <a:gd name="T6" fmla="*/ 72 w 169"/>
                <a:gd name="T7" fmla="*/ 151 h 174"/>
                <a:gd name="T8" fmla="*/ 89 w 169"/>
                <a:gd name="T9" fmla="*/ 129 h 174"/>
                <a:gd name="T10" fmla="*/ 33 w 169"/>
                <a:gd name="T11" fmla="*/ 150 h 174"/>
                <a:gd name="T12" fmla="*/ 11 w 169"/>
                <a:gd name="T13" fmla="*/ 140 h 174"/>
                <a:gd name="T14" fmla="*/ 11 w 169"/>
                <a:gd name="T15" fmla="*/ 139 h 174"/>
                <a:gd name="T16" fmla="*/ 11 w 169"/>
                <a:gd name="T17" fmla="*/ 120 h 174"/>
                <a:gd name="T18" fmla="*/ 79 w 169"/>
                <a:gd name="T19" fmla="*/ 104 h 174"/>
                <a:gd name="T20" fmla="*/ 98 w 169"/>
                <a:gd name="T21" fmla="*/ 94 h 174"/>
                <a:gd name="T22" fmla="*/ 101 w 169"/>
                <a:gd name="T23" fmla="*/ 18 h 174"/>
                <a:gd name="T24" fmla="*/ 130 w 169"/>
                <a:gd name="T25" fmla="*/ 21 h 174"/>
                <a:gd name="T26" fmla="*/ 135 w 169"/>
                <a:gd name="T27" fmla="*/ 27 h 174"/>
                <a:gd name="T28" fmla="*/ 136 w 169"/>
                <a:gd name="T29" fmla="*/ 27 h 174"/>
                <a:gd name="T30" fmla="*/ 135 w 169"/>
                <a:gd name="T31" fmla="*/ 45 h 174"/>
                <a:gd name="T32" fmla="*/ 129 w 169"/>
                <a:gd name="T33" fmla="*/ 84 h 174"/>
                <a:gd name="T34" fmla="*/ 166 w 169"/>
                <a:gd name="T35" fmla="*/ 71 h 174"/>
                <a:gd name="T36" fmla="*/ 162 w 169"/>
                <a:gd name="T37" fmla="*/ 90 h 174"/>
                <a:gd name="T38" fmla="*/ 126 w 169"/>
                <a:gd name="T39" fmla="*/ 106 h 174"/>
                <a:gd name="T40" fmla="*/ 108 w 169"/>
                <a:gd name="T41" fmla="*/ 145 h 174"/>
                <a:gd name="T42" fmla="*/ 99 w 169"/>
                <a:gd name="T43" fmla="*/ 154 h 174"/>
                <a:gd name="T44" fmla="*/ 74 w 169"/>
                <a:gd name="T45" fmla="*/ 167 h 174"/>
                <a:gd name="T46" fmla="*/ 44 w 169"/>
                <a:gd name="T47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9" h="174">
                  <a:moveTo>
                    <a:pt x="44" y="174"/>
                  </a:moveTo>
                  <a:cubicBezTo>
                    <a:pt x="43" y="174"/>
                    <a:pt x="43" y="174"/>
                    <a:pt x="43" y="173"/>
                  </a:cubicBezTo>
                  <a:cubicBezTo>
                    <a:pt x="43" y="172"/>
                    <a:pt x="43" y="171"/>
                    <a:pt x="43" y="170"/>
                  </a:cubicBezTo>
                  <a:cubicBezTo>
                    <a:pt x="46" y="169"/>
                    <a:pt x="72" y="152"/>
                    <a:pt x="72" y="151"/>
                  </a:cubicBezTo>
                  <a:cubicBezTo>
                    <a:pt x="80" y="145"/>
                    <a:pt x="87" y="139"/>
                    <a:pt x="89" y="129"/>
                  </a:cubicBezTo>
                  <a:cubicBezTo>
                    <a:pt x="70" y="135"/>
                    <a:pt x="52" y="149"/>
                    <a:pt x="33" y="150"/>
                  </a:cubicBezTo>
                  <a:cubicBezTo>
                    <a:pt x="24" y="148"/>
                    <a:pt x="18" y="143"/>
                    <a:pt x="11" y="140"/>
                  </a:cubicBezTo>
                  <a:cubicBezTo>
                    <a:pt x="11" y="140"/>
                    <a:pt x="11" y="140"/>
                    <a:pt x="11" y="139"/>
                  </a:cubicBezTo>
                  <a:cubicBezTo>
                    <a:pt x="1" y="133"/>
                    <a:pt x="0" y="124"/>
                    <a:pt x="11" y="120"/>
                  </a:cubicBezTo>
                  <a:cubicBezTo>
                    <a:pt x="31" y="124"/>
                    <a:pt x="61" y="111"/>
                    <a:pt x="79" y="104"/>
                  </a:cubicBezTo>
                  <a:cubicBezTo>
                    <a:pt x="83" y="102"/>
                    <a:pt x="95" y="98"/>
                    <a:pt x="98" y="94"/>
                  </a:cubicBezTo>
                  <a:cubicBezTo>
                    <a:pt x="103" y="68"/>
                    <a:pt x="100" y="42"/>
                    <a:pt x="101" y="18"/>
                  </a:cubicBezTo>
                  <a:cubicBezTo>
                    <a:pt x="108" y="0"/>
                    <a:pt x="119" y="12"/>
                    <a:pt x="130" y="21"/>
                  </a:cubicBezTo>
                  <a:cubicBezTo>
                    <a:pt x="131" y="22"/>
                    <a:pt x="133" y="24"/>
                    <a:pt x="135" y="27"/>
                  </a:cubicBezTo>
                  <a:cubicBezTo>
                    <a:pt x="136" y="27"/>
                    <a:pt x="136" y="27"/>
                    <a:pt x="136" y="27"/>
                  </a:cubicBezTo>
                  <a:cubicBezTo>
                    <a:pt x="141" y="35"/>
                    <a:pt x="142" y="38"/>
                    <a:pt x="135" y="45"/>
                  </a:cubicBezTo>
                  <a:cubicBezTo>
                    <a:pt x="130" y="57"/>
                    <a:pt x="128" y="70"/>
                    <a:pt x="129" y="84"/>
                  </a:cubicBezTo>
                  <a:cubicBezTo>
                    <a:pt x="142" y="82"/>
                    <a:pt x="150" y="71"/>
                    <a:pt x="166" y="71"/>
                  </a:cubicBezTo>
                  <a:cubicBezTo>
                    <a:pt x="169" y="78"/>
                    <a:pt x="169" y="84"/>
                    <a:pt x="162" y="90"/>
                  </a:cubicBezTo>
                  <a:cubicBezTo>
                    <a:pt x="151" y="95"/>
                    <a:pt x="138" y="100"/>
                    <a:pt x="126" y="106"/>
                  </a:cubicBezTo>
                  <a:cubicBezTo>
                    <a:pt x="123" y="119"/>
                    <a:pt x="117" y="135"/>
                    <a:pt x="108" y="145"/>
                  </a:cubicBezTo>
                  <a:cubicBezTo>
                    <a:pt x="107" y="147"/>
                    <a:pt x="100" y="153"/>
                    <a:pt x="99" y="154"/>
                  </a:cubicBezTo>
                  <a:cubicBezTo>
                    <a:pt x="90" y="159"/>
                    <a:pt x="83" y="165"/>
                    <a:pt x="74" y="167"/>
                  </a:cubicBezTo>
                  <a:cubicBezTo>
                    <a:pt x="49" y="174"/>
                    <a:pt x="48" y="173"/>
                    <a:pt x="44" y="17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6" name="Freeform 153"/>
            <p:cNvSpPr/>
            <p:nvPr/>
          </p:nvSpPr>
          <p:spPr bwMode="auto">
            <a:xfrm>
              <a:off x="7702550" y="2217738"/>
              <a:ext cx="319087" cy="369888"/>
            </a:xfrm>
            <a:custGeom>
              <a:avLst/>
              <a:gdLst>
                <a:gd name="T0" fmla="*/ 23 w 101"/>
                <a:gd name="T1" fmla="*/ 116 h 116"/>
                <a:gd name="T2" fmla="*/ 0 w 101"/>
                <a:gd name="T3" fmla="*/ 93 h 116"/>
                <a:gd name="T4" fmla="*/ 3 w 101"/>
                <a:gd name="T5" fmla="*/ 86 h 116"/>
                <a:gd name="T6" fmla="*/ 66 w 101"/>
                <a:gd name="T7" fmla="*/ 35 h 116"/>
                <a:gd name="T8" fmla="*/ 87 w 101"/>
                <a:gd name="T9" fmla="*/ 7 h 116"/>
                <a:gd name="T10" fmla="*/ 88 w 101"/>
                <a:gd name="T11" fmla="*/ 7 h 116"/>
                <a:gd name="T12" fmla="*/ 88 w 101"/>
                <a:gd name="T13" fmla="*/ 6 h 116"/>
                <a:gd name="T14" fmla="*/ 100 w 101"/>
                <a:gd name="T15" fmla="*/ 7 h 116"/>
                <a:gd name="T16" fmla="*/ 87 w 101"/>
                <a:gd name="T17" fmla="*/ 25 h 116"/>
                <a:gd name="T18" fmla="*/ 72 w 101"/>
                <a:gd name="T19" fmla="*/ 58 h 116"/>
                <a:gd name="T20" fmla="*/ 63 w 101"/>
                <a:gd name="T21" fmla="*/ 71 h 116"/>
                <a:gd name="T22" fmla="*/ 47 w 101"/>
                <a:gd name="T23" fmla="*/ 95 h 116"/>
                <a:gd name="T24" fmla="*/ 28 w 101"/>
                <a:gd name="T25" fmla="*/ 115 h 116"/>
                <a:gd name="T26" fmla="*/ 23 w 101"/>
                <a:gd name="T27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16">
                  <a:moveTo>
                    <a:pt x="23" y="116"/>
                  </a:moveTo>
                  <a:cubicBezTo>
                    <a:pt x="14" y="111"/>
                    <a:pt x="5" y="100"/>
                    <a:pt x="0" y="93"/>
                  </a:cubicBezTo>
                  <a:cubicBezTo>
                    <a:pt x="1" y="91"/>
                    <a:pt x="2" y="88"/>
                    <a:pt x="3" y="86"/>
                  </a:cubicBezTo>
                  <a:cubicBezTo>
                    <a:pt x="25" y="70"/>
                    <a:pt x="47" y="55"/>
                    <a:pt x="66" y="35"/>
                  </a:cubicBezTo>
                  <a:cubicBezTo>
                    <a:pt x="72" y="26"/>
                    <a:pt x="80" y="16"/>
                    <a:pt x="87" y="7"/>
                  </a:cubicBezTo>
                  <a:cubicBezTo>
                    <a:pt x="87" y="7"/>
                    <a:pt x="87" y="7"/>
                    <a:pt x="88" y="7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93" y="1"/>
                    <a:pt x="96" y="0"/>
                    <a:pt x="100" y="7"/>
                  </a:cubicBezTo>
                  <a:cubicBezTo>
                    <a:pt x="101" y="13"/>
                    <a:pt x="90" y="20"/>
                    <a:pt x="87" y="25"/>
                  </a:cubicBezTo>
                  <a:cubicBezTo>
                    <a:pt x="82" y="36"/>
                    <a:pt x="78" y="47"/>
                    <a:pt x="72" y="58"/>
                  </a:cubicBezTo>
                  <a:cubicBezTo>
                    <a:pt x="70" y="60"/>
                    <a:pt x="70" y="60"/>
                    <a:pt x="63" y="71"/>
                  </a:cubicBezTo>
                  <a:cubicBezTo>
                    <a:pt x="58" y="76"/>
                    <a:pt x="50" y="88"/>
                    <a:pt x="47" y="95"/>
                  </a:cubicBezTo>
                  <a:cubicBezTo>
                    <a:pt x="40" y="99"/>
                    <a:pt x="37" y="111"/>
                    <a:pt x="28" y="115"/>
                  </a:cubicBezTo>
                  <a:cubicBezTo>
                    <a:pt x="27" y="115"/>
                    <a:pt x="25" y="115"/>
                    <a:pt x="23" y="116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7" name="Freeform 154"/>
            <p:cNvSpPr/>
            <p:nvPr/>
          </p:nvSpPr>
          <p:spPr bwMode="auto">
            <a:xfrm>
              <a:off x="8104188" y="2205038"/>
              <a:ext cx="180975" cy="136525"/>
            </a:xfrm>
            <a:custGeom>
              <a:avLst/>
              <a:gdLst>
                <a:gd name="T0" fmla="*/ 25 w 57"/>
                <a:gd name="T1" fmla="*/ 43 h 43"/>
                <a:gd name="T2" fmla="*/ 0 w 57"/>
                <a:gd name="T3" fmla="*/ 26 h 43"/>
                <a:gd name="T4" fmla="*/ 3 w 57"/>
                <a:gd name="T5" fmla="*/ 18 h 43"/>
                <a:gd name="T6" fmla="*/ 8 w 57"/>
                <a:gd name="T7" fmla="*/ 16 h 43"/>
                <a:gd name="T8" fmla="*/ 22 w 57"/>
                <a:gd name="T9" fmla="*/ 15 h 43"/>
                <a:gd name="T10" fmla="*/ 56 w 57"/>
                <a:gd name="T11" fmla="*/ 6 h 43"/>
                <a:gd name="T12" fmla="*/ 25 w 57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3">
                  <a:moveTo>
                    <a:pt x="25" y="43"/>
                  </a:moveTo>
                  <a:cubicBezTo>
                    <a:pt x="12" y="43"/>
                    <a:pt x="8" y="34"/>
                    <a:pt x="0" y="26"/>
                  </a:cubicBezTo>
                  <a:cubicBezTo>
                    <a:pt x="0" y="23"/>
                    <a:pt x="2" y="21"/>
                    <a:pt x="3" y="18"/>
                  </a:cubicBezTo>
                  <a:cubicBezTo>
                    <a:pt x="6" y="17"/>
                    <a:pt x="6" y="17"/>
                    <a:pt x="8" y="16"/>
                  </a:cubicBezTo>
                  <a:cubicBezTo>
                    <a:pt x="14" y="15"/>
                    <a:pt x="16" y="16"/>
                    <a:pt x="22" y="15"/>
                  </a:cubicBezTo>
                  <a:cubicBezTo>
                    <a:pt x="30" y="13"/>
                    <a:pt x="49" y="0"/>
                    <a:pt x="56" y="6"/>
                  </a:cubicBezTo>
                  <a:cubicBezTo>
                    <a:pt x="57" y="22"/>
                    <a:pt x="39" y="39"/>
                    <a:pt x="25" y="4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8" name="Freeform 155"/>
            <p:cNvSpPr/>
            <p:nvPr/>
          </p:nvSpPr>
          <p:spPr bwMode="auto">
            <a:xfrm>
              <a:off x="7834313" y="2122488"/>
              <a:ext cx="120650" cy="136525"/>
            </a:xfrm>
            <a:custGeom>
              <a:avLst/>
              <a:gdLst>
                <a:gd name="T0" fmla="*/ 7 w 38"/>
                <a:gd name="T1" fmla="*/ 43 h 43"/>
                <a:gd name="T2" fmla="*/ 0 w 38"/>
                <a:gd name="T3" fmla="*/ 12 h 43"/>
                <a:gd name="T4" fmla="*/ 25 w 38"/>
                <a:gd name="T5" fmla="*/ 7 h 43"/>
                <a:gd name="T6" fmla="*/ 30 w 38"/>
                <a:gd name="T7" fmla="*/ 33 h 43"/>
                <a:gd name="T8" fmla="*/ 7 w 38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7" y="43"/>
                  </a:moveTo>
                  <a:cubicBezTo>
                    <a:pt x="1" y="39"/>
                    <a:pt x="0" y="18"/>
                    <a:pt x="0" y="12"/>
                  </a:cubicBezTo>
                  <a:cubicBezTo>
                    <a:pt x="4" y="0"/>
                    <a:pt x="16" y="0"/>
                    <a:pt x="25" y="7"/>
                  </a:cubicBezTo>
                  <a:cubicBezTo>
                    <a:pt x="33" y="17"/>
                    <a:pt x="38" y="22"/>
                    <a:pt x="30" y="33"/>
                  </a:cubicBezTo>
                  <a:cubicBezTo>
                    <a:pt x="21" y="41"/>
                    <a:pt x="17" y="42"/>
                    <a:pt x="7" y="4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9" name="Freeform 156"/>
            <p:cNvSpPr/>
            <p:nvPr/>
          </p:nvSpPr>
          <p:spPr bwMode="auto">
            <a:xfrm>
              <a:off x="8101013" y="2030413"/>
              <a:ext cx="209550" cy="196850"/>
            </a:xfrm>
            <a:custGeom>
              <a:avLst/>
              <a:gdLst>
                <a:gd name="T0" fmla="*/ 22 w 66"/>
                <a:gd name="T1" fmla="*/ 62 h 62"/>
                <a:gd name="T2" fmla="*/ 27 w 66"/>
                <a:gd name="T3" fmla="*/ 39 h 62"/>
                <a:gd name="T4" fmla="*/ 17 w 66"/>
                <a:gd name="T5" fmla="*/ 41 h 62"/>
                <a:gd name="T6" fmla="*/ 3 w 66"/>
                <a:gd name="T7" fmla="*/ 20 h 62"/>
                <a:gd name="T8" fmla="*/ 16 w 66"/>
                <a:gd name="T9" fmla="*/ 14 h 62"/>
                <a:gd name="T10" fmla="*/ 43 w 66"/>
                <a:gd name="T11" fmla="*/ 2 h 62"/>
                <a:gd name="T12" fmla="*/ 66 w 66"/>
                <a:gd name="T13" fmla="*/ 23 h 62"/>
                <a:gd name="T14" fmla="*/ 51 w 66"/>
                <a:gd name="T15" fmla="*/ 47 h 62"/>
                <a:gd name="T16" fmla="*/ 28 w 66"/>
                <a:gd name="T17" fmla="*/ 61 h 62"/>
                <a:gd name="T18" fmla="*/ 22 w 66"/>
                <a:gd name="T1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" h="62">
                  <a:moveTo>
                    <a:pt x="22" y="62"/>
                  </a:moveTo>
                  <a:cubicBezTo>
                    <a:pt x="21" y="56"/>
                    <a:pt x="30" y="43"/>
                    <a:pt x="27" y="39"/>
                  </a:cubicBezTo>
                  <a:cubicBezTo>
                    <a:pt x="24" y="40"/>
                    <a:pt x="21" y="41"/>
                    <a:pt x="17" y="41"/>
                  </a:cubicBezTo>
                  <a:cubicBezTo>
                    <a:pt x="9" y="37"/>
                    <a:pt x="0" y="27"/>
                    <a:pt x="3" y="20"/>
                  </a:cubicBezTo>
                  <a:cubicBezTo>
                    <a:pt x="9" y="13"/>
                    <a:pt x="7" y="15"/>
                    <a:pt x="16" y="14"/>
                  </a:cubicBezTo>
                  <a:cubicBezTo>
                    <a:pt x="25" y="10"/>
                    <a:pt x="34" y="6"/>
                    <a:pt x="43" y="2"/>
                  </a:cubicBezTo>
                  <a:cubicBezTo>
                    <a:pt x="58" y="0"/>
                    <a:pt x="65" y="8"/>
                    <a:pt x="66" y="23"/>
                  </a:cubicBezTo>
                  <a:cubicBezTo>
                    <a:pt x="64" y="32"/>
                    <a:pt x="57" y="40"/>
                    <a:pt x="51" y="47"/>
                  </a:cubicBezTo>
                  <a:cubicBezTo>
                    <a:pt x="43" y="52"/>
                    <a:pt x="36" y="57"/>
                    <a:pt x="28" y="61"/>
                  </a:cubicBezTo>
                  <a:cubicBezTo>
                    <a:pt x="26" y="62"/>
                    <a:pt x="24" y="62"/>
                    <a:pt x="22" y="62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0" name="Freeform 157"/>
            <p:cNvSpPr/>
            <p:nvPr/>
          </p:nvSpPr>
          <p:spPr bwMode="auto">
            <a:xfrm>
              <a:off x="7894638" y="1949450"/>
              <a:ext cx="130175" cy="144463"/>
            </a:xfrm>
            <a:custGeom>
              <a:avLst/>
              <a:gdLst>
                <a:gd name="T0" fmla="*/ 5 w 41"/>
                <a:gd name="T1" fmla="*/ 45 h 45"/>
                <a:gd name="T2" fmla="*/ 5 w 41"/>
                <a:gd name="T3" fmla="*/ 37 h 45"/>
                <a:gd name="T4" fmla="*/ 0 w 41"/>
                <a:gd name="T5" fmla="*/ 20 h 45"/>
                <a:gd name="T6" fmla="*/ 9 w 41"/>
                <a:gd name="T7" fmla="*/ 0 h 45"/>
                <a:gd name="T8" fmla="*/ 35 w 41"/>
                <a:gd name="T9" fmla="*/ 29 h 45"/>
                <a:gd name="T10" fmla="*/ 5 w 41"/>
                <a:gd name="T11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45">
                  <a:moveTo>
                    <a:pt x="5" y="45"/>
                  </a:moveTo>
                  <a:cubicBezTo>
                    <a:pt x="2" y="42"/>
                    <a:pt x="3" y="40"/>
                    <a:pt x="5" y="37"/>
                  </a:cubicBezTo>
                  <a:cubicBezTo>
                    <a:pt x="4" y="31"/>
                    <a:pt x="0" y="26"/>
                    <a:pt x="0" y="20"/>
                  </a:cubicBezTo>
                  <a:cubicBezTo>
                    <a:pt x="2" y="9"/>
                    <a:pt x="0" y="5"/>
                    <a:pt x="9" y="0"/>
                  </a:cubicBezTo>
                  <a:cubicBezTo>
                    <a:pt x="16" y="3"/>
                    <a:pt x="41" y="16"/>
                    <a:pt x="35" y="29"/>
                  </a:cubicBezTo>
                  <a:cubicBezTo>
                    <a:pt x="28" y="38"/>
                    <a:pt x="15" y="43"/>
                    <a:pt x="5" y="4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1" name="Freeform 158"/>
            <p:cNvSpPr/>
            <p:nvPr/>
          </p:nvSpPr>
          <p:spPr bwMode="auto">
            <a:xfrm>
              <a:off x="6815138" y="1990725"/>
              <a:ext cx="817562" cy="628650"/>
            </a:xfrm>
            <a:custGeom>
              <a:avLst/>
              <a:gdLst>
                <a:gd name="T0" fmla="*/ 27 w 258"/>
                <a:gd name="T1" fmla="*/ 197 h 197"/>
                <a:gd name="T2" fmla="*/ 17 w 258"/>
                <a:gd name="T3" fmla="*/ 155 h 197"/>
                <a:gd name="T4" fmla="*/ 22 w 258"/>
                <a:gd name="T5" fmla="*/ 149 h 197"/>
                <a:gd name="T6" fmla="*/ 22 w 258"/>
                <a:gd name="T7" fmla="*/ 148 h 197"/>
                <a:gd name="T8" fmla="*/ 57 w 258"/>
                <a:gd name="T9" fmla="*/ 100 h 197"/>
                <a:gd name="T10" fmla="*/ 69 w 258"/>
                <a:gd name="T11" fmla="*/ 87 h 197"/>
                <a:gd name="T12" fmla="*/ 70 w 258"/>
                <a:gd name="T13" fmla="*/ 102 h 197"/>
                <a:gd name="T14" fmla="*/ 80 w 258"/>
                <a:gd name="T15" fmla="*/ 101 h 197"/>
                <a:gd name="T16" fmla="*/ 112 w 258"/>
                <a:gd name="T17" fmla="*/ 76 h 197"/>
                <a:gd name="T18" fmla="*/ 114 w 258"/>
                <a:gd name="T19" fmla="*/ 63 h 197"/>
                <a:gd name="T20" fmla="*/ 90 w 258"/>
                <a:gd name="T21" fmla="*/ 57 h 197"/>
                <a:gd name="T22" fmla="*/ 116 w 258"/>
                <a:gd name="T23" fmla="*/ 38 h 197"/>
                <a:gd name="T24" fmla="*/ 121 w 258"/>
                <a:gd name="T25" fmla="*/ 11 h 197"/>
                <a:gd name="T26" fmla="*/ 144 w 258"/>
                <a:gd name="T27" fmla="*/ 29 h 197"/>
                <a:gd name="T28" fmla="*/ 145 w 258"/>
                <a:gd name="T29" fmla="*/ 48 h 197"/>
                <a:gd name="T30" fmla="*/ 142 w 258"/>
                <a:gd name="T31" fmla="*/ 60 h 197"/>
                <a:gd name="T32" fmla="*/ 146 w 258"/>
                <a:gd name="T33" fmla="*/ 60 h 197"/>
                <a:gd name="T34" fmla="*/ 172 w 258"/>
                <a:gd name="T35" fmla="*/ 42 h 197"/>
                <a:gd name="T36" fmla="*/ 184 w 258"/>
                <a:gd name="T37" fmla="*/ 6 h 197"/>
                <a:gd name="T38" fmla="*/ 214 w 258"/>
                <a:gd name="T39" fmla="*/ 14 h 197"/>
                <a:gd name="T40" fmla="*/ 232 w 258"/>
                <a:gd name="T41" fmla="*/ 6 h 197"/>
                <a:gd name="T42" fmla="*/ 239 w 258"/>
                <a:gd name="T43" fmla="*/ 5 h 197"/>
                <a:gd name="T44" fmla="*/ 242 w 258"/>
                <a:gd name="T45" fmla="*/ 17 h 197"/>
                <a:gd name="T46" fmla="*/ 206 w 258"/>
                <a:gd name="T47" fmla="*/ 51 h 197"/>
                <a:gd name="T48" fmla="*/ 218 w 258"/>
                <a:gd name="T49" fmla="*/ 38 h 197"/>
                <a:gd name="T50" fmla="*/ 250 w 258"/>
                <a:gd name="T51" fmla="*/ 45 h 197"/>
                <a:gd name="T52" fmla="*/ 242 w 258"/>
                <a:gd name="T53" fmla="*/ 66 h 197"/>
                <a:gd name="T54" fmla="*/ 239 w 258"/>
                <a:gd name="T55" fmla="*/ 70 h 197"/>
                <a:gd name="T56" fmla="*/ 239 w 258"/>
                <a:gd name="T57" fmla="*/ 121 h 197"/>
                <a:gd name="T58" fmla="*/ 227 w 258"/>
                <a:gd name="T59" fmla="*/ 140 h 197"/>
                <a:gd name="T60" fmla="*/ 227 w 258"/>
                <a:gd name="T61" fmla="*/ 141 h 197"/>
                <a:gd name="T62" fmla="*/ 226 w 258"/>
                <a:gd name="T63" fmla="*/ 141 h 197"/>
                <a:gd name="T64" fmla="*/ 207 w 258"/>
                <a:gd name="T65" fmla="*/ 148 h 197"/>
                <a:gd name="T66" fmla="*/ 208 w 258"/>
                <a:gd name="T67" fmla="*/ 75 h 197"/>
                <a:gd name="T68" fmla="*/ 206 w 258"/>
                <a:gd name="T69" fmla="*/ 76 h 197"/>
                <a:gd name="T70" fmla="*/ 183 w 258"/>
                <a:gd name="T71" fmla="*/ 117 h 197"/>
                <a:gd name="T72" fmla="*/ 163 w 258"/>
                <a:gd name="T73" fmla="*/ 104 h 197"/>
                <a:gd name="T74" fmla="*/ 168 w 258"/>
                <a:gd name="T75" fmla="*/ 99 h 197"/>
                <a:gd name="T76" fmla="*/ 171 w 258"/>
                <a:gd name="T77" fmla="*/ 58 h 197"/>
                <a:gd name="T78" fmla="*/ 145 w 258"/>
                <a:gd name="T79" fmla="*/ 83 h 197"/>
                <a:gd name="T80" fmla="*/ 134 w 258"/>
                <a:gd name="T81" fmla="*/ 92 h 197"/>
                <a:gd name="T82" fmla="*/ 127 w 258"/>
                <a:gd name="T83" fmla="*/ 120 h 197"/>
                <a:gd name="T84" fmla="*/ 121 w 258"/>
                <a:gd name="T85" fmla="*/ 133 h 197"/>
                <a:gd name="T86" fmla="*/ 120 w 258"/>
                <a:gd name="T87" fmla="*/ 133 h 197"/>
                <a:gd name="T88" fmla="*/ 98 w 258"/>
                <a:gd name="T89" fmla="*/ 145 h 197"/>
                <a:gd name="T90" fmla="*/ 98 w 258"/>
                <a:gd name="T91" fmla="*/ 141 h 197"/>
                <a:gd name="T92" fmla="*/ 108 w 258"/>
                <a:gd name="T93" fmla="*/ 111 h 197"/>
                <a:gd name="T94" fmla="*/ 83 w 258"/>
                <a:gd name="T95" fmla="*/ 123 h 197"/>
                <a:gd name="T96" fmla="*/ 69 w 258"/>
                <a:gd name="T97" fmla="*/ 119 h 197"/>
                <a:gd name="T98" fmla="*/ 69 w 258"/>
                <a:gd name="T99" fmla="*/ 117 h 197"/>
                <a:gd name="T100" fmla="*/ 63 w 258"/>
                <a:gd name="T101" fmla="*/ 115 h 197"/>
                <a:gd name="T102" fmla="*/ 58 w 258"/>
                <a:gd name="T103" fmla="*/ 131 h 197"/>
                <a:gd name="T104" fmla="*/ 35 w 258"/>
                <a:gd name="T105" fmla="*/ 192 h 197"/>
                <a:gd name="T106" fmla="*/ 27 w 258"/>
                <a:gd name="T107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8" h="197">
                  <a:moveTo>
                    <a:pt x="27" y="197"/>
                  </a:moveTo>
                  <a:cubicBezTo>
                    <a:pt x="12" y="191"/>
                    <a:pt x="0" y="162"/>
                    <a:pt x="17" y="155"/>
                  </a:cubicBezTo>
                  <a:cubicBezTo>
                    <a:pt x="18" y="153"/>
                    <a:pt x="20" y="150"/>
                    <a:pt x="22" y="149"/>
                  </a:cubicBezTo>
                  <a:cubicBezTo>
                    <a:pt x="22" y="149"/>
                    <a:pt x="22" y="149"/>
                    <a:pt x="22" y="148"/>
                  </a:cubicBezTo>
                  <a:cubicBezTo>
                    <a:pt x="36" y="135"/>
                    <a:pt x="46" y="115"/>
                    <a:pt x="57" y="100"/>
                  </a:cubicBezTo>
                  <a:cubicBezTo>
                    <a:pt x="61" y="94"/>
                    <a:pt x="62" y="89"/>
                    <a:pt x="69" y="87"/>
                  </a:cubicBezTo>
                  <a:cubicBezTo>
                    <a:pt x="72" y="90"/>
                    <a:pt x="71" y="97"/>
                    <a:pt x="70" y="102"/>
                  </a:cubicBezTo>
                  <a:cubicBezTo>
                    <a:pt x="71" y="103"/>
                    <a:pt x="77" y="102"/>
                    <a:pt x="80" y="101"/>
                  </a:cubicBezTo>
                  <a:cubicBezTo>
                    <a:pt x="89" y="93"/>
                    <a:pt x="102" y="85"/>
                    <a:pt x="112" y="76"/>
                  </a:cubicBezTo>
                  <a:cubicBezTo>
                    <a:pt x="113" y="72"/>
                    <a:pt x="113" y="67"/>
                    <a:pt x="114" y="63"/>
                  </a:cubicBezTo>
                  <a:cubicBezTo>
                    <a:pt x="107" y="65"/>
                    <a:pt x="84" y="70"/>
                    <a:pt x="90" y="57"/>
                  </a:cubicBezTo>
                  <a:cubicBezTo>
                    <a:pt x="98" y="54"/>
                    <a:pt x="111" y="47"/>
                    <a:pt x="116" y="38"/>
                  </a:cubicBezTo>
                  <a:cubicBezTo>
                    <a:pt x="118" y="28"/>
                    <a:pt x="117" y="18"/>
                    <a:pt x="121" y="11"/>
                  </a:cubicBezTo>
                  <a:cubicBezTo>
                    <a:pt x="131" y="6"/>
                    <a:pt x="142" y="18"/>
                    <a:pt x="144" y="29"/>
                  </a:cubicBezTo>
                  <a:cubicBezTo>
                    <a:pt x="148" y="35"/>
                    <a:pt x="160" y="27"/>
                    <a:pt x="145" y="48"/>
                  </a:cubicBezTo>
                  <a:cubicBezTo>
                    <a:pt x="142" y="50"/>
                    <a:pt x="142" y="55"/>
                    <a:pt x="142" y="60"/>
                  </a:cubicBezTo>
                  <a:cubicBezTo>
                    <a:pt x="144" y="60"/>
                    <a:pt x="145" y="60"/>
                    <a:pt x="146" y="60"/>
                  </a:cubicBezTo>
                  <a:cubicBezTo>
                    <a:pt x="154" y="54"/>
                    <a:pt x="163" y="47"/>
                    <a:pt x="172" y="42"/>
                  </a:cubicBezTo>
                  <a:cubicBezTo>
                    <a:pt x="175" y="29"/>
                    <a:pt x="177" y="17"/>
                    <a:pt x="184" y="6"/>
                  </a:cubicBezTo>
                  <a:cubicBezTo>
                    <a:pt x="193" y="0"/>
                    <a:pt x="205" y="7"/>
                    <a:pt x="214" y="14"/>
                  </a:cubicBezTo>
                  <a:cubicBezTo>
                    <a:pt x="221" y="14"/>
                    <a:pt x="226" y="11"/>
                    <a:pt x="232" y="6"/>
                  </a:cubicBezTo>
                  <a:cubicBezTo>
                    <a:pt x="234" y="5"/>
                    <a:pt x="234" y="5"/>
                    <a:pt x="239" y="5"/>
                  </a:cubicBezTo>
                  <a:cubicBezTo>
                    <a:pt x="241" y="9"/>
                    <a:pt x="242" y="12"/>
                    <a:pt x="242" y="17"/>
                  </a:cubicBezTo>
                  <a:cubicBezTo>
                    <a:pt x="237" y="30"/>
                    <a:pt x="198" y="35"/>
                    <a:pt x="206" y="51"/>
                  </a:cubicBezTo>
                  <a:cubicBezTo>
                    <a:pt x="213" y="50"/>
                    <a:pt x="215" y="43"/>
                    <a:pt x="218" y="38"/>
                  </a:cubicBezTo>
                  <a:cubicBezTo>
                    <a:pt x="225" y="34"/>
                    <a:pt x="242" y="39"/>
                    <a:pt x="250" y="45"/>
                  </a:cubicBezTo>
                  <a:cubicBezTo>
                    <a:pt x="258" y="55"/>
                    <a:pt x="252" y="59"/>
                    <a:pt x="242" y="66"/>
                  </a:cubicBezTo>
                  <a:cubicBezTo>
                    <a:pt x="241" y="67"/>
                    <a:pt x="240" y="69"/>
                    <a:pt x="239" y="70"/>
                  </a:cubicBezTo>
                  <a:cubicBezTo>
                    <a:pt x="238" y="92"/>
                    <a:pt x="238" y="92"/>
                    <a:pt x="239" y="121"/>
                  </a:cubicBezTo>
                  <a:cubicBezTo>
                    <a:pt x="235" y="129"/>
                    <a:pt x="233" y="133"/>
                    <a:pt x="227" y="140"/>
                  </a:cubicBezTo>
                  <a:cubicBezTo>
                    <a:pt x="227" y="140"/>
                    <a:pt x="227" y="140"/>
                    <a:pt x="227" y="141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2" y="147"/>
                    <a:pt x="213" y="154"/>
                    <a:pt x="207" y="148"/>
                  </a:cubicBezTo>
                  <a:cubicBezTo>
                    <a:pt x="207" y="123"/>
                    <a:pt x="208" y="98"/>
                    <a:pt x="208" y="75"/>
                  </a:cubicBezTo>
                  <a:cubicBezTo>
                    <a:pt x="207" y="75"/>
                    <a:pt x="207" y="76"/>
                    <a:pt x="206" y="76"/>
                  </a:cubicBezTo>
                  <a:cubicBezTo>
                    <a:pt x="205" y="87"/>
                    <a:pt x="193" y="110"/>
                    <a:pt x="183" y="117"/>
                  </a:cubicBezTo>
                  <a:cubicBezTo>
                    <a:pt x="173" y="117"/>
                    <a:pt x="166" y="112"/>
                    <a:pt x="163" y="104"/>
                  </a:cubicBezTo>
                  <a:cubicBezTo>
                    <a:pt x="164" y="102"/>
                    <a:pt x="166" y="101"/>
                    <a:pt x="168" y="99"/>
                  </a:cubicBezTo>
                  <a:cubicBezTo>
                    <a:pt x="173" y="89"/>
                    <a:pt x="171" y="69"/>
                    <a:pt x="171" y="58"/>
                  </a:cubicBezTo>
                  <a:cubicBezTo>
                    <a:pt x="164" y="60"/>
                    <a:pt x="151" y="77"/>
                    <a:pt x="145" y="83"/>
                  </a:cubicBezTo>
                  <a:cubicBezTo>
                    <a:pt x="142" y="86"/>
                    <a:pt x="138" y="89"/>
                    <a:pt x="134" y="92"/>
                  </a:cubicBezTo>
                  <a:cubicBezTo>
                    <a:pt x="131" y="101"/>
                    <a:pt x="129" y="110"/>
                    <a:pt x="127" y="120"/>
                  </a:cubicBezTo>
                  <a:cubicBezTo>
                    <a:pt x="125" y="124"/>
                    <a:pt x="123" y="128"/>
                    <a:pt x="121" y="133"/>
                  </a:cubicBezTo>
                  <a:cubicBezTo>
                    <a:pt x="120" y="133"/>
                    <a:pt x="120" y="133"/>
                    <a:pt x="120" y="133"/>
                  </a:cubicBezTo>
                  <a:cubicBezTo>
                    <a:pt x="116" y="139"/>
                    <a:pt x="105" y="154"/>
                    <a:pt x="98" y="145"/>
                  </a:cubicBezTo>
                  <a:cubicBezTo>
                    <a:pt x="98" y="143"/>
                    <a:pt x="98" y="142"/>
                    <a:pt x="98" y="141"/>
                  </a:cubicBezTo>
                  <a:cubicBezTo>
                    <a:pt x="104" y="132"/>
                    <a:pt x="108" y="121"/>
                    <a:pt x="108" y="111"/>
                  </a:cubicBezTo>
                  <a:cubicBezTo>
                    <a:pt x="99" y="114"/>
                    <a:pt x="93" y="122"/>
                    <a:pt x="83" y="123"/>
                  </a:cubicBezTo>
                  <a:cubicBezTo>
                    <a:pt x="78" y="122"/>
                    <a:pt x="73" y="120"/>
                    <a:pt x="69" y="119"/>
                  </a:cubicBezTo>
                  <a:cubicBezTo>
                    <a:pt x="69" y="118"/>
                    <a:pt x="69" y="118"/>
                    <a:pt x="69" y="117"/>
                  </a:cubicBezTo>
                  <a:cubicBezTo>
                    <a:pt x="67" y="116"/>
                    <a:pt x="65" y="114"/>
                    <a:pt x="63" y="115"/>
                  </a:cubicBezTo>
                  <a:cubicBezTo>
                    <a:pt x="61" y="120"/>
                    <a:pt x="60" y="125"/>
                    <a:pt x="58" y="131"/>
                  </a:cubicBezTo>
                  <a:cubicBezTo>
                    <a:pt x="49" y="150"/>
                    <a:pt x="42" y="170"/>
                    <a:pt x="35" y="192"/>
                  </a:cubicBezTo>
                  <a:cubicBezTo>
                    <a:pt x="32" y="196"/>
                    <a:pt x="31" y="196"/>
                    <a:pt x="27" y="19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2" name="Freeform 159"/>
            <p:cNvSpPr/>
            <p:nvPr/>
          </p:nvSpPr>
          <p:spPr bwMode="auto">
            <a:xfrm>
              <a:off x="6935788" y="2093913"/>
              <a:ext cx="127000" cy="158750"/>
            </a:xfrm>
            <a:custGeom>
              <a:avLst/>
              <a:gdLst>
                <a:gd name="T0" fmla="*/ 7 w 40"/>
                <a:gd name="T1" fmla="*/ 50 h 50"/>
                <a:gd name="T2" fmla="*/ 8 w 40"/>
                <a:gd name="T3" fmla="*/ 35 h 50"/>
                <a:gd name="T4" fmla="*/ 9 w 40"/>
                <a:gd name="T5" fmla="*/ 0 h 50"/>
                <a:gd name="T6" fmla="*/ 13 w 40"/>
                <a:gd name="T7" fmla="*/ 0 h 50"/>
                <a:gd name="T8" fmla="*/ 34 w 40"/>
                <a:gd name="T9" fmla="*/ 21 h 50"/>
                <a:gd name="T10" fmla="*/ 7 w 40"/>
                <a:gd name="T11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50">
                  <a:moveTo>
                    <a:pt x="7" y="50"/>
                  </a:moveTo>
                  <a:cubicBezTo>
                    <a:pt x="4" y="46"/>
                    <a:pt x="8" y="40"/>
                    <a:pt x="8" y="35"/>
                  </a:cubicBezTo>
                  <a:cubicBezTo>
                    <a:pt x="4" y="22"/>
                    <a:pt x="0" y="12"/>
                    <a:pt x="9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9" y="4"/>
                    <a:pt x="28" y="14"/>
                    <a:pt x="34" y="21"/>
                  </a:cubicBezTo>
                  <a:cubicBezTo>
                    <a:pt x="40" y="38"/>
                    <a:pt x="19" y="45"/>
                    <a:pt x="7" y="5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3" name="Freeform 160"/>
            <p:cNvSpPr/>
            <p:nvPr/>
          </p:nvSpPr>
          <p:spPr bwMode="auto">
            <a:xfrm>
              <a:off x="6970713" y="1920875"/>
              <a:ext cx="152400" cy="163513"/>
            </a:xfrm>
            <a:custGeom>
              <a:avLst/>
              <a:gdLst>
                <a:gd name="T0" fmla="*/ 9 w 48"/>
                <a:gd name="T1" fmla="*/ 51 h 51"/>
                <a:gd name="T2" fmla="*/ 5 w 48"/>
                <a:gd name="T3" fmla="*/ 48 h 51"/>
                <a:gd name="T4" fmla="*/ 8 w 48"/>
                <a:gd name="T5" fmla="*/ 39 h 51"/>
                <a:gd name="T6" fmla="*/ 15 w 48"/>
                <a:gd name="T7" fmla="*/ 0 h 51"/>
                <a:gd name="T8" fmla="*/ 21 w 48"/>
                <a:gd name="T9" fmla="*/ 10 h 51"/>
                <a:gd name="T10" fmla="*/ 31 w 48"/>
                <a:gd name="T11" fmla="*/ 43 h 51"/>
                <a:gd name="T12" fmla="*/ 9 w 48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1">
                  <a:moveTo>
                    <a:pt x="9" y="51"/>
                  </a:moveTo>
                  <a:cubicBezTo>
                    <a:pt x="6" y="50"/>
                    <a:pt x="6" y="49"/>
                    <a:pt x="5" y="48"/>
                  </a:cubicBezTo>
                  <a:cubicBezTo>
                    <a:pt x="7" y="44"/>
                    <a:pt x="9" y="42"/>
                    <a:pt x="8" y="39"/>
                  </a:cubicBezTo>
                  <a:cubicBezTo>
                    <a:pt x="0" y="26"/>
                    <a:pt x="0" y="7"/>
                    <a:pt x="15" y="0"/>
                  </a:cubicBezTo>
                  <a:cubicBezTo>
                    <a:pt x="19" y="1"/>
                    <a:pt x="19" y="4"/>
                    <a:pt x="21" y="10"/>
                  </a:cubicBezTo>
                  <a:cubicBezTo>
                    <a:pt x="30" y="19"/>
                    <a:pt x="48" y="31"/>
                    <a:pt x="31" y="43"/>
                  </a:cubicBezTo>
                  <a:cubicBezTo>
                    <a:pt x="24" y="46"/>
                    <a:pt x="16" y="48"/>
                    <a:pt x="9" y="5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4" name="Freeform 161"/>
            <p:cNvSpPr/>
            <p:nvPr/>
          </p:nvSpPr>
          <p:spPr bwMode="auto">
            <a:xfrm>
              <a:off x="9170988" y="2116138"/>
              <a:ext cx="88900" cy="127000"/>
            </a:xfrm>
            <a:custGeom>
              <a:avLst/>
              <a:gdLst>
                <a:gd name="T0" fmla="*/ 13 w 28"/>
                <a:gd name="T1" fmla="*/ 40 h 40"/>
                <a:gd name="T2" fmla="*/ 5 w 28"/>
                <a:gd name="T3" fmla="*/ 6 h 40"/>
                <a:gd name="T4" fmla="*/ 28 w 28"/>
                <a:gd name="T5" fmla="*/ 24 h 40"/>
                <a:gd name="T6" fmla="*/ 13 w 28"/>
                <a:gd name="T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0">
                  <a:moveTo>
                    <a:pt x="13" y="40"/>
                  </a:moveTo>
                  <a:cubicBezTo>
                    <a:pt x="0" y="36"/>
                    <a:pt x="3" y="14"/>
                    <a:pt x="5" y="6"/>
                  </a:cubicBezTo>
                  <a:cubicBezTo>
                    <a:pt x="14" y="0"/>
                    <a:pt x="27" y="12"/>
                    <a:pt x="28" y="24"/>
                  </a:cubicBezTo>
                  <a:cubicBezTo>
                    <a:pt x="25" y="36"/>
                    <a:pt x="25" y="38"/>
                    <a:pt x="13" y="4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5" name="Freeform 162"/>
            <p:cNvSpPr>
              <a:spLocks noEditPoints="1"/>
            </p:cNvSpPr>
            <p:nvPr/>
          </p:nvSpPr>
          <p:spPr bwMode="auto">
            <a:xfrm>
              <a:off x="9139238" y="1806575"/>
              <a:ext cx="557212" cy="755650"/>
            </a:xfrm>
            <a:custGeom>
              <a:avLst/>
              <a:gdLst>
                <a:gd name="T0" fmla="*/ 93 w 176"/>
                <a:gd name="T1" fmla="*/ 236 h 237"/>
                <a:gd name="T2" fmla="*/ 44 w 176"/>
                <a:gd name="T3" fmla="*/ 226 h 237"/>
                <a:gd name="T4" fmla="*/ 74 w 176"/>
                <a:gd name="T5" fmla="*/ 194 h 237"/>
                <a:gd name="T6" fmla="*/ 0 w 176"/>
                <a:gd name="T7" fmla="*/ 193 h 237"/>
                <a:gd name="T8" fmla="*/ 74 w 176"/>
                <a:gd name="T9" fmla="*/ 162 h 237"/>
                <a:gd name="T10" fmla="*/ 99 w 176"/>
                <a:gd name="T11" fmla="*/ 142 h 237"/>
                <a:gd name="T12" fmla="*/ 119 w 176"/>
                <a:gd name="T13" fmla="*/ 127 h 237"/>
                <a:gd name="T14" fmla="*/ 42 w 176"/>
                <a:gd name="T15" fmla="*/ 157 h 237"/>
                <a:gd name="T16" fmla="*/ 45 w 176"/>
                <a:gd name="T17" fmla="*/ 142 h 237"/>
                <a:gd name="T18" fmla="*/ 96 w 176"/>
                <a:gd name="T19" fmla="*/ 107 h 237"/>
                <a:gd name="T20" fmla="*/ 93 w 176"/>
                <a:gd name="T21" fmla="*/ 102 h 237"/>
                <a:gd name="T22" fmla="*/ 51 w 176"/>
                <a:gd name="T23" fmla="*/ 122 h 237"/>
                <a:gd name="T24" fmla="*/ 36 w 176"/>
                <a:gd name="T25" fmla="*/ 80 h 237"/>
                <a:gd name="T26" fmla="*/ 44 w 176"/>
                <a:gd name="T27" fmla="*/ 58 h 237"/>
                <a:gd name="T28" fmla="*/ 60 w 176"/>
                <a:gd name="T29" fmla="*/ 73 h 237"/>
                <a:gd name="T30" fmla="*/ 78 w 176"/>
                <a:gd name="T31" fmla="*/ 86 h 237"/>
                <a:gd name="T32" fmla="*/ 89 w 176"/>
                <a:gd name="T33" fmla="*/ 72 h 237"/>
                <a:gd name="T34" fmla="*/ 85 w 176"/>
                <a:gd name="T35" fmla="*/ 59 h 237"/>
                <a:gd name="T36" fmla="*/ 110 w 176"/>
                <a:gd name="T37" fmla="*/ 33 h 237"/>
                <a:gd name="T38" fmla="*/ 145 w 176"/>
                <a:gd name="T39" fmla="*/ 27 h 237"/>
                <a:gd name="T40" fmla="*/ 144 w 176"/>
                <a:gd name="T41" fmla="*/ 37 h 237"/>
                <a:gd name="T42" fmla="*/ 173 w 176"/>
                <a:gd name="T43" fmla="*/ 58 h 237"/>
                <a:gd name="T44" fmla="*/ 151 w 176"/>
                <a:gd name="T45" fmla="*/ 101 h 237"/>
                <a:gd name="T46" fmla="*/ 158 w 176"/>
                <a:gd name="T47" fmla="*/ 123 h 237"/>
                <a:gd name="T48" fmla="*/ 103 w 176"/>
                <a:gd name="T49" fmla="*/ 150 h 237"/>
                <a:gd name="T50" fmla="*/ 120 w 176"/>
                <a:gd name="T51" fmla="*/ 157 h 237"/>
                <a:gd name="T52" fmla="*/ 107 w 176"/>
                <a:gd name="T53" fmla="*/ 183 h 237"/>
                <a:gd name="T54" fmla="*/ 94 w 176"/>
                <a:gd name="T55" fmla="*/ 236 h 237"/>
                <a:gd name="T56" fmla="*/ 139 w 176"/>
                <a:gd name="T57" fmla="*/ 69 h 237"/>
                <a:gd name="T58" fmla="*/ 115 w 176"/>
                <a:gd name="T59" fmla="*/ 77 h 237"/>
                <a:gd name="T60" fmla="*/ 115 w 176"/>
                <a:gd name="T61" fmla="*/ 79 h 237"/>
                <a:gd name="T62" fmla="*/ 120 w 176"/>
                <a:gd name="T63" fmla="*/ 76 h 237"/>
                <a:gd name="T64" fmla="*/ 130 w 176"/>
                <a:gd name="T65" fmla="*/ 8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237">
                  <a:moveTo>
                    <a:pt x="94" y="236"/>
                  </a:moveTo>
                  <a:cubicBezTo>
                    <a:pt x="94" y="236"/>
                    <a:pt x="93" y="236"/>
                    <a:pt x="93" y="236"/>
                  </a:cubicBezTo>
                  <a:cubicBezTo>
                    <a:pt x="76" y="237"/>
                    <a:pt x="60" y="235"/>
                    <a:pt x="45" y="230"/>
                  </a:cubicBezTo>
                  <a:cubicBezTo>
                    <a:pt x="45" y="228"/>
                    <a:pt x="45" y="228"/>
                    <a:pt x="44" y="226"/>
                  </a:cubicBezTo>
                  <a:cubicBezTo>
                    <a:pt x="53" y="221"/>
                    <a:pt x="66" y="223"/>
                    <a:pt x="72" y="213"/>
                  </a:cubicBezTo>
                  <a:cubicBezTo>
                    <a:pt x="74" y="206"/>
                    <a:pt x="74" y="200"/>
                    <a:pt x="74" y="194"/>
                  </a:cubicBezTo>
                  <a:cubicBezTo>
                    <a:pt x="57" y="195"/>
                    <a:pt x="48" y="207"/>
                    <a:pt x="35" y="211"/>
                  </a:cubicBezTo>
                  <a:cubicBezTo>
                    <a:pt x="24" y="212"/>
                    <a:pt x="4" y="202"/>
                    <a:pt x="0" y="193"/>
                  </a:cubicBezTo>
                  <a:cubicBezTo>
                    <a:pt x="0" y="178"/>
                    <a:pt x="3" y="185"/>
                    <a:pt x="19" y="184"/>
                  </a:cubicBezTo>
                  <a:cubicBezTo>
                    <a:pt x="37" y="181"/>
                    <a:pt x="56" y="170"/>
                    <a:pt x="74" y="162"/>
                  </a:cubicBezTo>
                  <a:cubicBezTo>
                    <a:pt x="78" y="159"/>
                    <a:pt x="78" y="159"/>
                    <a:pt x="80" y="158"/>
                  </a:cubicBezTo>
                  <a:cubicBezTo>
                    <a:pt x="84" y="146"/>
                    <a:pt x="86" y="144"/>
                    <a:pt x="99" y="142"/>
                  </a:cubicBezTo>
                  <a:cubicBezTo>
                    <a:pt x="104" y="139"/>
                    <a:pt x="104" y="139"/>
                    <a:pt x="118" y="131"/>
                  </a:cubicBezTo>
                  <a:cubicBezTo>
                    <a:pt x="118" y="129"/>
                    <a:pt x="119" y="128"/>
                    <a:pt x="119" y="127"/>
                  </a:cubicBezTo>
                  <a:cubicBezTo>
                    <a:pt x="98" y="129"/>
                    <a:pt x="80" y="147"/>
                    <a:pt x="63" y="158"/>
                  </a:cubicBezTo>
                  <a:cubicBezTo>
                    <a:pt x="54" y="161"/>
                    <a:pt x="48" y="159"/>
                    <a:pt x="42" y="157"/>
                  </a:cubicBezTo>
                  <a:cubicBezTo>
                    <a:pt x="38" y="157"/>
                    <a:pt x="16" y="161"/>
                    <a:pt x="27" y="152"/>
                  </a:cubicBezTo>
                  <a:cubicBezTo>
                    <a:pt x="33" y="150"/>
                    <a:pt x="38" y="145"/>
                    <a:pt x="45" y="142"/>
                  </a:cubicBezTo>
                  <a:cubicBezTo>
                    <a:pt x="61" y="131"/>
                    <a:pt x="80" y="122"/>
                    <a:pt x="98" y="112"/>
                  </a:cubicBezTo>
                  <a:cubicBezTo>
                    <a:pt x="97" y="109"/>
                    <a:pt x="96" y="107"/>
                    <a:pt x="96" y="107"/>
                  </a:cubicBezTo>
                  <a:cubicBezTo>
                    <a:pt x="96" y="103"/>
                    <a:pt x="97" y="101"/>
                    <a:pt x="98" y="98"/>
                  </a:cubicBezTo>
                  <a:cubicBezTo>
                    <a:pt x="94" y="100"/>
                    <a:pt x="94" y="99"/>
                    <a:pt x="93" y="102"/>
                  </a:cubicBezTo>
                  <a:cubicBezTo>
                    <a:pt x="82" y="106"/>
                    <a:pt x="78" y="116"/>
                    <a:pt x="69" y="106"/>
                  </a:cubicBezTo>
                  <a:cubicBezTo>
                    <a:pt x="67" y="115"/>
                    <a:pt x="60" y="121"/>
                    <a:pt x="51" y="122"/>
                  </a:cubicBezTo>
                  <a:cubicBezTo>
                    <a:pt x="42" y="117"/>
                    <a:pt x="42" y="102"/>
                    <a:pt x="40" y="94"/>
                  </a:cubicBezTo>
                  <a:cubicBezTo>
                    <a:pt x="39" y="93"/>
                    <a:pt x="38" y="87"/>
                    <a:pt x="36" y="80"/>
                  </a:cubicBezTo>
                  <a:cubicBezTo>
                    <a:pt x="31" y="72"/>
                    <a:pt x="24" y="62"/>
                    <a:pt x="29" y="54"/>
                  </a:cubicBezTo>
                  <a:cubicBezTo>
                    <a:pt x="35" y="50"/>
                    <a:pt x="38" y="49"/>
                    <a:pt x="44" y="58"/>
                  </a:cubicBezTo>
                  <a:cubicBezTo>
                    <a:pt x="48" y="61"/>
                    <a:pt x="55" y="66"/>
                    <a:pt x="59" y="73"/>
                  </a:cubicBezTo>
                  <a:cubicBezTo>
                    <a:pt x="60" y="73"/>
                    <a:pt x="60" y="73"/>
                    <a:pt x="60" y="73"/>
                  </a:cubicBezTo>
                  <a:cubicBezTo>
                    <a:pt x="63" y="81"/>
                    <a:pt x="71" y="91"/>
                    <a:pt x="70" y="101"/>
                  </a:cubicBezTo>
                  <a:cubicBezTo>
                    <a:pt x="75" y="98"/>
                    <a:pt x="82" y="93"/>
                    <a:pt x="78" y="86"/>
                  </a:cubicBezTo>
                  <a:cubicBezTo>
                    <a:pt x="70" y="82"/>
                    <a:pt x="75" y="75"/>
                    <a:pt x="80" y="72"/>
                  </a:cubicBezTo>
                  <a:cubicBezTo>
                    <a:pt x="84" y="72"/>
                    <a:pt x="84" y="72"/>
                    <a:pt x="89" y="72"/>
                  </a:cubicBezTo>
                  <a:cubicBezTo>
                    <a:pt x="89" y="70"/>
                    <a:pt x="89" y="70"/>
                    <a:pt x="88" y="68"/>
                  </a:cubicBezTo>
                  <a:cubicBezTo>
                    <a:pt x="82" y="66"/>
                    <a:pt x="83" y="64"/>
                    <a:pt x="85" y="59"/>
                  </a:cubicBezTo>
                  <a:cubicBezTo>
                    <a:pt x="77" y="56"/>
                    <a:pt x="74" y="48"/>
                    <a:pt x="77" y="42"/>
                  </a:cubicBezTo>
                  <a:cubicBezTo>
                    <a:pt x="100" y="36"/>
                    <a:pt x="100" y="36"/>
                    <a:pt x="110" y="33"/>
                  </a:cubicBezTo>
                  <a:cubicBezTo>
                    <a:pt x="117" y="24"/>
                    <a:pt x="125" y="0"/>
                    <a:pt x="139" y="5"/>
                  </a:cubicBezTo>
                  <a:cubicBezTo>
                    <a:pt x="143" y="10"/>
                    <a:pt x="146" y="18"/>
                    <a:pt x="145" y="27"/>
                  </a:cubicBezTo>
                  <a:cubicBezTo>
                    <a:pt x="143" y="30"/>
                    <a:pt x="141" y="33"/>
                    <a:pt x="140" y="37"/>
                  </a:cubicBezTo>
                  <a:cubicBezTo>
                    <a:pt x="142" y="37"/>
                    <a:pt x="143" y="37"/>
                    <a:pt x="144" y="37"/>
                  </a:cubicBezTo>
                  <a:cubicBezTo>
                    <a:pt x="154" y="33"/>
                    <a:pt x="158" y="27"/>
                    <a:pt x="164" y="41"/>
                  </a:cubicBezTo>
                  <a:cubicBezTo>
                    <a:pt x="173" y="46"/>
                    <a:pt x="176" y="45"/>
                    <a:pt x="173" y="58"/>
                  </a:cubicBezTo>
                  <a:cubicBezTo>
                    <a:pt x="166" y="72"/>
                    <a:pt x="159" y="86"/>
                    <a:pt x="152" y="99"/>
                  </a:cubicBezTo>
                  <a:cubicBezTo>
                    <a:pt x="152" y="100"/>
                    <a:pt x="151" y="101"/>
                    <a:pt x="151" y="101"/>
                  </a:cubicBezTo>
                  <a:cubicBezTo>
                    <a:pt x="153" y="102"/>
                    <a:pt x="155" y="102"/>
                    <a:pt x="157" y="102"/>
                  </a:cubicBezTo>
                  <a:cubicBezTo>
                    <a:pt x="158" y="108"/>
                    <a:pt x="158" y="116"/>
                    <a:pt x="158" y="123"/>
                  </a:cubicBezTo>
                  <a:cubicBezTo>
                    <a:pt x="152" y="132"/>
                    <a:pt x="145" y="132"/>
                    <a:pt x="136" y="133"/>
                  </a:cubicBezTo>
                  <a:cubicBezTo>
                    <a:pt x="124" y="139"/>
                    <a:pt x="114" y="143"/>
                    <a:pt x="103" y="150"/>
                  </a:cubicBezTo>
                  <a:cubicBezTo>
                    <a:pt x="103" y="152"/>
                    <a:pt x="102" y="154"/>
                    <a:pt x="103" y="157"/>
                  </a:cubicBezTo>
                  <a:cubicBezTo>
                    <a:pt x="109" y="157"/>
                    <a:pt x="115" y="157"/>
                    <a:pt x="120" y="157"/>
                  </a:cubicBezTo>
                  <a:cubicBezTo>
                    <a:pt x="126" y="161"/>
                    <a:pt x="126" y="172"/>
                    <a:pt x="122" y="179"/>
                  </a:cubicBezTo>
                  <a:cubicBezTo>
                    <a:pt x="116" y="180"/>
                    <a:pt x="112" y="180"/>
                    <a:pt x="107" y="183"/>
                  </a:cubicBezTo>
                  <a:cubicBezTo>
                    <a:pt x="106" y="186"/>
                    <a:pt x="106" y="189"/>
                    <a:pt x="105" y="192"/>
                  </a:cubicBezTo>
                  <a:cubicBezTo>
                    <a:pt x="106" y="204"/>
                    <a:pt x="112" y="234"/>
                    <a:pt x="94" y="236"/>
                  </a:cubicBezTo>
                  <a:moveTo>
                    <a:pt x="130" y="88"/>
                  </a:moveTo>
                  <a:cubicBezTo>
                    <a:pt x="135" y="82"/>
                    <a:pt x="139" y="77"/>
                    <a:pt x="139" y="69"/>
                  </a:cubicBezTo>
                  <a:cubicBezTo>
                    <a:pt x="134" y="65"/>
                    <a:pt x="126" y="64"/>
                    <a:pt x="121" y="64"/>
                  </a:cubicBezTo>
                  <a:cubicBezTo>
                    <a:pt x="120" y="67"/>
                    <a:pt x="120" y="67"/>
                    <a:pt x="115" y="77"/>
                  </a:cubicBezTo>
                  <a:cubicBezTo>
                    <a:pt x="115" y="77"/>
                    <a:pt x="116" y="78"/>
                    <a:pt x="116" y="78"/>
                  </a:cubicBezTo>
                  <a:cubicBezTo>
                    <a:pt x="116" y="78"/>
                    <a:pt x="115" y="78"/>
                    <a:pt x="115" y="79"/>
                  </a:cubicBezTo>
                  <a:cubicBezTo>
                    <a:pt x="115" y="79"/>
                    <a:pt x="115" y="79"/>
                    <a:pt x="115" y="80"/>
                  </a:cubicBezTo>
                  <a:cubicBezTo>
                    <a:pt x="118" y="80"/>
                    <a:pt x="119" y="78"/>
                    <a:pt x="120" y="76"/>
                  </a:cubicBezTo>
                  <a:cubicBezTo>
                    <a:pt x="129" y="75"/>
                    <a:pt x="129" y="78"/>
                    <a:pt x="129" y="87"/>
                  </a:cubicBezTo>
                  <a:cubicBezTo>
                    <a:pt x="129" y="87"/>
                    <a:pt x="129" y="88"/>
                    <a:pt x="130" y="8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6" name="Freeform 163"/>
            <p:cNvSpPr/>
            <p:nvPr/>
          </p:nvSpPr>
          <p:spPr bwMode="auto">
            <a:xfrm>
              <a:off x="6983413" y="2679700"/>
              <a:ext cx="101600" cy="133350"/>
            </a:xfrm>
            <a:custGeom>
              <a:avLst/>
              <a:gdLst>
                <a:gd name="T0" fmla="*/ 0 w 64"/>
                <a:gd name="T1" fmla="*/ 74 h 84"/>
                <a:gd name="T2" fmla="*/ 50 w 64"/>
                <a:gd name="T3" fmla="*/ 10 h 84"/>
                <a:gd name="T4" fmla="*/ 4 w 64"/>
                <a:gd name="T5" fmla="*/ 10 h 84"/>
                <a:gd name="T6" fmla="*/ 4 w 64"/>
                <a:gd name="T7" fmla="*/ 4 h 84"/>
                <a:gd name="T8" fmla="*/ 4 w 64"/>
                <a:gd name="T9" fmla="*/ 0 h 84"/>
                <a:gd name="T10" fmla="*/ 64 w 64"/>
                <a:gd name="T11" fmla="*/ 0 h 84"/>
                <a:gd name="T12" fmla="*/ 64 w 64"/>
                <a:gd name="T13" fmla="*/ 4 h 84"/>
                <a:gd name="T14" fmla="*/ 64 w 64"/>
                <a:gd name="T15" fmla="*/ 10 h 84"/>
                <a:gd name="T16" fmla="*/ 14 w 64"/>
                <a:gd name="T17" fmla="*/ 74 h 84"/>
                <a:gd name="T18" fmla="*/ 64 w 64"/>
                <a:gd name="T19" fmla="*/ 74 h 84"/>
                <a:gd name="T20" fmla="*/ 64 w 64"/>
                <a:gd name="T21" fmla="*/ 78 h 84"/>
                <a:gd name="T22" fmla="*/ 64 w 64"/>
                <a:gd name="T23" fmla="*/ 84 h 84"/>
                <a:gd name="T24" fmla="*/ 0 w 64"/>
                <a:gd name="T25" fmla="*/ 84 h 84"/>
                <a:gd name="T26" fmla="*/ 0 w 64"/>
                <a:gd name="T27" fmla="*/ 78 h 84"/>
                <a:gd name="T28" fmla="*/ 0 w 64"/>
                <a:gd name="T29" fmla="*/ 7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84">
                  <a:moveTo>
                    <a:pt x="0" y="74"/>
                  </a:moveTo>
                  <a:lnTo>
                    <a:pt x="50" y="10"/>
                  </a:lnTo>
                  <a:lnTo>
                    <a:pt x="4" y="10"/>
                  </a:lnTo>
                  <a:lnTo>
                    <a:pt x="4" y="4"/>
                  </a:lnTo>
                  <a:lnTo>
                    <a:pt x="4" y="0"/>
                  </a:lnTo>
                  <a:lnTo>
                    <a:pt x="64" y="0"/>
                  </a:lnTo>
                  <a:lnTo>
                    <a:pt x="64" y="4"/>
                  </a:lnTo>
                  <a:lnTo>
                    <a:pt x="64" y="10"/>
                  </a:lnTo>
                  <a:lnTo>
                    <a:pt x="14" y="74"/>
                  </a:lnTo>
                  <a:lnTo>
                    <a:pt x="64" y="74"/>
                  </a:lnTo>
                  <a:lnTo>
                    <a:pt x="64" y="78"/>
                  </a:lnTo>
                  <a:lnTo>
                    <a:pt x="64" y="84"/>
                  </a:lnTo>
                  <a:lnTo>
                    <a:pt x="0" y="84"/>
                  </a:lnTo>
                  <a:lnTo>
                    <a:pt x="0" y="7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7" name="Freeform 164"/>
            <p:cNvSpPr/>
            <p:nvPr/>
          </p:nvSpPr>
          <p:spPr bwMode="auto">
            <a:xfrm>
              <a:off x="7126288" y="2679700"/>
              <a:ext cx="103187" cy="133350"/>
            </a:xfrm>
            <a:custGeom>
              <a:avLst/>
              <a:gdLst>
                <a:gd name="T0" fmla="*/ 0 w 65"/>
                <a:gd name="T1" fmla="*/ 0 h 84"/>
                <a:gd name="T2" fmla="*/ 6 w 65"/>
                <a:gd name="T3" fmla="*/ 0 h 84"/>
                <a:gd name="T4" fmla="*/ 12 w 65"/>
                <a:gd name="T5" fmla="*/ 0 h 84"/>
                <a:gd name="T6" fmla="*/ 12 w 65"/>
                <a:gd name="T7" fmla="*/ 34 h 84"/>
                <a:gd name="T8" fmla="*/ 56 w 65"/>
                <a:gd name="T9" fmla="*/ 34 h 84"/>
                <a:gd name="T10" fmla="*/ 56 w 65"/>
                <a:gd name="T11" fmla="*/ 0 h 84"/>
                <a:gd name="T12" fmla="*/ 60 w 65"/>
                <a:gd name="T13" fmla="*/ 0 h 84"/>
                <a:gd name="T14" fmla="*/ 65 w 65"/>
                <a:gd name="T15" fmla="*/ 0 h 84"/>
                <a:gd name="T16" fmla="*/ 65 w 65"/>
                <a:gd name="T17" fmla="*/ 84 h 84"/>
                <a:gd name="T18" fmla="*/ 62 w 65"/>
                <a:gd name="T19" fmla="*/ 84 h 84"/>
                <a:gd name="T20" fmla="*/ 56 w 65"/>
                <a:gd name="T21" fmla="*/ 84 h 84"/>
                <a:gd name="T22" fmla="*/ 56 w 65"/>
                <a:gd name="T23" fmla="*/ 44 h 84"/>
                <a:gd name="T24" fmla="*/ 12 w 65"/>
                <a:gd name="T25" fmla="*/ 44 h 84"/>
                <a:gd name="T26" fmla="*/ 12 w 65"/>
                <a:gd name="T27" fmla="*/ 84 h 84"/>
                <a:gd name="T28" fmla="*/ 6 w 65"/>
                <a:gd name="T29" fmla="*/ 84 h 84"/>
                <a:gd name="T30" fmla="*/ 0 w 65"/>
                <a:gd name="T31" fmla="*/ 84 h 84"/>
                <a:gd name="T32" fmla="*/ 0 w 65"/>
                <a:gd name="T3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" h="8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2" y="34"/>
                  </a:lnTo>
                  <a:lnTo>
                    <a:pt x="56" y="34"/>
                  </a:lnTo>
                  <a:lnTo>
                    <a:pt x="56" y="0"/>
                  </a:lnTo>
                  <a:lnTo>
                    <a:pt x="60" y="0"/>
                  </a:lnTo>
                  <a:lnTo>
                    <a:pt x="65" y="0"/>
                  </a:lnTo>
                  <a:lnTo>
                    <a:pt x="65" y="84"/>
                  </a:lnTo>
                  <a:lnTo>
                    <a:pt x="62" y="84"/>
                  </a:lnTo>
                  <a:lnTo>
                    <a:pt x="56" y="84"/>
                  </a:lnTo>
                  <a:lnTo>
                    <a:pt x="56" y="44"/>
                  </a:lnTo>
                  <a:lnTo>
                    <a:pt x="12" y="44"/>
                  </a:lnTo>
                  <a:lnTo>
                    <a:pt x="12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8" name="Freeform 165"/>
            <p:cNvSpPr/>
            <p:nvPr/>
          </p:nvSpPr>
          <p:spPr bwMode="auto">
            <a:xfrm>
              <a:off x="7280275" y="2679700"/>
              <a:ext cx="95250" cy="133350"/>
            </a:xfrm>
            <a:custGeom>
              <a:avLst/>
              <a:gdLst>
                <a:gd name="T0" fmla="*/ 0 w 60"/>
                <a:gd name="T1" fmla="*/ 84 h 84"/>
                <a:gd name="T2" fmla="*/ 0 w 60"/>
                <a:gd name="T3" fmla="*/ 0 h 84"/>
                <a:gd name="T4" fmla="*/ 60 w 60"/>
                <a:gd name="T5" fmla="*/ 0 h 84"/>
                <a:gd name="T6" fmla="*/ 60 w 60"/>
                <a:gd name="T7" fmla="*/ 4 h 84"/>
                <a:gd name="T8" fmla="*/ 60 w 60"/>
                <a:gd name="T9" fmla="*/ 10 h 84"/>
                <a:gd name="T10" fmla="*/ 10 w 60"/>
                <a:gd name="T11" fmla="*/ 10 h 84"/>
                <a:gd name="T12" fmla="*/ 10 w 60"/>
                <a:gd name="T13" fmla="*/ 36 h 84"/>
                <a:gd name="T14" fmla="*/ 56 w 60"/>
                <a:gd name="T15" fmla="*/ 36 h 84"/>
                <a:gd name="T16" fmla="*/ 56 w 60"/>
                <a:gd name="T17" fmla="*/ 40 h 84"/>
                <a:gd name="T18" fmla="*/ 56 w 60"/>
                <a:gd name="T19" fmla="*/ 46 h 84"/>
                <a:gd name="T20" fmla="*/ 10 w 60"/>
                <a:gd name="T21" fmla="*/ 46 h 84"/>
                <a:gd name="T22" fmla="*/ 10 w 60"/>
                <a:gd name="T23" fmla="*/ 74 h 84"/>
                <a:gd name="T24" fmla="*/ 60 w 60"/>
                <a:gd name="T25" fmla="*/ 74 h 84"/>
                <a:gd name="T26" fmla="*/ 60 w 60"/>
                <a:gd name="T27" fmla="*/ 78 h 84"/>
                <a:gd name="T28" fmla="*/ 60 w 60"/>
                <a:gd name="T29" fmla="*/ 84 h 84"/>
                <a:gd name="T30" fmla="*/ 0 w 60"/>
                <a:gd name="T3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84">
                  <a:moveTo>
                    <a:pt x="0" y="84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60" y="10"/>
                  </a:lnTo>
                  <a:lnTo>
                    <a:pt x="10" y="10"/>
                  </a:lnTo>
                  <a:lnTo>
                    <a:pt x="10" y="36"/>
                  </a:lnTo>
                  <a:lnTo>
                    <a:pt x="56" y="36"/>
                  </a:lnTo>
                  <a:lnTo>
                    <a:pt x="56" y="40"/>
                  </a:lnTo>
                  <a:lnTo>
                    <a:pt x="56" y="46"/>
                  </a:lnTo>
                  <a:lnTo>
                    <a:pt x="10" y="46"/>
                  </a:lnTo>
                  <a:lnTo>
                    <a:pt x="10" y="74"/>
                  </a:lnTo>
                  <a:lnTo>
                    <a:pt x="60" y="74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9" name="Freeform 166"/>
            <p:cNvSpPr/>
            <p:nvPr/>
          </p:nvSpPr>
          <p:spPr bwMode="auto">
            <a:xfrm>
              <a:off x="7410450" y="2679700"/>
              <a:ext cx="76200" cy="136525"/>
            </a:xfrm>
            <a:custGeom>
              <a:avLst/>
              <a:gdLst>
                <a:gd name="T0" fmla="*/ 18 w 24"/>
                <a:gd name="T1" fmla="*/ 0 h 43"/>
                <a:gd name="T2" fmla="*/ 21 w 24"/>
                <a:gd name="T3" fmla="*/ 0 h 43"/>
                <a:gd name="T4" fmla="*/ 24 w 24"/>
                <a:gd name="T5" fmla="*/ 0 h 43"/>
                <a:gd name="T6" fmla="*/ 24 w 24"/>
                <a:gd name="T7" fmla="*/ 30 h 43"/>
                <a:gd name="T8" fmla="*/ 21 w 24"/>
                <a:gd name="T9" fmla="*/ 39 h 43"/>
                <a:gd name="T10" fmla="*/ 12 w 24"/>
                <a:gd name="T11" fmla="*/ 43 h 43"/>
                <a:gd name="T12" fmla="*/ 3 w 24"/>
                <a:gd name="T13" fmla="*/ 40 h 43"/>
                <a:gd name="T14" fmla="*/ 0 w 24"/>
                <a:gd name="T15" fmla="*/ 31 h 43"/>
                <a:gd name="T16" fmla="*/ 0 w 24"/>
                <a:gd name="T17" fmla="*/ 28 h 43"/>
                <a:gd name="T18" fmla="*/ 5 w 24"/>
                <a:gd name="T19" fmla="*/ 28 h 43"/>
                <a:gd name="T20" fmla="*/ 5 w 24"/>
                <a:gd name="T21" fmla="*/ 31 h 43"/>
                <a:gd name="T22" fmla="*/ 7 w 24"/>
                <a:gd name="T23" fmla="*/ 36 h 43"/>
                <a:gd name="T24" fmla="*/ 12 w 24"/>
                <a:gd name="T25" fmla="*/ 38 h 43"/>
                <a:gd name="T26" fmla="*/ 17 w 24"/>
                <a:gd name="T27" fmla="*/ 36 h 43"/>
                <a:gd name="T28" fmla="*/ 18 w 24"/>
                <a:gd name="T29" fmla="*/ 30 h 43"/>
                <a:gd name="T30" fmla="*/ 18 w 2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43">
                  <a:moveTo>
                    <a:pt x="18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4"/>
                    <a:pt x="23" y="37"/>
                    <a:pt x="21" y="39"/>
                  </a:cubicBezTo>
                  <a:cubicBezTo>
                    <a:pt x="19" y="42"/>
                    <a:pt x="16" y="43"/>
                    <a:pt x="12" y="43"/>
                  </a:cubicBezTo>
                  <a:cubicBezTo>
                    <a:pt x="8" y="43"/>
                    <a:pt x="5" y="42"/>
                    <a:pt x="3" y="40"/>
                  </a:cubicBezTo>
                  <a:cubicBezTo>
                    <a:pt x="1" y="38"/>
                    <a:pt x="0" y="35"/>
                    <a:pt x="0" y="3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3"/>
                    <a:pt x="6" y="35"/>
                    <a:pt x="7" y="36"/>
                  </a:cubicBezTo>
                  <a:cubicBezTo>
                    <a:pt x="8" y="37"/>
                    <a:pt x="10" y="38"/>
                    <a:pt x="12" y="38"/>
                  </a:cubicBezTo>
                  <a:cubicBezTo>
                    <a:pt x="14" y="38"/>
                    <a:pt x="15" y="37"/>
                    <a:pt x="17" y="36"/>
                  </a:cubicBezTo>
                  <a:cubicBezTo>
                    <a:pt x="18" y="34"/>
                    <a:pt x="18" y="32"/>
                    <a:pt x="18" y="30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0" name="Freeform 167"/>
            <p:cNvSpPr/>
            <p:nvPr/>
          </p:nvSpPr>
          <p:spPr bwMode="auto">
            <a:xfrm>
              <a:off x="7534275" y="2679700"/>
              <a:ext cx="19050" cy="133350"/>
            </a:xfrm>
            <a:custGeom>
              <a:avLst/>
              <a:gdLst>
                <a:gd name="T0" fmla="*/ 0 w 12"/>
                <a:gd name="T1" fmla="*/ 0 h 84"/>
                <a:gd name="T2" fmla="*/ 6 w 12"/>
                <a:gd name="T3" fmla="*/ 0 h 84"/>
                <a:gd name="T4" fmla="*/ 12 w 12"/>
                <a:gd name="T5" fmla="*/ 0 h 84"/>
                <a:gd name="T6" fmla="*/ 12 w 12"/>
                <a:gd name="T7" fmla="*/ 84 h 84"/>
                <a:gd name="T8" fmla="*/ 6 w 12"/>
                <a:gd name="T9" fmla="*/ 84 h 84"/>
                <a:gd name="T10" fmla="*/ 0 w 12"/>
                <a:gd name="T11" fmla="*/ 84 h 84"/>
                <a:gd name="T12" fmla="*/ 0 w 12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2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1" name="Freeform 168"/>
            <p:cNvSpPr>
              <a:spLocks noEditPoints="1"/>
            </p:cNvSpPr>
            <p:nvPr/>
          </p:nvSpPr>
          <p:spPr bwMode="auto">
            <a:xfrm>
              <a:off x="7591425" y="2679700"/>
              <a:ext cx="117475" cy="133350"/>
            </a:xfrm>
            <a:custGeom>
              <a:avLst/>
              <a:gdLst>
                <a:gd name="T0" fmla="*/ 32 w 74"/>
                <a:gd name="T1" fmla="*/ 0 h 84"/>
                <a:gd name="T2" fmla="*/ 38 w 74"/>
                <a:gd name="T3" fmla="*/ 0 h 84"/>
                <a:gd name="T4" fmla="*/ 44 w 74"/>
                <a:gd name="T5" fmla="*/ 0 h 84"/>
                <a:gd name="T6" fmla="*/ 74 w 74"/>
                <a:gd name="T7" fmla="*/ 84 h 84"/>
                <a:gd name="T8" fmla="*/ 68 w 74"/>
                <a:gd name="T9" fmla="*/ 84 h 84"/>
                <a:gd name="T10" fmla="*/ 62 w 74"/>
                <a:gd name="T11" fmla="*/ 84 h 84"/>
                <a:gd name="T12" fmla="*/ 54 w 74"/>
                <a:gd name="T13" fmla="*/ 60 h 84"/>
                <a:gd name="T14" fmla="*/ 20 w 74"/>
                <a:gd name="T15" fmla="*/ 60 h 84"/>
                <a:gd name="T16" fmla="*/ 12 w 74"/>
                <a:gd name="T17" fmla="*/ 84 h 84"/>
                <a:gd name="T18" fmla="*/ 6 w 74"/>
                <a:gd name="T19" fmla="*/ 84 h 84"/>
                <a:gd name="T20" fmla="*/ 0 w 74"/>
                <a:gd name="T21" fmla="*/ 84 h 84"/>
                <a:gd name="T22" fmla="*/ 32 w 74"/>
                <a:gd name="T23" fmla="*/ 0 h 84"/>
                <a:gd name="T24" fmla="*/ 24 w 74"/>
                <a:gd name="T25" fmla="*/ 50 h 84"/>
                <a:gd name="T26" fmla="*/ 50 w 74"/>
                <a:gd name="T27" fmla="*/ 50 h 84"/>
                <a:gd name="T28" fmla="*/ 36 w 74"/>
                <a:gd name="T29" fmla="*/ 12 h 84"/>
                <a:gd name="T30" fmla="*/ 38 w 74"/>
                <a:gd name="T31" fmla="*/ 12 h 84"/>
                <a:gd name="T32" fmla="*/ 24 w 74"/>
                <a:gd name="T33" fmla="*/ 5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" h="84">
                  <a:moveTo>
                    <a:pt x="32" y="0"/>
                  </a:moveTo>
                  <a:lnTo>
                    <a:pt x="38" y="0"/>
                  </a:lnTo>
                  <a:lnTo>
                    <a:pt x="44" y="0"/>
                  </a:lnTo>
                  <a:lnTo>
                    <a:pt x="74" y="84"/>
                  </a:lnTo>
                  <a:lnTo>
                    <a:pt x="68" y="84"/>
                  </a:lnTo>
                  <a:lnTo>
                    <a:pt x="62" y="84"/>
                  </a:lnTo>
                  <a:lnTo>
                    <a:pt x="54" y="60"/>
                  </a:lnTo>
                  <a:lnTo>
                    <a:pt x="20" y="60"/>
                  </a:lnTo>
                  <a:lnTo>
                    <a:pt x="12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32" y="0"/>
                  </a:lnTo>
                  <a:close/>
                  <a:moveTo>
                    <a:pt x="24" y="50"/>
                  </a:moveTo>
                  <a:lnTo>
                    <a:pt x="50" y="50"/>
                  </a:lnTo>
                  <a:lnTo>
                    <a:pt x="36" y="12"/>
                  </a:lnTo>
                  <a:lnTo>
                    <a:pt x="38" y="12"/>
                  </a:lnTo>
                  <a:lnTo>
                    <a:pt x="24" y="5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2" name="Freeform 169"/>
            <p:cNvSpPr/>
            <p:nvPr/>
          </p:nvSpPr>
          <p:spPr bwMode="auto">
            <a:xfrm>
              <a:off x="7743825" y="2679700"/>
              <a:ext cx="103187" cy="133350"/>
            </a:xfrm>
            <a:custGeom>
              <a:avLst/>
              <a:gdLst>
                <a:gd name="T0" fmla="*/ 10 w 65"/>
                <a:gd name="T1" fmla="*/ 84 h 84"/>
                <a:gd name="T2" fmla="*/ 6 w 65"/>
                <a:gd name="T3" fmla="*/ 84 h 84"/>
                <a:gd name="T4" fmla="*/ 0 w 65"/>
                <a:gd name="T5" fmla="*/ 84 h 84"/>
                <a:gd name="T6" fmla="*/ 0 w 65"/>
                <a:gd name="T7" fmla="*/ 0 h 84"/>
                <a:gd name="T8" fmla="*/ 6 w 65"/>
                <a:gd name="T9" fmla="*/ 0 h 84"/>
                <a:gd name="T10" fmla="*/ 14 w 65"/>
                <a:gd name="T11" fmla="*/ 0 h 84"/>
                <a:gd name="T12" fmla="*/ 55 w 65"/>
                <a:gd name="T13" fmla="*/ 68 h 84"/>
                <a:gd name="T14" fmla="*/ 55 w 65"/>
                <a:gd name="T15" fmla="*/ 0 h 84"/>
                <a:gd name="T16" fmla="*/ 59 w 65"/>
                <a:gd name="T17" fmla="*/ 0 h 84"/>
                <a:gd name="T18" fmla="*/ 65 w 65"/>
                <a:gd name="T19" fmla="*/ 0 h 84"/>
                <a:gd name="T20" fmla="*/ 65 w 65"/>
                <a:gd name="T21" fmla="*/ 84 h 84"/>
                <a:gd name="T22" fmla="*/ 59 w 65"/>
                <a:gd name="T23" fmla="*/ 84 h 84"/>
                <a:gd name="T24" fmla="*/ 53 w 65"/>
                <a:gd name="T25" fmla="*/ 84 h 84"/>
                <a:gd name="T26" fmla="*/ 10 w 65"/>
                <a:gd name="T27" fmla="*/ 16 h 84"/>
                <a:gd name="T28" fmla="*/ 10 w 65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84">
                  <a:moveTo>
                    <a:pt x="10" y="84"/>
                  </a:move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lnTo>
                    <a:pt x="6" y="0"/>
                  </a:lnTo>
                  <a:lnTo>
                    <a:pt x="14" y="0"/>
                  </a:lnTo>
                  <a:lnTo>
                    <a:pt x="55" y="68"/>
                  </a:lnTo>
                  <a:lnTo>
                    <a:pt x="55" y="0"/>
                  </a:lnTo>
                  <a:lnTo>
                    <a:pt x="59" y="0"/>
                  </a:lnTo>
                  <a:lnTo>
                    <a:pt x="65" y="0"/>
                  </a:lnTo>
                  <a:lnTo>
                    <a:pt x="65" y="84"/>
                  </a:lnTo>
                  <a:lnTo>
                    <a:pt x="59" y="84"/>
                  </a:lnTo>
                  <a:lnTo>
                    <a:pt x="53" y="84"/>
                  </a:lnTo>
                  <a:lnTo>
                    <a:pt x="10" y="16"/>
                  </a:lnTo>
                  <a:lnTo>
                    <a:pt x="10" y="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3" name="Freeform 170"/>
            <p:cNvSpPr/>
            <p:nvPr/>
          </p:nvSpPr>
          <p:spPr bwMode="auto">
            <a:xfrm>
              <a:off x="7894638" y="2676525"/>
              <a:ext cx="120650" cy="139700"/>
            </a:xfrm>
            <a:custGeom>
              <a:avLst/>
              <a:gdLst>
                <a:gd name="T0" fmla="*/ 20 w 38"/>
                <a:gd name="T1" fmla="*/ 44 h 44"/>
                <a:gd name="T2" fmla="*/ 6 w 38"/>
                <a:gd name="T3" fmla="*/ 38 h 44"/>
                <a:gd name="T4" fmla="*/ 0 w 38"/>
                <a:gd name="T5" fmla="*/ 22 h 44"/>
                <a:gd name="T6" fmla="*/ 6 w 38"/>
                <a:gd name="T7" fmla="*/ 6 h 44"/>
                <a:gd name="T8" fmla="*/ 20 w 38"/>
                <a:gd name="T9" fmla="*/ 0 h 44"/>
                <a:gd name="T10" fmla="*/ 32 w 38"/>
                <a:gd name="T11" fmla="*/ 4 h 44"/>
                <a:gd name="T12" fmla="*/ 38 w 38"/>
                <a:gd name="T13" fmla="*/ 13 h 44"/>
                <a:gd name="T14" fmla="*/ 32 w 38"/>
                <a:gd name="T15" fmla="*/ 13 h 44"/>
                <a:gd name="T16" fmla="*/ 28 w 38"/>
                <a:gd name="T17" fmla="*/ 7 h 44"/>
                <a:gd name="T18" fmla="*/ 20 w 38"/>
                <a:gd name="T19" fmla="*/ 5 h 44"/>
                <a:gd name="T20" fmla="*/ 10 w 38"/>
                <a:gd name="T21" fmla="*/ 10 h 44"/>
                <a:gd name="T22" fmla="*/ 6 w 38"/>
                <a:gd name="T23" fmla="*/ 22 h 44"/>
                <a:gd name="T24" fmla="*/ 10 w 38"/>
                <a:gd name="T25" fmla="*/ 34 h 44"/>
                <a:gd name="T26" fmla="*/ 20 w 38"/>
                <a:gd name="T27" fmla="*/ 39 h 44"/>
                <a:gd name="T28" fmla="*/ 30 w 38"/>
                <a:gd name="T29" fmla="*/ 34 h 44"/>
                <a:gd name="T30" fmla="*/ 32 w 38"/>
                <a:gd name="T31" fmla="*/ 33 h 44"/>
                <a:gd name="T32" fmla="*/ 33 w 38"/>
                <a:gd name="T33" fmla="*/ 30 h 44"/>
                <a:gd name="T34" fmla="*/ 33 w 38"/>
                <a:gd name="T35" fmla="*/ 26 h 44"/>
                <a:gd name="T36" fmla="*/ 33 w 38"/>
                <a:gd name="T37" fmla="*/ 25 h 44"/>
                <a:gd name="T38" fmla="*/ 20 w 38"/>
                <a:gd name="T39" fmla="*/ 25 h 44"/>
                <a:gd name="T40" fmla="*/ 20 w 38"/>
                <a:gd name="T41" fmla="*/ 21 h 44"/>
                <a:gd name="T42" fmla="*/ 38 w 38"/>
                <a:gd name="T43" fmla="*/ 21 h 44"/>
                <a:gd name="T44" fmla="*/ 38 w 38"/>
                <a:gd name="T45" fmla="*/ 43 h 44"/>
                <a:gd name="T46" fmla="*/ 35 w 38"/>
                <a:gd name="T47" fmla="*/ 43 h 44"/>
                <a:gd name="T48" fmla="*/ 34 w 38"/>
                <a:gd name="T49" fmla="*/ 37 h 44"/>
                <a:gd name="T50" fmla="*/ 33 w 38"/>
                <a:gd name="T51" fmla="*/ 38 h 44"/>
                <a:gd name="T52" fmla="*/ 20 w 38"/>
                <a:gd name="T5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" h="44">
                  <a:moveTo>
                    <a:pt x="20" y="44"/>
                  </a:moveTo>
                  <a:cubicBezTo>
                    <a:pt x="14" y="44"/>
                    <a:pt x="9" y="42"/>
                    <a:pt x="6" y="38"/>
                  </a:cubicBezTo>
                  <a:cubicBezTo>
                    <a:pt x="2" y="34"/>
                    <a:pt x="0" y="28"/>
                    <a:pt x="0" y="22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25" y="0"/>
                    <a:pt x="29" y="1"/>
                    <a:pt x="32" y="4"/>
                  </a:cubicBezTo>
                  <a:cubicBezTo>
                    <a:pt x="35" y="6"/>
                    <a:pt x="37" y="9"/>
                    <a:pt x="38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1"/>
                    <a:pt x="30" y="9"/>
                    <a:pt x="28" y="7"/>
                  </a:cubicBezTo>
                  <a:cubicBezTo>
                    <a:pt x="26" y="6"/>
                    <a:pt x="23" y="5"/>
                    <a:pt x="20" y="5"/>
                  </a:cubicBezTo>
                  <a:cubicBezTo>
                    <a:pt x="16" y="5"/>
                    <a:pt x="12" y="6"/>
                    <a:pt x="10" y="10"/>
                  </a:cubicBezTo>
                  <a:cubicBezTo>
                    <a:pt x="7" y="13"/>
                    <a:pt x="6" y="17"/>
                    <a:pt x="6" y="22"/>
                  </a:cubicBezTo>
                  <a:cubicBezTo>
                    <a:pt x="6" y="27"/>
                    <a:pt x="7" y="32"/>
                    <a:pt x="10" y="34"/>
                  </a:cubicBezTo>
                  <a:cubicBezTo>
                    <a:pt x="12" y="37"/>
                    <a:pt x="16" y="39"/>
                    <a:pt x="20" y="39"/>
                  </a:cubicBezTo>
                  <a:cubicBezTo>
                    <a:pt x="24" y="39"/>
                    <a:pt x="28" y="37"/>
                    <a:pt x="30" y="34"/>
                  </a:cubicBezTo>
                  <a:cubicBezTo>
                    <a:pt x="31" y="34"/>
                    <a:pt x="31" y="33"/>
                    <a:pt x="32" y="33"/>
                  </a:cubicBezTo>
                  <a:cubicBezTo>
                    <a:pt x="32" y="32"/>
                    <a:pt x="32" y="31"/>
                    <a:pt x="33" y="30"/>
                  </a:cubicBezTo>
                  <a:cubicBezTo>
                    <a:pt x="33" y="28"/>
                    <a:pt x="33" y="27"/>
                    <a:pt x="33" y="26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0" y="42"/>
                    <a:pt x="25" y="44"/>
                    <a:pt x="20" y="4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4" name="Freeform 171"/>
            <p:cNvSpPr/>
            <p:nvPr/>
          </p:nvSpPr>
          <p:spPr bwMode="auto">
            <a:xfrm>
              <a:off x="8139113" y="2679700"/>
              <a:ext cx="104775" cy="136525"/>
            </a:xfrm>
            <a:custGeom>
              <a:avLst/>
              <a:gdLst>
                <a:gd name="T0" fmla="*/ 33 w 33"/>
                <a:gd name="T1" fmla="*/ 26 h 43"/>
                <a:gd name="T2" fmla="*/ 29 w 33"/>
                <a:gd name="T3" fmla="*/ 38 h 43"/>
                <a:gd name="T4" fmla="*/ 17 w 33"/>
                <a:gd name="T5" fmla="*/ 43 h 43"/>
                <a:gd name="T6" fmla="*/ 5 w 33"/>
                <a:gd name="T7" fmla="*/ 39 h 43"/>
                <a:gd name="T8" fmla="*/ 0 w 33"/>
                <a:gd name="T9" fmla="*/ 26 h 43"/>
                <a:gd name="T10" fmla="*/ 0 w 33"/>
                <a:gd name="T11" fmla="*/ 0 h 43"/>
                <a:gd name="T12" fmla="*/ 3 w 33"/>
                <a:gd name="T13" fmla="*/ 0 h 43"/>
                <a:gd name="T14" fmla="*/ 6 w 33"/>
                <a:gd name="T15" fmla="*/ 0 h 43"/>
                <a:gd name="T16" fmla="*/ 6 w 33"/>
                <a:gd name="T17" fmla="*/ 26 h 43"/>
                <a:gd name="T18" fmla="*/ 9 w 33"/>
                <a:gd name="T19" fmla="*/ 35 h 43"/>
                <a:gd name="T20" fmla="*/ 17 w 33"/>
                <a:gd name="T21" fmla="*/ 38 h 43"/>
                <a:gd name="T22" fmla="*/ 25 w 33"/>
                <a:gd name="T23" fmla="*/ 35 h 43"/>
                <a:gd name="T24" fmla="*/ 28 w 33"/>
                <a:gd name="T25" fmla="*/ 26 h 43"/>
                <a:gd name="T26" fmla="*/ 28 w 33"/>
                <a:gd name="T27" fmla="*/ 0 h 43"/>
                <a:gd name="T28" fmla="*/ 30 w 33"/>
                <a:gd name="T29" fmla="*/ 0 h 43"/>
                <a:gd name="T30" fmla="*/ 33 w 33"/>
                <a:gd name="T31" fmla="*/ 0 h 43"/>
                <a:gd name="T32" fmla="*/ 33 w 33"/>
                <a:gd name="T33" fmla="*/ 2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43">
                  <a:moveTo>
                    <a:pt x="33" y="26"/>
                  </a:moveTo>
                  <a:cubicBezTo>
                    <a:pt x="33" y="31"/>
                    <a:pt x="32" y="35"/>
                    <a:pt x="29" y="38"/>
                  </a:cubicBezTo>
                  <a:cubicBezTo>
                    <a:pt x="26" y="41"/>
                    <a:pt x="22" y="43"/>
                    <a:pt x="17" y="43"/>
                  </a:cubicBezTo>
                  <a:cubicBezTo>
                    <a:pt x="11" y="43"/>
                    <a:pt x="7" y="41"/>
                    <a:pt x="5" y="39"/>
                  </a:cubicBezTo>
                  <a:cubicBezTo>
                    <a:pt x="2" y="36"/>
                    <a:pt x="0" y="32"/>
                    <a:pt x="0" y="2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30"/>
                    <a:pt x="7" y="33"/>
                    <a:pt x="9" y="35"/>
                  </a:cubicBezTo>
                  <a:cubicBezTo>
                    <a:pt x="11" y="37"/>
                    <a:pt x="13" y="38"/>
                    <a:pt x="17" y="38"/>
                  </a:cubicBezTo>
                  <a:cubicBezTo>
                    <a:pt x="20" y="38"/>
                    <a:pt x="23" y="37"/>
                    <a:pt x="25" y="35"/>
                  </a:cubicBezTo>
                  <a:cubicBezTo>
                    <a:pt x="27" y="33"/>
                    <a:pt x="28" y="30"/>
                    <a:pt x="28" y="26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6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5" name="Freeform 172"/>
            <p:cNvSpPr/>
            <p:nvPr/>
          </p:nvSpPr>
          <p:spPr bwMode="auto">
            <a:xfrm>
              <a:off x="8294688" y="2679700"/>
              <a:ext cx="103187" cy="133350"/>
            </a:xfrm>
            <a:custGeom>
              <a:avLst/>
              <a:gdLst>
                <a:gd name="T0" fmla="*/ 12 w 65"/>
                <a:gd name="T1" fmla="*/ 84 h 84"/>
                <a:gd name="T2" fmla="*/ 6 w 65"/>
                <a:gd name="T3" fmla="*/ 84 h 84"/>
                <a:gd name="T4" fmla="*/ 0 w 65"/>
                <a:gd name="T5" fmla="*/ 84 h 84"/>
                <a:gd name="T6" fmla="*/ 0 w 65"/>
                <a:gd name="T7" fmla="*/ 0 h 84"/>
                <a:gd name="T8" fmla="*/ 6 w 65"/>
                <a:gd name="T9" fmla="*/ 0 h 84"/>
                <a:gd name="T10" fmla="*/ 14 w 65"/>
                <a:gd name="T11" fmla="*/ 0 h 84"/>
                <a:gd name="T12" fmla="*/ 55 w 65"/>
                <a:gd name="T13" fmla="*/ 68 h 84"/>
                <a:gd name="T14" fmla="*/ 55 w 65"/>
                <a:gd name="T15" fmla="*/ 0 h 84"/>
                <a:gd name="T16" fmla="*/ 59 w 65"/>
                <a:gd name="T17" fmla="*/ 0 h 84"/>
                <a:gd name="T18" fmla="*/ 65 w 65"/>
                <a:gd name="T19" fmla="*/ 0 h 84"/>
                <a:gd name="T20" fmla="*/ 65 w 65"/>
                <a:gd name="T21" fmla="*/ 84 h 84"/>
                <a:gd name="T22" fmla="*/ 59 w 65"/>
                <a:gd name="T23" fmla="*/ 84 h 84"/>
                <a:gd name="T24" fmla="*/ 53 w 65"/>
                <a:gd name="T25" fmla="*/ 84 h 84"/>
                <a:gd name="T26" fmla="*/ 12 w 65"/>
                <a:gd name="T27" fmla="*/ 16 h 84"/>
                <a:gd name="T28" fmla="*/ 12 w 65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84">
                  <a:moveTo>
                    <a:pt x="12" y="84"/>
                  </a:move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lnTo>
                    <a:pt x="6" y="0"/>
                  </a:lnTo>
                  <a:lnTo>
                    <a:pt x="14" y="0"/>
                  </a:lnTo>
                  <a:lnTo>
                    <a:pt x="55" y="68"/>
                  </a:lnTo>
                  <a:lnTo>
                    <a:pt x="55" y="0"/>
                  </a:lnTo>
                  <a:lnTo>
                    <a:pt x="59" y="0"/>
                  </a:lnTo>
                  <a:lnTo>
                    <a:pt x="65" y="0"/>
                  </a:lnTo>
                  <a:lnTo>
                    <a:pt x="65" y="84"/>
                  </a:lnTo>
                  <a:lnTo>
                    <a:pt x="59" y="84"/>
                  </a:lnTo>
                  <a:lnTo>
                    <a:pt x="53" y="84"/>
                  </a:lnTo>
                  <a:lnTo>
                    <a:pt x="12" y="16"/>
                  </a:lnTo>
                  <a:lnTo>
                    <a:pt x="12" y="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6" name="Freeform 173"/>
            <p:cNvSpPr/>
            <p:nvPr/>
          </p:nvSpPr>
          <p:spPr bwMode="auto">
            <a:xfrm>
              <a:off x="8448675" y="2679700"/>
              <a:ext cx="15875" cy="133350"/>
            </a:xfrm>
            <a:custGeom>
              <a:avLst/>
              <a:gdLst>
                <a:gd name="T0" fmla="*/ 0 w 10"/>
                <a:gd name="T1" fmla="*/ 0 h 84"/>
                <a:gd name="T2" fmla="*/ 4 w 10"/>
                <a:gd name="T3" fmla="*/ 0 h 84"/>
                <a:gd name="T4" fmla="*/ 10 w 10"/>
                <a:gd name="T5" fmla="*/ 0 h 84"/>
                <a:gd name="T6" fmla="*/ 10 w 10"/>
                <a:gd name="T7" fmla="*/ 84 h 84"/>
                <a:gd name="T8" fmla="*/ 6 w 10"/>
                <a:gd name="T9" fmla="*/ 84 h 84"/>
                <a:gd name="T10" fmla="*/ 0 w 10"/>
                <a:gd name="T11" fmla="*/ 84 h 84"/>
                <a:gd name="T12" fmla="*/ 0 w 1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84">
                  <a:moveTo>
                    <a:pt x="0" y="0"/>
                  </a:moveTo>
                  <a:lnTo>
                    <a:pt x="4" y="0"/>
                  </a:lnTo>
                  <a:lnTo>
                    <a:pt x="10" y="0"/>
                  </a:lnTo>
                  <a:lnTo>
                    <a:pt x="10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7" name="Freeform 174"/>
            <p:cNvSpPr/>
            <p:nvPr/>
          </p:nvSpPr>
          <p:spPr bwMode="auto">
            <a:xfrm>
              <a:off x="8499475" y="2679700"/>
              <a:ext cx="117475" cy="133350"/>
            </a:xfrm>
            <a:custGeom>
              <a:avLst/>
              <a:gdLst>
                <a:gd name="T0" fmla="*/ 0 w 74"/>
                <a:gd name="T1" fmla="*/ 0 h 84"/>
                <a:gd name="T2" fmla="*/ 6 w 74"/>
                <a:gd name="T3" fmla="*/ 0 h 84"/>
                <a:gd name="T4" fmla="*/ 14 w 74"/>
                <a:gd name="T5" fmla="*/ 0 h 84"/>
                <a:gd name="T6" fmla="*/ 38 w 74"/>
                <a:gd name="T7" fmla="*/ 72 h 84"/>
                <a:gd name="T8" fmla="*/ 38 w 74"/>
                <a:gd name="T9" fmla="*/ 72 h 84"/>
                <a:gd name="T10" fmla="*/ 60 w 74"/>
                <a:gd name="T11" fmla="*/ 0 h 84"/>
                <a:gd name="T12" fmla="*/ 68 w 74"/>
                <a:gd name="T13" fmla="*/ 0 h 84"/>
                <a:gd name="T14" fmla="*/ 74 w 74"/>
                <a:gd name="T15" fmla="*/ 0 h 84"/>
                <a:gd name="T16" fmla="*/ 44 w 74"/>
                <a:gd name="T17" fmla="*/ 84 h 84"/>
                <a:gd name="T18" fmla="*/ 38 w 74"/>
                <a:gd name="T19" fmla="*/ 84 h 84"/>
                <a:gd name="T20" fmla="*/ 32 w 74"/>
                <a:gd name="T21" fmla="*/ 84 h 84"/>
                <a:gd name="T22" fmla="*/ 0 w 74"/>
                <a:gd name="T2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84">
                  <a:moveTo>
                    <a:pt x="0" y="0"/>
                  </a:moveTo>
                  <a:lnTo>
                    <a:pt x="6" y="0"/>
                  </a:lnTo>
                  <a:lnTo>
                    <a:pt x="14" y="0"/>
                  </a:lnTo>
                  <a:lnTo>
                    <a:pt x="38" y="72"/>
                  </a:lnTo>
                  <a:lnTo>
                    <a:pt x="38" y="72"/>
                  </a:lnTo>
                  <a:lnTo>
                    <a:pt x="60" y="0"/>
                  </a:lnTo>
                  <a:lnTo>
                    <a:pt x="68" y="0"/>
                  </a:lnTo>
                  <a:lnTo>
                    <a:pt x="74" y="0"/>
                  </a:lnTo>
                  <a:lnTo>
                    <a:pt x="44" y="84"/>
                  </a:lnTo>
                  <a:lnTo>
                    <a:pt x="38" y="84"/>
                  </a:lnTo>
                  <a:lnTo>
                    <a:pt x="32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8" name="Freeform 175"/>
            <p:cNvSpPr/>
            <p:nvPr/>
          </p:nvSpPr>
          <p:spPr bwMode="auto">
            <a:xfrm>
              <a:off x="8651875" y="2679700"/>
              <a:ext cx="95250" cy="133350"/>
            </a:xfrm>
            <a:custGeom>
              <a:avLst/>
              <a:gdLst>
                <a:gd name="T0" fmla="*/ 0 w 60"/>
                <a:gd name="T1" fmla="*/ 84 h 84"/>
                <a:gd name="T2" fmla="*/ 0 w 60"/>
                <a:gd name="T3" fmla="*/ 0 h 84"/>
                <a:gd name="T4" fmla="*/ 60 w 60"/>
                <a:gd name="T5" fmla="*/ 0 h 84"/>
                <a:gd name="T6" fmla="*/ 60 w 60"/>
                <a:gd name="T7" fmla="*/ 4 h 84"/>
                <a:gd name="T8" fmla="*/ 60 w 60"/>
                <a:gd name="T9" fmla="*/ 10 h 84"/>
                <a:gd name="T10" fmla="*/ 10 w 60"/>
                <a:gd name="T11" fmla="*/ 10 h 84"/>
                <a:gd name="T12" fmla="*/ 10 w 60"/>
                <a:gd name="T13" fmla="*/ 36 h 84"/>
                <a:gd name="T14" fmla="*/ 56 w 60"/>
                <a:gd name="T15" fmla="*/ 36 h 84"/>
                <a:gd name="T16" fmla="*/ 56 w 60"/>
                <a:gd name="T17" fmla="*/ 40 h 84"/>
                <a:gd name="T18" fmla="*/ 56 w 60"/>
                <a:gd name="T19" fmla="*/ 46 h 84"/>
                <a:gd name="T20" fmla="*/ 10 w 60"/>
                <a:gd name="T21" fmla="*/ 46 h 84"/>
                <a:gd name="T22" fmla="*/ 10 w 60"/>
                <a:gd name="T23" fmla="*/ 74 h 84"/>
                <a:gd name="T24" fmla="*/ 60 w 60"/>
                <a:gd name="T25" fmla="*/ 74 h 84"/>
                <a:gd name="T26" fmla="*/ 60 w 60"/>
                <a:gd name="T27" fmla="*/ 78 h 84"/>
                <a:gd name="T28" fmla="*/ 60 w 60"/>
                <a:gd name="T29" fmla="*/ 84 h 84"/>
                <a:gd name="T30" fmla="*/ 0 w 60"/>
                <a:gd name="T3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84">
                  <a:moveTo>
                    <a:pt x="0" y="84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60" y="10"/>
                  </a:lnTo>
                  <a:lnTo>
                    <a:pt x="10" y="10"/>
                  </a:lnTo>
                  <a:lnTo>
                    <a:pt x="10" y="36"/>
                  </a:lnTo>
                  <a:lnTo>
                    <a:pt x="56" y="36"/>
                  </a:lnTo>
                  <a:lnTo>
                    <a:pt x="56" y="40"/>
                  </a:lnTo>
                  <a:lnTo>
                    <a:pt x="56" y="46"/>
                  </a:lnTo>
                  <a:lnTo>
                    <a:pt x="10" y="46"/>
                  </a:lnTo>
                  <a:lnTo>
                    <a:pt x="10" y="74"/>
                  </a:lnTo>
                  <a:lnTo>
                    <a:pt x="60" y="74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9" name="Freeform 176"/>
            <p:cNvSpPr>
              <a:spLocks noEditPoints="1"/>
            </p:cNvSpPr>
            <p:nvPr/>
          </p:nvSpPr>
          <p:spPr bwMode="auto">
            <a:xfrm>
              <a:off x="8794750" y="2679700"/>
              <a:ext cx="111125" cy="133350"/>
            </a:xfrm>
            <a:custGeom>
              <a:avLst/>
              <a:gdLst>
                <a:gd name="T0" fmla="*/ 0 w 35"/>
                <a:gd name="T1" fmla="*/ 0 h 42"/>
                <a:gd name="T2" fmla="*/ 3 w 35"/>
                <a:gd name="T3" fmla="*/ 0 h 42"/>
                <a:gd name="T4" fmla="*/ 20 w 35"/>
                <a:gd name="T5" fmla="*/ 0 h 42"/>
                <a:gd name="T6" fmla="*/ 30 w 35"/>
                <a:gd name="T7" fmla="*/ 3 h 42"/>
                <a:gd name="T8" fmla="*/ 33 w 35"/>
                <a:gd name="T9" fmla="*/ 11 h 42"/>
                <a:gd name="T10" fmla="*/ 30 w 35"/>
                <a:gd name="T11" fmla="*/ 20 h 42"/>
                <a:gd name="T12" fmla="*/ 28 w 35"/>
                <a:gd name="T13" fmla="*/ 21 h 42"/>
                <a:gd name="T14" fmla="*/ 29 w 35"/>
                <a:gd name="T15" fmla="*/ 22 h 42"/>
                <a:gd name="T16" fmla="*/ 33 w 35"/>
                <a:gd name="T17" fmla="*/ 29 h 42"/>
                <a:gd name="T18" fmla="*/ 33 w 35"/>
                <a:gd name="T19" fmla="*/ 37 h 42"/>
                <a:gd name="T20" fmla="*/ 33 w 35"/>
                <a:gd name="T21" fmla="*/ 39 h 42"/>
                <a:gd name="T22" fmla="*/ 35 w 35"/>
                <a:gd name="T23" fmla="*/ 41 h 42"/>
                <a:gd name="T24" fmla="*/ 35 w 35"/>
                <a:gd name="T25" fmla="*/ 42 h 42"/>
                <a:gd name="T26" fmla="*/ 28 w 35"/>
                <a:gd name="T27" fmla="*/ 42 h 42"/>
                <a:gd name="T28" fmla="*/ 28 w 35"/>
                <a:gd name="T29" fmla="*/ 39 h 42"/>
                <a:gd name="T30" fmla="*/ 27 w 35"/>
                <a:gd name="T31" fmla="*/ 34 h 42"/>
                <a:gd name="T32" fmla="*/ 27 w 35"/>
                <a:gd name="T33" fmla="*/ 31 h 42"/>
                <a:gd name="T34" fmla="*/ 25 w 35"/>
                <a:gd name="T35" fmla="*/ 25 h 42"/>
                <a:gd name="T36" fmla="*/ 19 w 35"/>
                <a:gd name="T37" fmla="*/ 24 h 42"/>
                <a:gd name="T38" fmla="*/ 6 w 35"/>
                <a:gd name="T39" fmla="*/ 24 h 42"/>
                <a:gd name="T40" fmla="*/ 6 w 35"/>
                <a:gd name="T41" fmla="*/ 42 h 42"/>
                <a:gd name="T42" fmla="*/ 3 w 35"/>
                <a:gd name="T43" fmla="*/ 42 h 42"/>
                <a:gd name="T44" fmla="*/ 0 w 35"/>
                <a:gd name="T45" fmla="*/ 42 h 42"/>
                <a:gd name="T46" fmla="*/ 0 w 35"/>
                <a:gd name="T47" fmla="*/ 0 h 42"/>
                <a:gd name="T48" fmla="*/ 6 w 35"/>
                <a:gd name="T49" fmla="*/ 19 h 42"/>
                <a:gd name="T50" fmla="*/ 20 w 35"/>
                <a:gd name="T51" fmla="*/ 19 h 42"/>
                <a:gd name="T52" fmla="*/ 26 w 35"/>
                <a:gd name="T53" fmla="*/ 17 h 42"/>
                <a:gd name="T54" fmla="*/ 27 w 35"/>
                <a:gd name="T55" fmla="*/ 12 h 42"/>
                <a:gd name="T56" fmla="*/ 26 w 35"/>
                <a:gd name="T57" fmla="*/ 6 h 42"/>
                <a:gd name="T58" fmla="*/ 19 w 35"/>
                <a:gd name="T59" fmla="*/ 5 h 42"/>
                <a:gd name="T60" fmla="*/ 6 w 35"/>
                <a:gd name="T61" fmla="*/ 5 h 42"/>
                <a:gd name="T62" fmla="*/ 6 w 35"/>
                <a:gd name="T63" fmla="*/ 1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" h="42">
                  <a:moveTo>
                    <a:pt x="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4" y="0"/>
                    <a:pt x="28" y="1"/>
                    <a:pt x="30" y="3"/>
                  </a:cubicBezTo>
                  <a:cubicBezTo>
                    <a:pt x="32" y="5"/>
                    <a:pt x="33" y="8"/>
                    <a:pt x="33" y="11"/>
                  </a:cubicBezTo>
                  <a:cubicBezTo>
                    <a:pt x="33" y="15"/>
                    <a:pt x="32" y="18"/>
                    <a:pt x="30" y="20"/>
                  </a:cubicBezTo>
                  <a:cubicBezTo>
                    <a:pt x="29" y="20"/>
                    <a:pt x="28" y="21"/>
                    <a:pt x="28" y="2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3"/>
                    <a:pt x="33" y="26"/>
                    <a:pt x="33" y="29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8"/>
                    <a:pt x="33" y="39"/>
                    <a:pt x="33" y="39"/>
                  </a:cubicBezTo>
                  <a:cubicBezTo>
                    <a:pt x="34" y="40"/>
                    <a:pt x="34" y="40"/>
                    <a:pt x="35" y="41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1"/>
                    <a:pt x="28" y="40"/>
                    <a:pt x="28" y="39"/>
                  </a:cubicBezTo>
                  <a:cubicBezTo>
                    <a:pt x="27" y="37"/>
                    <a:pt x="27" y="36"/>
                    <a:pt x="27" y="34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28"/>
                    <a:pt x="26" y="26"/>
                    <a:pt x="25" y="25"/>
                  </a:cubicBezTo>
                  <a:cubicBezTo>
                    <a:pt x="24" y="24"/>
                    <a:pt x="22" y="24"/>
                    <a:pt x="19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0"/>
                  </a:lnTo>
                  <a:close/>
                  <a:moveTo>
                    <a:pt x="6" y="19"/>
                  </a:moveTo>
                  <a:cubicBezTo>
                    <a:pt x="20" y="19"/>
                    <a:pt x="20" y="19"/>
                    <a:pt x="20" y="19"/>
                  </a:cubicBezTo>
                  <a:cubicBezTo>
                    <a:pt x="23" y="19"/>
                    <a:pt x="24" y="18"/>
                    <a:pt x="26" y="17"/>
                  </a:cubicBezTo>
                  <a:cubicBezTo>
                    <a:pt x="27" y="16"/>
                    <a:pt x="27" y="14"/>
                    <a:pt x="27" y="12"/>
                  </a:cubicBezTo>
                  <a:cubicBezTo>
                    <a:pt x="27" y="9"/>
                    <a:pt x="27" y="7"/>
                    <a:pt x="26" y="6"/>
                  </a:cubicBezTo>
                  <a:cubicBezTo>
                    <a:pt x="24" y="5"/>
                    <a:pt x="22" y="5"/>
                    <a:pt x="19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1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0" name="Freeform 177"/>
            <p:cNvSpPr/>
            <p:nvPr/>
          </p:nvSpPr>
          <p:spPr bwMode="auto">
            <a:xfrm>
              <a:off x="8942388" y="2676525"/>
              <a:ext cx="104775" cy="139700"/>
            </a:xfrm>
            <a:custGeom>
              <a:avLst/>
              <a:gdLst>
                <a:gd name="T0" fmla="*/ 27 w 33"/>
                <a:gd name="T1" fmla="*/ 13 h 44"/>
                <a:gd name="T2" fmla="*/ 24 w 33"/>
                <a:gd name="T3" fmla="*/ 7 h 44"/>
                <a:gd name="T4" fmla="*/ 16 w 33"/>
                <a:gd name="T5" fmla="*/ 5 h 44"/>
                <a:gd name="T6" fmla="*/ 9 w 33"/>
                <a:gd name="T7" fmla="*/ 7 h 44"/>
                <a:gd name="T8" fmla="*/ 7 w 33"/>
                <a:gd name="T9" fmla="*/ 12 h 44"/>
                <a:gd name="T10" fmla="*/ 8 w 33"/>
                <a:gd name="T11" fmla="*/ 16 h 44"/>
                <a:gd name="T12" fmla="*/ 15 w 33"/>
                <a:gd name="T13" fmla="*/ 18 h 44"/>
                <a:gd name="T14" fmla="*/ 22 w 33"/>
                <a:gd name="T15" fmla="*/ 20 h 44"/>
                <a:gd name="T16" fmla="*/ 31 w 33"/>
                <a:gd name="T17" fmla="*/ 24 h 44"/>
                <a:gd name="T18" fmla="*/ 33 w 33"/>
                <a:gd name="T19" fmla="*/ 31 h 44"/>
                <a:gd name="T20" fmla="*/ 29 w 33"/>
                <a:gd name="T21" fmla="*/ 40 h 44"/>
                <a:gd name="T22" fmla="*/ 17 w 33"/>
                <a:gd name="T23" fmla="*/ 44 h 44"/>
                <a:gd name="T24" fmla="*/ 4 w 33"/>
                <a:gd name="T25" fmla="*/ 40 h 44"/>
                <a:gd name="T26" fmla="*/ 0 w 33"/>
                <a:gd name="T27" fmla="*/ 30 h 44"/>
                <a:gd name="T28" fmla="*/ 0 w 33"/>
                <a:gd name="T29" fmla="*/ 29 h 44"/>
                <a:gd name="T30" fmla="*/ 5 w 33"/>
                <a:gd name="T31" fmla="*/ 29 h 44"/>
                <a:gd name="T32" fmla="*/ 8 w 33"/>
                <a:gd name="T33" fmla="*/ 36 h 44"/>
                <a:gd name="T34" fmla="*/ 17 w 33"/>
                <a:gd name="T35" fmla="*/ 39 h 44"/>
                <a:gd name="T36" fmla="*/ 25 w 33"/>
                <a:gd name="T37" fmla="*/ 37 h 44"/>
                <a:gd name="T38" fmla="*/ 28 w 33"/>
                <a:gd name="T39" fmla="*/ 32 h 44"/>
                <a:gd name="T40" fmla="*/ 26 w 33"/>
                <a:gd name="T41" fmla="*/ 27 h 44"/>
                <a:gd name="T42" fmla="*/ 19 w 33"/>
                <a:gd name="T43" fmla="*/ 25 h 44"/>
                <a:gd name="T44" fmla="*/ 12 w 33"/>
                <a:gd name="T45" fmla="*/ 23 h 44"/>
                <a:gd name="T46" fmla="*/ 4 w 33"/>
                <a:gd name="T47" fmla="*/ 19 h 44"/>
                <a:gd name="T48" fmla="*/ 1 w 33"/>
                <a:gd name="T49" fmla="*/ 13 h 44"/>
                <a:gd name="T50" fmla="*/ 5 w 33"/>
                <a:gd name="T51" fmla="*/ 3 h 44"/>
                <a:gd name="T52" fmla="*/ 16 w 33"/>
                <a:gd name="T53" fmla="*/ 0 h 44"/>
                <a:gd name="T54" fmla="*/ 28 w 33"/>
                <a:gd name="T55" fmla="*/ 3 h 44"/>
                <a:gd name="T56" fmla="*/ 32 w 33"/>
                <a:gd name="T57" fmla="*/ 13 h 44"/>
                <a:gd name="T58" fmla="*/ 27 w 33"/>
                <a:gd name="T59" fmla="*/ 1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3" h="44">
                  <a:moveTo>
                    <a:pt x="27" y="13"/>
                  </a:moveTo>
                  <a:cubicBezTo>
                    <a:pt x="27" y="10"/>
                    <a:pt x="26" y="8"/>
                    <a:pt x="24" y="7"/>
                  </a:cubicBezTo>
                  <a:cubicBezTo>
                    <a:pt x="22" y="6"/>
                    <a:pt x="20" y="5"/>
                    <a:pt x="16" y="5"/>
                  </a:cubicBezTo>
                  <a:cubicBezTo>
                    <a:pt x="13" y="5"/>
                    <a:pt x="11" y="5"/>
                    <a:pt x="9" y="7"/>
                  </a:cubicBezTo>
                  <a:cubicBezTo>
                    <a:pt x="8" y="8"/>
                    <a:pt x="7" y="10"/>
                    <a:pt x="7" y="12"/>
                  </a:cubicBezTo>
                  <a:cubicBezTo>
                    <a:pt x="7" y="14"/>
                    <a:pt x="7" y="15"/>
                    <a:pt x="8" y="16"/>
                  </a:cubicBezTo>
                  <a:cubicBezTo>
                    <a:pt x="10" y="16"/>
                    <a:pt x="12" y="17"/>
                    <a:pt x="15" y="18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6" y="21"/>
                    <a:pt x="29" y="22"/>
                    <a:pt x="31" y="24"/>
                  </a:cubicBezTo>
                  <a:cubicBezTo>
                    <a:pt x="32" y="26"/>
                    <a:pt x="33" y="28"/>
                    <a:pt x="33" y="31"/>
                  </a:cubicBezTo>
                  <a:cubicBezTo>
                    <a:pt x="33" y="35"/>
                    <a:pt x="32" y="38"/>
                    <a:pt x="29" y="40"/>
                  </a:cubicBezTo>
                  <a:cubicBezTo>
                    <a:pt x="26" y="43"/>
                    <a:pt x="22" y="44"/>
                    <a:pt x="17" y="44"/>
                  </a:cubicBezTo>
                  <a:cubicBezTo>
                    <a:pt x="12" y="44"/>
                    <a:pt x="7" y="42"/>
                    <a:pt x="4" y="40"/>
                  </a:cubicBezTo>
                  <a:cubicBezTo>
                    <a:pt x="1" y="37"/>
                    <a:pt x="0" y="34"/>
                    <a:pt x="0" y="3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32"/>
                    <a:pt x="6" y="35"/>
                    <a:pt x="8" y="36"/>
                  </a:cubicBezTo>
                  <a:cubicBezTo>
                    <a:pt x="11" y="38"/>
                    <a:pt x="13" y="39"/>
                    <a:pt x="17" y="39"/>
                  </a:cubicBezTo>
                  <a:cubicBezTo>
                    <a:pt x="21" y="39"/>
                    <a:pt x="23" y="38"/>
                    <a:pt x="25" y="37"/>
                  </a:cubicBezTo>
                  <a:cubicBezTo>
                    <a:pt x="27" y="36"/>
                    <a:pt x="28" y="34"/>
                    <a:pt x="28" y="32"/>
                  </a:cubicBezTo>
                  <a:cubicBezTo>
                    <a:pt x="28" y="30"/>
                    <a:pt x="27" y="28"/>
                    <a:pt x="26" y="27"/>
                  </a:cubicBezTo>
                  <a:cubicBezTo>
                    <a:pt x="25" y="26"/>
                    <a:pt x="22" y="25"/>
                    <a:pt x="19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8" y="22"/>
                    <a:pt x="5" y="21"/>
                    <a:pt x="4" y="19"/>
                  </a:cubicBezTo>
                  <a:cubicBezTo>
                    <a:pt x="2" y="18"/>
                    <a:pt x="1" y="16"/>
                    <a:pt x="1" y="13"/>
                  </a:cubicBezTo>
                  <a:cubicBezTo>
                    <a:pt x="1" y="9"/>
                    <a:pt x="3" y="6"/>
                    <a:pt x="5" y="3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1" y="0"/>
                    <a:pt x="25" y="1"/>
                    <a:pt x="28" y="3"/>
                  </a:cubicBezTo>
                  <a:cubicBezTo>
                    <a:pt x="30" y="6"/>
                    <a:pt x="32" y="9"/>
                    <a:pt x="32" y="13"/>
                  </a:cubicBezTo>
                  <a:lnTo>
                    <a:pt x="27" y="1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1" name="Freeform 178"/>
            <p:cNvSpPr/>
            <p:nvPr/>
          </p:nvSpPr>
          <p:spPr bwMode="auto">
            <a:xfrm>
              <a:off x="9091613" y="2679700"/>
              <a:ext cx="19050" cy="133350"/>
            </a:xfrm>
            <a:custGeom>
              <a:avLst/>
              <a:gdLst>
                <a:gd name="T0" fmla="*/ 0 w 12"/>
                <a:gd name="T1" fmla="*/ 0 h 84"/>
                <a:gd name="T2" fmla="*/ 6 w 12"/>
                <a:gd name="T3" fmla="*/ 0 h 84"/>
                <a:gd name="T4" fmla="*/ 12 w 12"/>
                <a:gd name="T5" fmla="*/ 0 h 84"/>
                <a:gd name="T6" fmla="*/ 12 w 12"/>
                <a:gd name="T7" fmla="*/ 84 h 84"/>
                <a:gd name="T8" fmla="*/ 6 w 12"/>
                <a:gd name="T9" fmla="*/ 84 h 84"/>
                <a:gd name="T10" fmla="*/ 0 w 12"/>
                <a:gd name="T11" fmla="*/ 84 h 84"/>
                <a:gd name="T12" fmla="*/ 0 w 12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4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2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2" name="Freeform 179"/>
            <p:cNvSpPr/>
            <p:nvPr/>
          </p:nvSpPr>
          <p:spPr bwMode="auto">
            <a:xfrm>
              <a:off x="9145588" y="2679700"/>
              <a:ext cx="107950" cy="133350"/>
            </a:xfrm>
            <a:custGeom>
              <a:avLst/>
              <a:gdLst>
                <a:gd name="T0" fmla="*/ 30 w 68"/>
                <a:gd name="T1" fmla="*/ 10 h 84"/>
                <a:gd name="T2" fmla="*/ 0 w 68"/>
                <a:gd name="T3" fmla="*/ 10 h 84"/>
                <a:gd name="T4" fmla="*/ 0 w 68"/>
                <a:gd name="T5" fmla="*/ 4 h 84"/>
                <a:gd name="T6" fmla="*/ 0 w 68"/>
                <a:gd name="T7" fmla="*/ 0 h 84"/>
                <a:gd name="T8" fmla="*/ 68 w 68"/>
                <a:gd name="T9" fmla="*/ 0 h 84"/>
                <a:gd name="T10" fmla="*/ 68 w 68"/>
                <a:gd name="T11" fmla="*/ 4 h 84"/>
                <a:gd name="T12" fmla="*/ 68 w 68"/>
                <a:gd name="T13" fmla="*/ 10 h 84"/>
                <a:gd name="T14" fmla="*/ 40 w 68"/>
                <a:gd name="T15" fmla="*/ 10 h 84"/>
                <a:gd name="T16" fmla="*/ 40 w 68"/>
                <a:gd name="T17" fmla="*/ 84 h 84"/>
                <a:gd name="T18" fmla="*/ 34 w 68"/>
                <a:gd name="T19" fmla="*/ 84 h 84"/>
                <a:gd name="T20" fmla="*/ 30 w 68"/>
                <a:gd name="T21" fmla="*/ 84 h 84"/>
                <a:gd name="T22" fmla="*/ 30 w 68"/>
                <a:gd name="T23" fmla="*/ 1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84">
                  <a:moveTo>
                    <a:pt x="30" y="10"/>
                  </a:moveTo>
                  <a:lnTo>
                    <a:pt x="0" y="10"/>
                  </a:lnTo>
                  <a:lnTo>
                    <a:pt x="0" y="4"/>
                  </a:lnTo>
                  <a:lnTo>
                    <a:pt x="0" y="0"/>
                  </a:lnTo>
                  <a:lnTo>
                    <a:pt x="68" y="0"/>
                  </a:lnTo>
                  <a:lnTo>
                    <a:pt x="68" y="4"/>
                  </a:lnTo>
                  <a:lnTo>
                    <a:pt x="68" y="10"/>
                  </a:lnTo>
                  <a:lnTo>
                    <a:pt x="40" y="10"/>
                  </a:lnTo>
                  <a:lnTo>
                    <a:pt x="40" y="84"/>
                  </a:lnTo>
                  <a:lnTo>
                    <a:pt x="34" y="84"/>
                  </a:lnTo>
                  <a:lnTo>
                    <a:pt x="30" y="84"/>
                  </a:lnTo>
                  <a:lnTo>
                    <a:pt x="30" y="1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3" name="Freeform 180"/>
            <p:cNvSpPr/>
            <p:nvPr/>
          </p:nvSpPr>
          <p:spPr bwMode="auto">
            <a:xfrm>
              <a:off x="9285288" y="2679700"/>
              <a:ext cx="117475" cy="133350"/>
            </a:xfrm>
            <a:custGeom>
              <a:avLst/>
              <a:gdLst>
                <a:gd name="T0" fmla="*/ 32 w 74"/>
                <a:gd name="T1" fmla="*/ 50 h 84"/>
                <a:gd name="T2" fmla="*/ 0 w 74"/>
                <a:gd name="T3" fmla="*/ 0 h 84"/>
                <a:gd name="T4" fmla="*/ 6 w 74"/>
                <a:gd name="T5" fmla="*/ 0 h 84"/>
                <a:gd name="T6" fmla="*/ 14 w 74"/>
                <a:gd name="T7" fmla="*/ 0 h 84"/>
                <a:gd name="T8" fmla="*/ 38 w 74"/>
                <a:gd name="T9" fmla="*/ 40 h 84"/>
                <a:gd name="T10" fmla="*/ 38 w 74"/>
                <a:gd name="T11" fmla="*/ 40 h 84"/>
                <a:gd name="T12" fmla="*/ 62 w 74"/>
                <a:gd name="T13" fmla="*/ 0 h 84"/>
                <a:gd name="T14" fmla="*/ 68 w 74"/>
                <a:gd name="T15" fmla="*/ 0 h 84"/>
                <a:gd name="T16" fmla="*/ 74 w 74"/>
                <a:gd name="T17" fmla="*/ 0 h 84"/>
                <a:gd name="T18" fmla="*/ 42 w 74"/>
                <a:gd name="T19" fmla="*/ 50 h 84"/>
                <a:gd name="T20" fmla="*/ 42 w 74"/>
                <a:gd name="T21" fmla="*/ 84 h 84"/>
                <a:gd name="T22" fmla="*/ 38 w 74"/>
                <a:gd name="T23" fmla="*/ 84 h 84"/>
                <a:gd name="T24" fmla="*/ 32 w 74"/>
                <a:gd name="T25" fmla="*/ 84 h 84"/>
                <a:gd name="T26" fmla="*/ 32 w 74"/>
                <a:gd name="T27" fmla="*/ 5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84">
                  <a:moveTo>
                    <a:pt x="32" y="5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4" y="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62" y="0"/>
                  </a:lnTo>
                  <a:lnTo>
                    <a:pt x="68" y="0"/>
                  </a:lnTo>
                  <a:lnTo>
                    <a:pt x="74" y="0"/>
                  </a:lnTo>
                  <a:lnTo>
                    <a:pt x="42" y="50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2" y="84"/>
                  </a:lnTo>
                  <a:lnTo>
                    <a:pt x="32" y="5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91" name="任意多边形 90"/>
          <p:cNvSpPr/>
          <p:nvPr/>
        </p:nvSpPr>
        <p:spPr>
          <a:xfrm>
            <a:off x="-10795" y="-6985"/>
            <a:ext cx="799465" cy="6413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24" h="821">
                <a:moveTo>
                  <a:pt x="0" y="0"/>
                </a:moveTo>
                <a:lnTo>
                  <a:pt x="1024" y="0"/>
                </a:lnTo>
                <a:lnTo>
                  <a:pt x="1024" y="13"/>
                </a:lnTo>
                <a:cubicBezTo>
                  <a:pt x="1001" y="463"/>
                  <a:pt x="629" y="821"/>
                  <a:pt x="174" y="821"/>
                </a:cubicBezTo>
                <a:cubicBezTo>
                  <a:pt x="117" y="821"/>
                  <a:pt x="61" y="815"/>
                  <a:pt x="7" y="805"/>
                </a:cubicBezTo>
                <a:lnTo>
                  <a:pt x="0" y="803"/>
                </a:lnTo>
                <a:lnTo>
                  <a:pt x="0" y="0"/>
                </a:lnTo>
                <a:close/>
              </a:path>
            </a:pathLst>
          </a:cu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2" name="任意多边形 91"/>
          <p:cNvSpPr/>
          <p:nvPr/>
        </p:nvSpPr>
        <p:spPr>
          <a:xfrm>
            <a:off x="11304905" y="6111240"/>
            <a:ext cx="914400" cy="75946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440" h="1196">
                <a:moveTo>
                  <a:pt x="852" y="0"/>
                </a:moveTo>
                <a:cubicBezTo>
                  <a:pt x="1072" y="0"/>
                  <a:pt x="1273" y="84"/>
                  <a:pt x="1424" y="221"/>
                </a:cubicBezTo>
                <a:lnTo>
                  <a:pt x="1440" y="236"/>
                </a:lnTo>
                <a:lnTo>
                  <a:pt x="1440" y="1196"/>
                </a:lnTo>
                <a:lnTo>
                  <a:pt x="73" y="1196"/>
                </a:lnTo>
                <a:lnTo>
                  <a:pt x="67" y="1183"/>
                </a:lnTo>
                <a:cubicBezTo>
                  <a:pt x="24" y="1081"/>
                  <a:pt x="0" y="969"/>
                  <a:pt x="0" y="852"/>
                </a:cubicBezTo>
                <a:cubicBezTo>
                  <a:pt x="0" y="381"/>
                  <a:pt x="381" y="0"/>
                  <a:pt x="852" y="0"/>
                </a:cubicBezTo>
                <a:close/>
              </a:path>
            </a:pathLst>
          </a:cu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11527790" y="5535930"/>
            <a:ext cx="377825" cy="377825"/>
          </a:xfrm>
          <a:prstGeom prst="ellipse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椭圆 93"/>
          <p:cNvSpPr/>
          <p:nvPr/>
        </p:nvSpPr>
        <p:spPr>
          <a:xfrm>
            <a:off x="400685" y="817245"/>
            <a:ext cx="271145" cy="271145"/>
          </a:xfrm>
          <a:prstGeom prst="ellipse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椭圆 94"/>
          <p:cNvSpPr/>
          <p:nvPr/>
        </p:nvSpPr>
        <p:spPr>
          <a:xfrm>
            <a:off x="10687050" y="6111240"/>
            <a:ext cx="617855" cy="617855"/>
          </a:xfrm>
          <a:prstGeom prst="ellipse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椭圆 95"/>
          <p:cNvSpPr/>
          <p:nvPr/>
        </p:nvSpPr>
        <p:spPr>
          <a:xfrm>
            <a:off x="922655" y="273685"/>
            <a:ext cx="617855" cy="617855"/>
          </a:xfrm>
          <a:prstGeom prst="ellipse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椭圆 98"/>
          <p:cNvSpPr/>
          <p:nvPr/>
        </p:nvSpPr>
        <p:spPr>
          <a:xfrm>
            <a:off x="11727180" y="4824730"/>
            <a:ext cx="236855" cy="236855"/>
          </a:xfrm>
          <a:prstGeom prst="ellipse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椭圆 99"/>
          <p:cNvSpPr/>
          <p:nvPr/>
        </p:nvSpPr>
        <p:spPr>
          <a:xfrm>
            <a:off x="270510" y="1393190"/>
            <a:ext cx="236855" cy="236855"/>
          </a:xfrm>
          <a:prstGeom prst="ellipse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0" name="TextBox 799"/>
          <p:cNvSpPr txBox="1"/>
          <p:nvPr/>
        </p:nvSpPr>
        <p:spPr>
          <a:xfrm>
            <a:off x="777240" y="2926080"/>
            <a:ext cx="10652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064C91"/>
                </a:solidFill>
                <a:latin typeface="Noto Sans CJK SC"/>
              </a:rPr>
              <a:t>AI辅助医学图像分类的工程实践</a:t>
            </a:r>
          </a:p>
          <a:p>
            <a:pPr algn="ctr"/>
            <a:r>
              <a:rPr sz="3000" b="1">
                <a:solidFill>
                  <a:srgbClr val="064C91"/>
                </a:solidFill>
                <a:latin typeface="Noto Sans CJK SC"/>
              </a:rPr>
              <a:t>——以 PathMNIST 项目为例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1828800" y="4901184"/>
            <a:ext cx="8531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>
                <a:solidFill>
                  <a:srgbClr val="273644"/>
                </a:solidFill>
                <a:latin typeface="Noto Sans CJK SC"/>
              </a:rPr>
              <a:t>Vibe Coding × Harness Engineering｜课程第一阶段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371600" y="5437505"/>
            <a:ext cx="9418320" cy="295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汇报人：</a:t>
            </a:r>
            <a:r>
              <a:rPr lang="zh-CN"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王张文皓</a:t>
            </a:r>
            <a:r>
              <a:rPr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              </a:t>
            </a:r>
            <a:r>
              <a:rPr lang="en-US"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                                         </a:t>
            </a:r>
            <a:r>
              <a:rPr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小组：</a:t>
            </a:r>
            <a:r>
              <a:rPr lang="zh-CN"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赵昱淳</a:t>
            </a:r>
            <a:r>
              <a:rPr lang="en-US" altLang="zh-CN"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      </a:t>
            </a:r>
            <a:r>
              <a:rPr lang="zh-CN" altLang="en-US"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李以祺</a:t>
            </a:r>
            <a:r>
              <a:rPr lang="en-US" altLang="zh-CN"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      </a:t>
            </a:r>
            <a:r>
              <a:rPr lang="zh-CN" altLang="en-US" sz="1700" b="0">
                <a:solidFill>
                  <a:srgbClr val="687583"/>
                </a:solidFill>
                <a:latin typeface="Comic Sans Pro" panose="02010600010101010101" charset="-122"/>
                <a:ea typeface="Comic Sans Pro" panose="02010600010101010101" charset="-122"/>
                <a:cs typeface="Comic Sans Pro" panose="02010600010101010101" charset="-122"/>
              </a:rPr>
              <a:t>朱逸枫</a:t>
            </a:r>
            <a:endParaRPr lang="zh-CN" altLang="en-US" sz="1700" b="0">
              <a:solidFill>
                <a:srgbClr val="687583"/>
              </a:solidFill>
              <a:latin typeface="Comic Sans Pro" panose="02010600010101010101" charset="-122"/>
              <a:ea typeface="Comic Sans Pro" panose="02010600010101010101" charset="-122"/>
              <a:cs typeface="Comic Sans Pro" panose="02010600010101010101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01 任务与协作目标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从“做一个分类器”到“交付一个可核查项目”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来源：S01；本轮已确认大纲 S20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92807"/>
            <a:ext cx="2542032" cy="215798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20824"/>
            <a:ext cx="221284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提出任务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60320"/>
            <a:ext cx="2212848" cy="1389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课程要求、方向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数据位置、边界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91256" y="2770632"/>
            <a:ext cx="210312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892807"/>
            <a:ext cx="2542032" cy="215798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020824"/>
            <a:ext cx="221284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生成与运行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560320"/>
            <a:ext cx="2212848" cy="1389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代码与阶段脚本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小测试到正式实验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53328" y="2770632"/>
            <a:ext cx="210312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8504" y="1892807"/>
            <a:ext cx="2542032" cy="215798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2020824"/>
            <a:ext cx="221284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核验与修正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560320"/>
            <a:ext cx="2212848" cy="1389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指标、日志与来源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发现不足再检查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15400" y="2770632"/>
            <a:ext cx="210312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0576" y="1892807"/>
            <a:ext cx="2542032" cy="215798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2020824"/>
            <a:ext cx="221284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交付与复用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2560320"/>
            <a:ext cx="2212848" cy="1389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PPT与系列报告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代码、演示与版本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645152"/>
            <a:ext cx="107899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lang="zh-CN">
                <a:solidFill>
                  <a:srgbClr val="273644"/>
                </a:solidFill>
                <a:latin typeface="Noto Sans CJK SC"/>
              </a:rPr>
              <a:t>课程第一阶段产出：数据探索笔记、基线模型、Vibe × Harness日志与评估报告。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科研结果保留，但本次主线是AI交互、验证与工程交付。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01 任务与协作目标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任务与来源：PathMNIST九类病理组织图像块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来源：S03–S04；stage1/class_counts.csv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48640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 lang="zh-CN">
                <a:solidFill>
                  <a:srgbClr val="273644"/>
                </a:solidFill>
                <a:latin typeface="Noto Sans CJK SC"/>
              </a:rPr>
              <a:t>MedMNIST中的病理分类子集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 lang="zh-CN">
                <a:solidFill>
                  <a:srgbClr val="273644"/>
                </a:solidFill>
                <a:latin typeface="Noto Sans CJK SC"/>
              </a:rPr>
              <a:t>结直肠 H&amp;E 染色图像块，标签0—8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61488"/>
            <a:ext cx="548640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开发数据：NCT-CRC-HE-100K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外部测试：CRC-VAL-HE-7K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3794760"/>
          <a:ext cx="516636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训练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验证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另一中心测试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89,996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10,004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7,180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class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709928"/>
            <a:ext cx="3931920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采用官方128×128版本；64输入从同图缩小。图像块数量不是患者数量。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01 任务与协作目标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协作分工：讨论、执行、审查和决定不混在一起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来源：S02、S08、S13–S14；当前对话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10512"/>
          <a:ext cx="10927080" cy="350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5650992"/>
                <a:gridCol w="3767328"/>
              </a:tblGrid>
              <a:tr h="7004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角色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实际参与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边界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7004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人／小组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提出目标与操作范围；批准继续／停止；真实分工与最终表述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不等于手写或人工复算全部代码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7004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ChatGPT对话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构思、质询、方案和交接；解释结果；组织文稿与PPT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建议仍要与当前代码核对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7004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Codex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读仓库、写代码、跑阶段任务和测试、记录与打包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AI目视检查不等于专家复核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7004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DeepSeek网页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第六阶段量化风险审查；函数与绘图草稿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没有训练A—E或生成实验成绩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工具参与范围按日志记录；未使用Claude Code。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02 从自然语言到可运行实验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整体路线：每一阶段都有任务、产物和放行条件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来源：S02；各阶段执行记录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10512"/>
            <a:ext cx="3401568" cy="1353312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38528"/>
            <a:ext cx="3072384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01  选题与数据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78024"/>
            <a:ext cx="3072384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方向、来源与边界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05656" y="2368296"/>
            <a:ext cx="201168" cy="164592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810512"/>
            <a:ext cx="3401568" cy="1353312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38528"/>
            <a:ext cx="3072384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02  环境与协议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3072384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清单、矩阵与参数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72983" y="2368296"/>
            <a:ext cx="201168" cy="164592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810512"/>
            <a:ext cx="3401568" cy="1353312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938528"/>
            <a:ext cx="3072384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03  逐级运行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478024"/>
            <a:ext cx="3072384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smoke→probe→基线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3401568" cy="1353312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602736"/>
            <a:ext cx="3072384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04  正式实验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142231"/>
            <a:ext cx="3072384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A—D再E，共15条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05656" y="4032504"/>
            <a:ext cx="201168" cy="164592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3474720"/>
            <a:ext cx="3401568" cy="1353312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602736"/>
            <a:ext cx="3072384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05  核验与评价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42231"/>
            <a:ext cx="3072384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审计→冻结→测试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72983" y="4032504"/>
            <a:ext cx="201168" cy="164592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3474720"/>
            <a:ext cx="3401568" cy="1353312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602736"/>
            <a:ext cx="3072384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06  部署与交付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142231"/>
            <a:ext cx="3072384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ONNX、文稿与版本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349240"/>
            <a:ext cx="106070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1" lang="zh-CN">
                <a:solidFill>
                  <a:srgbClr val="064C91"/>
                </a:solidFill>
                <a:latin typeface="Noto Sans CJK SC"/>
              </a:rPr>
              <a:t>阶段间交接：读已有文件 → 看完成状态 → 处理未决问题 → 再批准下一步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02 从自然语言到可运行实验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交互一：把方向和限制写成可执行任务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来源：S02原话节选；S03方法协议；S14补漏交接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92224"/>
            <a:ext cx="5257800" cy="1938528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20240"/>
            <a:ext cx="492861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用户输入（日志节选）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9736"/>
            <a:ext cx="4928616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“每一阶段做好记录，最终目的都是为了最后的汇报和报告。”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另有目录、数据位置与禁止覆盖要求。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92224"/>
            <a:ext cx="5257800" cy="1938528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920240"/>
            <a:ext cx="492861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AI逐轮拆解为文件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459736"/>
            <a:ext cx="4928616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数据 manifest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实验 matrix + 方法协议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HANDOFF + 验收清单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34456" y="2615184"/>
            <a:ext cx="219456" cy="201168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4050791"/>
          <a:ext cx="108813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目标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输入与上下文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约束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输出与验收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73644"/>
                          </a:solidFill>
                          <a:latin typeface="Noto Sans CJK SC"/>
                        </a:rPr>
                        <a:t>九类分类与工程实践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73644"/>
                          </a:solidFill>
                          <a:latin typeface="Noto Sans CJK SC"/>
                        </a:rPr>
                        <a:t>课程、源码、已有日志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73644"/>
                          </a:solidFill>
                          <a:latin typeface="Noto Sans CJK SC"/>
                        </a:rPr>
                        <a:t>不改冻结；不重开测试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73644"/>
                          </a:solidFill>
                          <a:latin typeface="Noto Sans CJK SC"/>
                        </a:rPr>
                        <a:t>明确文件与检查方法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02 从自然语言到可运行实验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数据与环境：先限制操作，再检查输入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来源：S04；data.py；历史环境与manifest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7088"/>
            <a:ext cx="3300984" cy="260604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75104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操作范围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14600"/>
            <a:ext cx="2971800" cy="1837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只在本人项目目录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数据不在本机整包下载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独立环境与缓存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3984" y="1847088"/>
            <a:ext cx="3300984" cy="260604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75104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自动检查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14600"/>
            <a:ext cx="2971800" cy="1837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官方文件MD5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图像形状与标签范围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数量、顺序和索引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1847088"/>
            <a:ext cx="3300984" cy="260604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75104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阶段产物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14600"/>
            <a:ext cx="2971800" cy="1837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manifest与数据ID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九类样例和分布图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版本与执行记录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846320"/>
            <a:ext cx="1069848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无可靠患者／切片ID：像素、文件与索引检查不能证明患者级隔离。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02 从自然语言到可运行实验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把研究问题固定成A—E，而不是不断增加模型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来源：S03；stage3/matrix.json；model.py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73936"/>
          <a:ext cx="7040880" cy="348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383280"/>
                <a:gridCol w="1737360"/>
                <a:gridCol w="1371600"/>
              </a:tblGrid>
              <a:tr h="5806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组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模型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输入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增强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A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ResNet-18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64×64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开启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B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ResNet-18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128×128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开启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C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MobileNetV3-Small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64×64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开启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D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MobileNetV3-Small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128×128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开启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E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MobileNetV3-Small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128×128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关闭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46720" y="1773936"/>
            <a:ext cx="3493008" cy="348386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901952"/>
            <a:ext cx="3163824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共同条件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2441448"/>
            <a:ext cx="3163824" cy="2715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各自ImageNet V1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九类输出、全网络微调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3个种子：42/2026/3407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AdamW，最多40轮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batch128，早停patience8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指定配对控制主要因素；没有全架构海选，也不将三种子称为三折。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02 从自然语言到可运行实验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生成后不是直接全跑：从小到大逐级放行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来源：S05–S06；S02各阶段运行记录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1920240"/>
            <a:ext cx="2569464" cy="237744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22402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真实smoke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87752"/>
            <a:ext cx="2240280" cy="1609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144训练＋72验证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1轮，训练→保存→重载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91256" y="2935224"/>
            <a:ext cx="219456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5576" y="1920240"/>
            <a:ext cx="2569464" cy="237744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048256"/>
            <a:ext cx="22402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最大输入probe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587752"/>
            <a:ext cx="2240280" cy="1609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两种模型 / 128输入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共同batch128可运行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53328" y="2935224"/>
            <a:ext cx="219456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920240"/>
            <a:ext cx="2569464" cy="237744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048256"/>
            <a:ext cx="22402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单条正式基线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87752"/>
            <a:ext cx="2240280" cy="1609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A_seed42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完整train/val与结果复算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15400" y="2935224"/>
            <a:ext cx="219456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920240"/>
            <a:ext cx="2569464" cy="237744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2048256"/>
            <a:ext cx="22402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分阶段完成矩阵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2587752"/>
            <a:ext cx="2240280" cy="1609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其余A—D，再完成E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总计15条正式训练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45736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每条正式运行留下：配置、数据与源码标识、history、最佳权重、逐图预测、指标、日志。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smoke说明流程可通；其分数从不混入正式医学分类结果。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03 结果怎样产生并得到核验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三层核验：自动计算、AI审查、人的决定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来源：S02、S10、S13–S14；已有验收记录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10512"/>
            <a:ext cx="3300984" cy="3310128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38528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自动／确定性检查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78024"/>
            <a:ext cx="2971800" cy="2542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形状、标签、概率合法性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MD5 / SHA与来源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从CSV重新计算指标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冻结锁与拒绝覆盖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3984" y="1810512"/>
            <a:ext cx="3300984" cy="3310128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38528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AI辅助审查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478024"/>
            <a:ext cx="2971800" cy="2542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读取源码、日志和图表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指出不一致与风险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给出需要验证的解释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另一AI赞同不等于实测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1810512"/>
            <a:ext cx="3300984" cy="3310128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38528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人工评审与决策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78024"/>
            <a:ext cx="2971800" cy="2542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研究问题和资源范围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是否采纳、继续或停止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表述边界与提交内容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真实个人贡献待本人确认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哈希一致不等于科学结论正确；AI看图不等于病理专家复核。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03 结果怎样产生并得到核验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先按验证与CPU选择演示模型，再统一外部评价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来源：S11 frozen.json；S12源表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3749039" cy="352958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38528"/>
            <a:ext cx="341985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评价指标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78024"/>
            <a:ext cx="3419856" cy="2761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Accuracy：整体正确比例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Macro-F1：先算九类F1，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再等权平均（主指标）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训练仍优化交叉熵。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19472" y="1810512"/>
            <a:ext cx="347472" cy="347472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828800"/>
            <a:ext cx="310896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lang="zh-CN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810512"/>
            <a:ext cx="572414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A—D验证筛选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194560"/>
            <a:ext cx="5632704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距最高组 ≤ 0.005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19472" y="2715768"/>
            <a:ext cx="347472" cy="347472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734056"/>
            <a:ext cx="310896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lang="zh-CN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9824" y="2715768"/>
            <a:ext cx="572414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候选比较CPU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099815"/>
            <a:ext cx="5632704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A/B/D入围，D较快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9472" y="3621024"/>
            <a:ext cx="347472" cy="347472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639312"/>
            <a:ext cx="310896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lang="zh-CN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3621024"/>
            <a:ext cx="572414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D内选择种子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4005072"/>
            <a:ext cx="5632704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验证F1选 D_seed2026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4526279"/>
            <a:ext cx="347472" cy="347472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544567"/>
            <a:ext cx="310896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lang="zh-CN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9824" y="4526279"/>
            <a:ext cx="572414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冻结后正式测试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4910327"/>
            <a:ext cx="5632704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全部15条轨迹仍评价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选择的是演示权重，不是只允许一个模型测试。0.005是工程容差。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03 结果怎样产生并得到核验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正式结果总览：五组、三种子及外部测试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来源：S12 all_runs.csv；按保存字段算术汇总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828800"/>
          <a:ext cx="1097280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688"/>
                <a:gridCol w="1600200"/>
                <a:gridCol w="2496312"/>
                <a:gridCol w="1645920"/>
                <a:gridCol w="2011680"/>
              </a:tblGrid>
              <a:tr h="5425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配置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验证宏F1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测试宏F1 ± SD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测试ACC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CPU / ms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A  ResNet / 64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0.9958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0.9059 ± 0.0003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92.70%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10.586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B  ResNet / 128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0.9986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0.9094 ± 0.0043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93.19%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12.540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C  MobileNet / 64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0.9926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0.8672 ± 0.0091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89.19%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1.679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D  MobileNet / 128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0.9978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0.9243 ± 0.0041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94.33%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1.845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E  MobileNet / 128 无增强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0.9963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0.9348 ± 0.0076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95.16%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73644"/>
                          </a:solidFill>
                          <a:latin typeface="Noto Sans CJK SC"/>
                        </a:rPr>
                        <a:t>1.851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" y="5367528"/>
            <a:ext cx="105156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验证最高：B　｜　测试最高：E　｜　测试前冻结的演示模型：D_seed2026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03 结果怎样产生并得到核验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结果一：同一模型从64到128，收益大小不同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来源：S12；B−A与D−C同种子对照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36576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300" b="1" lang="zh-CN">
                <a:solidFill>
                  <a:srgbClr val="064C91"/>
                </a:solidFill>
                <a:latin typeface="Noto Sans CJK SC"/>
              </a:rPr>
              <a:t>ResNet-18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41448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0" lang="zh-CN">
                <a:solidFill>
                  <a:srgbClr val="273644"/>
                </a:solidFill>
                <a:latin typeface="Noto Sans CJK SC"/>
              </a:rPr>
              <a:t>A / 64　0.9059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76472" y="2596896"/>
            <a:ext cx="548640" cy="210312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441448"/>
            <a:ext cx="33832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0" lang="zh-CN">
                <a:solidFill>
                  <a:srgbClr val="273644"/>
                </a:solidFill>
                <a:latin typeface="Noto Sans CJK SC"/>
              </a:rPr>
              <a:t>B / 128　0.9094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2130552"/>
            <a:ext cx="2468880" cy="96012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340864"/>
            <a:ext cx="2231136" cy="448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+0.0035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47872"/>
            <a:ext cx="36576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300" b="1" lang="zh-CN">
                <a:solidFill>
                  <a:srgbClr val="064C91"/>
                </a:solidFill>
                <a:latin typeface="Noto Sans CJK SC"/>
              </a:rPr>
              <a:t>MobileNetV3-Small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42232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0" lang="zh-CN">
                <a:solidFill>
                  <a:srgbClr val="273644"/>
                </a:solidFill>
                <a:latin typeface="Noto Sans CJK SC"/>
              </a:rPr>
              <a:t>C / 64　0.8672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76472" y="4297680"/>
            <a:ext cx="548640" cy="210312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4142232"/>
            <a:ext cx="33832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0" lang="zh-CN">
                <a:solidFill>
                  <a:srgbClr val="273644"/>
                </a:solidFill>
                <a:latin typeface="Noto Sans CJK SC"/>
              </a:rPr>
              <a:t>D / 128　0.9243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3831335"/>
            <a:ext cx="2468880" cy="96012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4041648"/>
            <a:ext cx="2231136" cy="448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+0.0572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128的组均值更高；ResNet有一个种子反向，不说每次都提升。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03 结果怎样产生并得到核验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结果二：固定128输入，D兼顾效果和计算开销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来源：S12；统一PyTorch CPU基准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" y="1828800"/>
          <a:ext cx="10835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364992"/>
                <a:gridCol w="3355848"/>
              </a:tblGrid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Noto Sans CJK SC"/>
                        </a:rPr>
                        <a:t>比较项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Noto Sans CJK SC"/>
                        </a:rPr>
                        <a:t>B：ResNet-18 / 128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Noto Sans CJK SC"/>
                        </a:rPr>
                        <a:t>D：MobileNet / 128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测试Macro-F1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0.9094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0.9243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九类模型参数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11.18 M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1.53 M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CPU前向中位延迟组均值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12.540 ms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1.845 ms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" y="5148072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共同协议下的模型方案比较；不同预训练配方，不作纯结构因果归因。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03 结果怎样产生并得到核验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结果三：增强的验证优势，没有延续到另一中心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来源：S12；现有augmentation_direction_flip图</a:t>
            </a:r>
          </a:p>
        </p:txBody>
      </p:sp>
      <p:pic>
        <p:nvPicPr>
          <p:cNvPr id="8" name="Picture 7" descr="augmentation_direction_fl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72" y="1664208"/>
            <a:ext cx="6828319" cy="40050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94192" y="1965960"/>
            <a:ext cx="3026664" cy="320954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58784" y="2093976"/>
            <a:ext cx="2697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D −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2633472"/>
            <a:ext cx="2697480" cy="2441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验证：+0.001552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测试：−0.010498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三个种子的测试方向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均为E更高。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报告发生了什么；没有把“增强普遍有害”写成结论。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04 与AI的纠错、讨论和取舍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讨论起点：验证近满分，先让AI回到代码与证据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来源：S07；既有高分审计（实际发生于正式测试前）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5230368" cy="3410712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4901183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检查计算链条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96312"/>
            <a:ext cx="4901183" cy="2642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0" lang="zh-CN">
                <a:solidFill>
                  <a:srgbClr val="273644"/>
                </a:solidFill>
                <a:latin typeface="Noto Sans CJK SC"/>
              </a:rPr>
              <a:t>训练／验证数组是否混用？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0" lang="zh-CN">
                <a:solidFill>
                  <a:srgbClr val="273644"/>
                </a:solidFill>
                <a:latin typeface="Noto Sans CJK SC"/>
              </a:rPr>
              <a:t>验证是否仍增强、更新参数？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0" lang="zh-CN">
                <a:solidFill>
                  <a:srgbClr val="273644"/>
                </a:solidFill>
                <a:latin typeface="Noto Sans CJK SC"/>
              </a:rPr>
              <a:t>预测索引与标签是否错位？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0" lang="zh-CN">
                <a:solidFill>
                  <a:srgbClr val="273644"/>
                </a:solidFill>
                <a:latin typeface="Noto Sans CJK SC"/>
              </a:rPr>
              <a:t>指标能否从逐图CSV复算？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221224" cy="3410712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956816"/>
            <a:ext cx="48920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相似候选与敏感性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96312"/>
            <a:ext cx="4892040" cy="2642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849对候选，涉及91张验证图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排除后B/D均值变化 &lt; 0.000003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未发现上述工程错误，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但仍不能证明患者／切片隔离。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讨论位置不改变时间线；高分审计不是测试后才补做。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04 与AI的纠错、讨论和取舍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案例一：ChatGPT建议，Codex核对后才决定采纳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来源：S08 实验升级方案审阅记录；S09恢复原型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4519"/>
          <a:ext cx="10890504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791456"/>
                <a:gridCol w="2990088"/>
              </a:tblGrid>
              <a:tr h="665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建议／判断（归纳）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Codex回到当前项目核对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实际处理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“缺少早停”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源码已有patience=8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否决缺失判断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“需要完整续训”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best.pt缺完整训练状态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采纳，独立原型验收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“40轮直接接到200轮”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余弦计划改变，不是原轨迹延续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未默认执行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6656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“扩展到更多轨迹”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增强参照与原E不同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先完成原协议，控制范围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跨会话建议不是执行依据；已有代码与当前状态必须先核对。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04 与AI的纠错、讨论和取舍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案例二：DeepSeek给出草稿，但没有直接进入正式代码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来源：S13 原始提示与后续审查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01368"/>
            <a:ext cx="5212080" cy="1856231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29384"/>
            <a:ext cx="488289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输入：公开方法概述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68880"/>
            <a:ext cx="4882896" cy="10881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说明train校准、val验收及计时协议；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要求风险清单、函数与绘图草稿；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不假设已经运行本项目。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801368"/>
            <a:ext cx="5212080" cy="1856231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929384"/>
            <a:ext cx="488289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发现：输入契约不足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468880"/>
            <a:ext cx="4882896" cy="10881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标签0—8、概率非负、非空样本、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显式固定九类labels等检查不完整。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5312" y="2551176"/>
            <a:ext cx="210312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6656" y="3986784"/>
          <a:ext cx="10771632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394192"/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产物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实际决定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指标函数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未采用，沿用已验收metrics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绘图与风险意见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73644"/>
                          </a:solidFill>
                          <a:latin typeface="Noto Sans CJK SC"/>
                        </a:rPr>
                        <a:t>选择性采纳；修订后先用合成JSON验收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原话在日志；页面是归纳。多个AI参与，不等于多个独立实验认证。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04 与AI的纠错、讨论和取舍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案例三：核验脚本报错，不重写正式测试预测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来源：S10 第五阶段记录；S17工程加固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1911095"/>
            <a:ext cx="2569464" cy="2414016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39112"/>
            <a:ext cx="22402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保留原产物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78608"/>
            <a:ext cx="224028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冻结权重与正式预测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不覆盖、不重新测试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91256" y="2953512"/>
            <a:ext cx="219456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5576" y="1911095"/>
            <a:ext cx="2569464" cy="2414016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2402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定位问题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578608"/>
            <a:ext cx="224028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混淆矩阵JSON列表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被核验代码误当对象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53328" y="2953512"/>
            <a:ext cx="219456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911095"/>
            <a:ext cx="2569464" cy="2414016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039112"/>
            <a:ext cx="22402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最小修复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78608"/>
            <a:ext cx="224028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修正读取类型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只重跑核验程序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15400" y="2953512"/>
            <a:ext cx="219456" cy="182880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911095"/>
            <a:ext cx="2569464" cy="2414016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2039112"/>
            <a:ext cx="22402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再检查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2578608"/>
            <a:ext cx="224028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核对已有预测与指标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保留失败与修复记录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82312"/>
            <a:ext cx="1069848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 lang="zh-CN">
                <a:solidFill>
                  <a:srgbClr val="273644"/>
                </a:solidFill>
                <a:latin typeface="Noto Sans CJK SC"/>
              </a:rPr>
              <a:t>另行开发的resume_v2与portable_demo也使用独立目录，避免改变原训练与冻结结果。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04 与AI的纠错、讨论和取舍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案例四：量化精度恢复了，仍然可以决定“不替换”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来源：S15–S16；同次第七阶段FP32对照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1060704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1" lang="zh-CN">
                <a:solidFill>
                  <a:srgbClr val="064C91"/>
                </a:solidFill>
                <a:latin typeface="Noto Sans CJK SC"/>
              </a:rPr>
              <a:t>S8S8 / U8U8 验证F1约0.38 → 训练样例诊断 → 预登记五Conv保留浮点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4088" y="2542032"/>
          <a:ext cx="10789920" cy="194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651760"/>
                <a:gridCol w="2606040"/>
                <a:gridCol w="2606040"/>
              </a:tblGrid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Noto Sans CJK SC"/>
                        </a:rPr>
                        <a:t>版本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Noto Sans CJK SC"/>
                        </a:rPr>
                        <a:t>验证Macro-F1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Noto Sans CJK SC"/>
                        </a:rPr>
                        <a:t>文件 / MiB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Noto Sans CJK SC"/>
                        </a:rPr>
                        <a:t>CPU前向 / ms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FP32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0.9981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5.8450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0.422792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混合精度PTQ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0.9957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1.7596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73644"/>
                          </a:solidFill>
                          <a:latin typeface="Noto Sans CJK SC"/>
                        </a:rPr>
                        <a:t>0.533642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855464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文件缩小约69.9%，耗时反而增加约26.2%；候选留档，默认演示仍为FP32。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05 交付、复用与反思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部署：原FP32就能离线运行，量化不是必要前提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来源：S17–S18；原阶段七真实截图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5852160" cy="142646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38528"/>
            <a:ext cx="552297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冻结D_seed2026 → FP32 ONNX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78024"/>
            <a:ext cx="5522976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转换模型表示；不重新训练。ONNX Runtime在CPU上执行。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547872"/>
            <a:ext cx="5852160" cy="164592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675887"/>
            <a:ext cx="552297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本地界面与异常处理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15383"/>
            <a:ext cx="5522976" cy="8778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图像→相同预处理→九类预测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检查模型哈希、标签、输入、路径和输出防覆盖</a:t>
            </a:r>
          </a:p>
        </p:txBody>
      </p:sp>
      <p:pic>
        <p:nvPicPr>
          <p:cNvPr id="14" name="Picture 13" descr="browser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53399"/>
            <a:ext cx="4389120" cy="36107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5669280"/>
            <a:ext cx="1069848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lang="zh-CN">
                <a:solidFill>
                  <a:srgbClr val="064C91"/>
                </a:solidFill>
                <a:latin typeface="Noto Sans CJK SC"/>
              </a:rPr>
              <a:t>历史Mac断网记录 ≠ 全平台验收；当前新提交目录的模型与样例还需复制。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05 交付、复用与反思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原仓库保留，新教师仓库只服务提交与阅读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来源：S20用户决定；当前状态 S21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856231"/>
            <a:ext cx="5001768" cy="252374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4672583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原科学与工程仓库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23744"/>
            <a:ext cx="4672583" cy="1755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pathmnist-tissue-classification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固定证据：d5e4a71…84d1d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完整阶段历史、模型、数据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本轮只读，不修改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856231"/>
            <a:ext cx="5221224" cy="252374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984248"/>
            <a:ext cx="48920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新教师提交仓库（待上传）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523744"/>
            <a:ext cx="4892040" cy="1755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pathmnist-ai-practice-submission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PPT、主报告和三份附件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必要代码、源表与案例原件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独立权限、清楚入口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88152" y="2889504"/>
            <a:ext cx="274320" cy="237744"/>
          </a:xfrm>
          <a:prstGeom prst="rightArrow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846320"/>
            <a:ext cx="106070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仅复制必要证据并记来源；新仓库、Release、云端CI和教师访问需实际完成后确认。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05 交付、复用与反思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可复用的是代码与约束，不是虚构的Skill清单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来源：S02、S09、S17；本轮检查工具 S21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65376"/>
            <a:ext cx="3300984" cy="362102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9339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已存在的局部工具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32888"/>
            <a:ext cx="2971800" cy="2852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数据与训练CLI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结果复算与冻结检查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resume_v2独立原型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portable_demo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3128" y="1865376"/>
            <a:ext cx="3300984" cy="362102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9339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专用Skill的证据边界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32888"/>
            <a:ext cx="2971800" cy="2852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没有可追溯的项目专用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local/global Skill调用记录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脚本或平台能力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不自动等于正式Skill包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1865376"/>
            <a:ext cx="3300984" cy="362102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9339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本轮新增提交检查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32888"/>
            <a:ext cx="2971800" cy="2852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JSON/CSV与哈希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保存指标的算术对照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链接和文稿结构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lang="zh-CN">
                <a:solidFill>
                  <a:srgbClr val="273644"/>
                </a:solidFill>
                <a:latin typeface="Noto Sans CJK SC"/>
              </a:rPr>
              <a:t>CI配置已备，云端待运行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05 交付、复用与反思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人的学习：会提任务、会质询、会拒绝不合适的建议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来源：S08、S13、S20；个人分工待本人确认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847088"/>
          <a:ext cx="10771632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488"/>
                <a:gridCol w="8010144"/>
              </a:tblGrid>
              <a:tr h="5961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</a:rPr>
                        <a:t>实践收获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</a:rPr>
                        <a:t>在本项目中的表现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5961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73644"/>
                          </a:solidFill>
                          <a:latin typeface="Noto Sans CJK SC"/>
                        </a:rPr>
                        <a:t>从目标到任务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73644"/>
                          </a:solidFill>
                          <a:latin typeface="Noto Sans CJK SC"/>
                        </a:rPr>
                        <a:t>明确输入、范围、产物和验收；不只说“帮我做模型”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5961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73644"/>
                          </a:solidFill>
                          <a:latin typeface="Noto Sans CJK SC"/>
                        </a:rPr>
                        <a:t>从结果到证据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73644"/>
                          </a:solidFill>
                          <a:latin typeface="Noto Sans CJK SC"/>
                        </a:rPr>
                        <a:t>区分自动计算、AI建议和人工决定；知道哈希的边界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5961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73644"/>
                          </a:solidFill>
                          <a:latin typeface="Noto Sans CJK SC"/>
                        </a:rPr>
                        <a:t>从建议到取舍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73644"/>
                          </a:solidFill>
                          <a:latin typeface="Noto Sans CJK SC"/>
                        </a:rPr>
                        <a:t>早停缺失判断被纠正；DeepSeek草稿未直接采用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596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73644"/>
                          </a:solidFill>
                          <a:latin typeface="Noto Sans CJK SC"/>
                        </a:rPr>
                        <a:t>从一次对话到交付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73644"/>
                          </a:solidFill>
                          <a:latin typeface="Noto Sans CJK SC"/>
                        </a:rPr>
                        <a:t>记录版本和未决项，换会话仍能找到依据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5528" y="5294376"/>
            <a:ext cx="105156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65768A"/>
                </a:solidFill>
                <a:latin typeface="Noto Sans CJK SC"/>
              </a:rPr>
              <a:t>没有无AI对照或完整工时账本，不编造提效百分比；具体成员贡献由本人填写。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05 交付、复用与反思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总结：留下可运行的产物，也留下可追溯的判断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来源：S02–S21；完整证据见三份附件与来源索引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847088"/>
            <a:ext cx="6583680" cy="352958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625449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本项目已经形成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14600"/>
            <a:ext cx="6254496" cy="2761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lang="zh-CN">
                <a:solidFill>
                  <a:srgbClr val="273644"/>
                </a:solidFill>
                <a:latin typeface="Noto Sans CJK SC"/>
              </a:rPr>
              <a:t>真实任务：五组、三种子的分类实验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lang="zh-CN">
                <a:solidFill>
                  <a:srgbClr val="273644"/>
                </a:solidFill>
                <a:latin typeface="Noto Sans CJK SC"/>
              </a:rPr>
              <a:t>可检查结果：源表、预测复核和冻结记录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lang="zh-CN">
                <a:solidFill>
                  <a:srgbClr val="273644"/>
                </a:solidFill>
                <a:latin typeface="Noto Sans CJK SC"/>
              </a:rPr>
              <a:t>可复盘交互：建议、失败、修复与采纳状态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lang="zh-CN">
                <a:solidFill>
                  <a:srgbClr val="273644"/>
                </a:solidFill>
                <a:latin typeface="Noto Sans CJK SC"/>
              </a:rPr>
              <a:t>可复用内容：源码、离线程序与当前提交材料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6096" y="1847088"/>
            <a:ext cx="3813048" cy="352958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1975104"/>
            <a:ext cx="3483864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保留的限制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514600"/>
            <a:ext cx="3483864" cy="2761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图像块，不是患者诊断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未做K折、未用Claude Code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混合精度未取得CPU加速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lang="zh-CN">
                <a:solidFill>
                  <a:srgbClr val="273644"/>
                </a:solidFill>
                <a:latin typeface="Noto Sans CJK SC"/>
              </a:rPr>
              <a:t>新仓库与云端CI尚待发布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AI实践的重点不是“AI说完成”，而是能解释做了什么、怎样检查、为什么这样决定。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答疑索引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谢谢，请老师批评指正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来源：配套讲稿、主报告与三份附件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20240"/>
            <a:ext cx="105156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lang="zh-CN">
                <a:solidFill>
                  <a:srgbClr val="064C91"/>
                </a:solidFill>
                <a:latin typeface="Noto Sans CJK SC"/>
              </a:rPr>
              <a:t>AI辅助医学图像分类的工程实践</a:t>
            </a:r>
          </a:p>
        </p:txBody>
      </p:sp>
      <p:sp>
        <p:nvSpPr>
          <p:cNvPr id="9" name="Rectangle 8">
            <a:hlinkClick action="ppaction://hlinksldjump" r:id="rId4"/>
          </p:cNvPr>
          <p:cNvSpPr/>
          <p:nvPr/>
        </p:nvSpPr>
        <p:spPr>
          <a:xfrm>
            <a:off x="868680" y="3063240"/>
            <a:ext cx="4846320" cy="69494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action="ppaction://hlinksldjump" r:id="rId4"/>
          </p:cNvPr>
          <p:cNvSpPr txBox="1"/>
          <p:nvPr/>
        </p:nvSpPr>
        <p:spPr>
          <a:xfrm>
            <a:off x="1005839" y="3264408"/>
            <a:ext cx="457200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A1 两种模型怎样分类</a:t>
            </a:r>
          </a:p>
        </p:txBody>
      </p:sp>
      <p:sp>
        <p:nvSpPr>
          <p:cNvPr id="11" name="Rectangle 10">
            <a:hlinkClick action="ppaction://hlinksldjump" r:id="rId5"/>
          </p:cNvPr>
          <p:cNvSpPr/>
          <p:nvPr/>
        </p:nvSpPr>
        <p:spPr>
          <a:xfrm>
            <a:off x="6464808" y="3063240"/>
            <a:ext cx="4846320" cy="69494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>
            <a:hlinkClick action="ppaction://hlinksldjump" r:id="rId5"/>
          </p:cNvPr>
          <p:cNvSpPr txBox="1"/>
          <p:nvPr/>
        </p:nvSpPr>
        <p:spPr>
          <a:xfrm>
            <a:off x="6601968" y="3264408"/>
            <a:ext cx="457200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A2 Macro-F1怎样计算</a:t>
            </a:r>
          </a:p>
        </p:txBody>
      </p:sp>
      <p:sp>
        <p:nvSpPr>
          <p:cNvPr id="13" name="Rectangle 12">
            <a:hlinkClick action="ppaction://hlinksldjump" r:id="rId6"/>
          </p:cNvPr>
          <p:cNvSpPr/>
          <p:nvPr/>
        </p:nvSpPr>
        <p:spPr>
          <a:xfrm>
            <a:off x="868680" y="4023360"/>
            <a:ext cx="4846320" cy="69494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>
            <a:hlinkClick action="ppaction://hlinksldjump" r:id="rId6"/>
          </p:cNvPr>
          <p:cNvSpPr txBox="1"/>
          <p:nvPr/>
        </p:nvSpPr>
        <p:spPr>
          <a:xfrm>
            <a:off x="1005839" y="4224528"/>
            <a:ext cx="457200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A3 数据与统计边界</a:t>
            </a:r>
          </a:p>
        </p:txBody>
      </p:sp>
      <p:sp>
        <p:nvSpPr>
          <p:cNvPr id="15" name="Rectangle 14">
            <a:hlinkClick action="ppaction://hlinksldjump" r:id="rId7"/>
          </p:cNvPr>
          <p:cNvSpPr/>
          <p:nvPr/>
        </p:nvSpPr>
        <p:spPr>
          <a:xfrm>
            <a:off x="6464808" y="4023360"/>
            <a:ext cx="4846320" cy="694944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7"/>
          </p:cNvPr>
          <p:cNvSpPr txBox="1"/>
          <p:nvPr/>
        </p:nvSpPr>
        <p:spPr>
          <a:xfrm>
            <a:off x="6601968" y="4224528"/>
            <a:ext cx="457200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lang="zh-CN">
                <a:solidFill>
                  <a:srgbClr val="064C91"/>
                </a:solidFill>
                <a:latin typeface="Noto Sans CJK SC"/>
              </a:rPr>
              <a:t>A4 AI与交付常见追问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答疑附录 A1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两种网络的简化结构：全网络微调，不只是训练末层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来源：S03；model.py；已有G01示意图</a:t>
            </a:r>
          </a:p>
        </p:txBody>
      </p:sp>
      <p:pic>
        <p:nvPicPr>
          <p:cNvPr id="8" name="Picture 7" descr="G01_mode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228" y="1655064"/>
            <a:ext cx="7542784" cy="424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27 / 30</a:t>
            </a:r>
          </a:p>
        </p:txBody>
      </p:sp>
      <p:sp>
        <p:nvSpPr>
          <p:cNvPr id="10" name="Rectangle 9">
            <a:hlinkClick action="ppaction://hlinksldjump" r:id="rId5"/>
          </p:cNvPr>
          <p:cNvSpPr/>
          <p:nvPr/>
        </p:nvSpPr>
        <p:spPr>
          <a:xfrm>
            <a:off x="9646920" y="6318504"/>
            <a:ext cx="1856231" cy="27432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9692640" y="6336792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lang="zh-CN">
                <a:solidFill>
                  <a:srgbClr val="064C91"/>
                </a:solidFill>
                <a:latin typeface="Noto Sans CJK SC"/>
              </a:rPr>
              <a:t>返回答疑索引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答疑附录 A2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用癌相关间质的一类结果解释Macro-F1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来源：S12；D_seed2026/test_metrics.json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56231"/>
            <a:ext cx="4700016" cy="329184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84248"/>
            <a:ext cx="4370831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100" b="1" lang="zh-CN">
                <a:solidFill>
                  <a:srgbClr val="064C91"/>
                </a:solidFill>
                <a:latin typeface="Noto Sans CJK SC"/>
              </a:rPr>
              <a:t>真实类别7的计数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23744"/>
            <a:ext cx="4370831" cy="2523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0" lang="zh-CN">
                <a:solidFill>
                  <a:srgbClr val="273644"/>
                </a:solidFill>
                <a:latin typeface="Noto Sans CJK SC"/>
              </a:rPr>
              <a:t>TP = 263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0" lang="zh-CN">
                <a:solidFill>
                  <a:srgbClr val="273644"/>
                </a:solidFill>
                <a:latin typeface="Noto Sans CJK SC"/>
              </a:rPr>
              <a:t>FP = 15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0" lang="zh-CN">
                <a:solidFill>
                  <a:srgbClr val="273644"/>
                </a:solidFill>
                <a:latin typeface="Noto Sans CJK SC"/>
              </a:rPr>
              <a:t>FN = 158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0" lang="zh-CN">
                <a:solidFill>
                  <a:srgbClr val="273644"/>
                </a:solidFill>
                <a:latin typeface="Noto Sans CJK SC"/>
              </a:rPr>
              <a:t>实际该类 = 421张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1304" y="1947672"/>
            <a:ext cx="548640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lang="zh-CN">
                <a:solidFill>
                  <a:srgbClr val="273644"/>
                </a:solidFill>
                <a:latin typeface="Noto Sans CJK SC"/>
              </a:rPr>
              <a:t>Precision = 263 / 278 = 0.9460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lang="zh-CN">
                <a:solidFill>
                  <a:srgbClr val="273644"/>
                </a:solidFill>
                <a:latin typeface="Noto Sans CJK SC"/>
              </a:rPr>
              <a:t>Recall = 263 / 421 = 0.6247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lang="zh-CN">
                <a:solidFill>
                  <a:srgbClr val="273644"/>
                </a:solidFill>
                <a:latin typeface="Noto Sans CJK SC"/>
              </a:rPr>
              <a:t>F1 = 526 / 699 = 0.7525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lang="zh-CN">
                <a:solidFill>
                  <a:srgbClr val="273644"/>
                </a:solidFill>
                <a:latin typeface="Noto Sans CJK SC"/>
              </a:rPr>
              <a:t>九类F1等权平均 = 0.929008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图像块的类别漏判，不是患者漏诊率；训练损失仍是交叉熵。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28 / 30</a:t>
            </a:r>
          </a:p>
        </p:txBody>
      </p:sp>
      <p:sp>
        <p:nvSpPr>
          <p:cNvPr id="14" name="Rectangle 13">
            <a:hlinkClick action="ppaction://hlinksldjump" r:id="rId4"/>
          </p:cNvPr>
          <p:cNvSpPr/>
          <p:nvPr/>
        </p:nvSpPr>
        <p:spPr>
          <a:xfrm>
            <a:off x="9646920" y="6318504"/>
            <a:ext cx="1856231" cy="27432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9692640" y="6336792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lang="zh-CN">
                <a:solidFill>
                  <a:srgbClr val="064C91"/>
                </a:solidFill>
                <a:latin typeface="Noto Sans CJK SC"/>
              </a:rPr>
              <a:t>返回答疑索引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答疑附录 A3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三种容易混淆的“独立”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来源：S03、S07、S11–S12；现有评估协议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376" y="1847088"/>
          <a:ext cx="10780776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5456"/>
                <a:gridCol w="4005072"/>
                <a:gridCol w="4270248"/>
              </a:tblGrid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说法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实际是什么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不能推出什么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三个随机种子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同一划分重复训练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不是三折或患者CI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不同图像索引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样本位置不同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不是患者／切片来源独立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独立复核脚本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从已有文件重算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不保证没有共同错误假设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测试后E更高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当前测试数据的观察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不是事先选中E的新盲测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lang="zh-CN">
                <a:solidFill>
                  <a:srgbClr val="064C91"/>
                </a:solidFill>
                <a:latin typeface="Noto Sans CJK SC"/>
              </a:rPr>
              <a:t>没有可靠分组ID，仍可技术性随机分折，但不能因此保证患者隔离。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29 / 30</a:t>
            </a:r>
          </a:p>
        </p:txBody>
      </p:sp>
      <p:sp>
        <p:nvSpPr>
          <p:cNvPr id="11" name="Rectangle 10">
            <a:hlinkClick action="ppaction://hlinksldjump" r:id="rId4"/>
          </p:cNvPr>
          <p:cNvSpPr/>
          <p:nvPr/>
        </p:nvSpPr>
        <p:spPr>
          <a:xfrm>
            <a:off x="9646920" y="6318504"/>
            <a:ext cx="1856231" cy="27432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>
            <a:hlinkClick action="ppaction://hlinksldjump" r:id="rId4"/>
          </p:cNvPr>
          <p:cNvSpPr txBox="1"/>
          <p:nvPr/>
        </p:nvSpPr>
        <p:spPr>
          <a:xfrm>
            <a:off x="9692640" y="6336792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lang="zh-CN">
                <a:solidFill>
                  <a:srgbClr val="064C91"/>
                </a:solidFill>
                <a:latin typeface="Noto Sans CJK SC"/>
              </a:rPr>
              <a:t>返回答疑索引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91695" cy="475488"/>
          </a:xfrm>
          <a:prstGeom prst="rect">
            <a:avLst/>
          </a:prstGeom>
          <a:solidFill>
            <a:srgbClr val="06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lang="zh-CN">
                <a:solidFill>
                  <a:srgbClr val="FFFFFF"/>
                </a:solidFill>
                <a:latin typeface="Noto Sans CJK SC"/>
              </a:rPr>
              <a:t>答疑附录 A4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76" y="246888"/>
            <a:ext cx="914400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41832"/>
            <a:ext cx="11247120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lang="zh-CN">
                <a:solidFill>
                  <a:srgbClr val="064C91"/>
                </a:solidFill>
                <a:latin typeface="Noto Sans CJK SC"/>
              </a:rPr>
              <a:t>关于AI协作和云端交付，可以直接回答的四件事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83112" cy="8229"/>
          </a:xfrm>
          <a:prstGeom prst="rect">
            <a:avLst/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318504"/>
            <a:ext cx="1060704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lang="zh-CN">
                <a:solidFill>
                  <a:srgbClr val="65768A"/>
                </a:solidFill>
                <a:latin typeface="Noto Sans CJK SC"/>
              </a:rPr>
              <a:t>来源：S02、S13–S14、S20–S21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76248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416"/>
                <a:gridCol w="7434072"/>
              </a:tblGrid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可能问题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本项目的准确回答</a:t>
                      </a:r>
                    </a:p>
                  </a:txBody>
                  <a:tcPr marL="100584" marR="73152" marT="64008" marB="54864" anchor="ctr">
                    <a:solidFill>
                      <a:srgbClr val="064C9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谁核验了结果？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脚本做计算复核；AI辅助读代码；人的决策与专家判读分开。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DeepSeek做了什么？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第六阶段网页风险审查和草稿；未训练A—E。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用了哪些Skill？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有CLI和审计模块；无可追溯的项目专用Skill调用证据。</a:t>
                      </a:r>
                    </a:p>
                  </a:txBody>
                  <a:tcPr marL="100584" marR="73152" marT="64008" marB="54864" anchor="ctr">
                    <a:solidFill>
                      <a:srgbClr val="EEF4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新仓库与CI完成了吗？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73644"/>
                          </a:solidFill>
                          <a:latin typeface="Noto Sans CJK SC"/>
                        </a:rPr>
                        <a:t>本地材料与配置已准备；云端创建、运行、发布及授权仍待执行。</a:t>
                      </a:r>
                    </a:p>
                  </a:txBody>
                  <a:tcPr marL="100584" marR="73152" marT="64008" marB="54864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826496" y="6537960"/>
            <a:ext cx="86868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lang="zh-CN">
                <a:solidFill>
                  <a:srgbClr val="65768A"/>
                </a:solidFill>
                <a:latin typeface="Noto Sans CJK SC"/>
              </a:rPr>
              <a:t>30 / 30</a:t>
            </a:r>
          </a:p>
        </p:txBody>
      </p:sp>
      <p:sp>
        <p:nvSpPr>
          <p:cNvPr id="10" name="Rectangle 9">
            <a:hlinkClick action="ppaction://hlinksldjump" r:id="rId4"/>
          </p:cNvPr>
          <p:cNvSpPr/>
          <p:nvPr/>
        </p:nvSpPr>
        <p:spPr>
          <a:xfrm>
            <a:off x="9646920" y="6318504"/>
            <a:ext cx="1856231" cy="274320"/>
          </a:xfrm>
          <a:prstGeom prst="rect">
            <a:avLst/>
          </a:prstGeom>
          <a:solidFill>
            <a:srgbClr val="EEF4FA"/>
          </a:solidFill>
          <a:ln w="8890"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4"/>
          </p:cNvPr>
          <p:cNvSpPr txBox="1"/>
          <p:nvPr/>
        </p:nvSpPr>
        <p:spPr>
          <a:xfrm>
            <a:off x="9692640" y="6336792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lang="zh-CN">
                <a:solidFill>
                  <a:srgbClr val="064C91"/>
                </a:solidFill>
                <a:latin typeface="Noto Sans CJK SC"/>
              </a:rPr>
              <a:t>返回答疑索引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3664</Words>
  <Application>WPS 表格</Application>
  <PresentationFormat>宽屏</PresentationFormat>
  <Paragraphs>676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方正雅意黑 GB18030L2</vt:lpstr>
      <vt:lpstr>Comic Sans Pro</vt:lpstr>
      <vt:lpstr>Noto Sans CJK SC</vt:lpstr>
      <vt:lpstr>Thonburi</vt:lpstr>
      <vt:lpstr>Noto Sans CJK SC</vt:lpstr>
      <vt:lpstr>宋体</vt:lpstr>
      <vt:lpstr>汉仪书宋二KW</vt:lpstr>
      <vt:lpstr>Arial Unicode MS</vt:lpstr>
      <vt:lpstr>Noto Sans CJK SC</vt:lpstr>
      <vt:lpstr>微软雅黑</vt:lpstr>
      <vt:lpstr>苹方-简</vt:lpstr>
      <vt:lpstr>MS PGothic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AI辅助医学图像分类的工程实践——以PathMNIST项目为例</dc:title>
  <dc:creator>PathMNIST课程小组（ChatGPT辅助编排）</dc:creator>
  <cp:keywords>PathMNIST,ResNet-18,MobileNetV3-Small,Macro-F1,ONNX</cp:keywords>
  <dc:description>依据用户上传素材及浙江大学模板制作。未重训，未重新运行正式测试。</dc:description>
  <dc:subject>Vibe Coding × Harness Engineering；教师提交版v1</dc:subject>
  <cp:lastModifiedBy>wenhowl</cp:lastModifiedBy>
  <cp:revision>13</cp:revision>
  <dcterms:created xsi:type="dcterms:W3CDTF">2026-10-16T10:59:14Z</dcterms:created>
  <dcterms:modified xsi:type="dcterms:W3CDTF">2026-10-16T10:59:14Z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KSOTemplateUUID">
    <vt:lpwstr>v1.0_mb_rqefjzPmq5XkWj9ztLYjbg==</vt:lpwstr>
  </property>
  <property fmtid="{D5CDD505-2E9C-101B-9397-08002B2CF9AE}" pid="4" name="ICV">
    <vt:lpwstr>FE1BFE6A69DCEF6764EDD06A797DE9CB_41</vt:lpwstr>
  </property>
</Properties>
</file>